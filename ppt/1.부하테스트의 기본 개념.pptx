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6" r:id="rId10"/>
    <p:sldId id="267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</p:sldIdLst>
  <p:sldSz cx="12192000" cy="6858000"/>
  <p:notesSz cx="7105650" cy="10236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7D5DFD4-5EA8-4685-8066-C6378E235314}">
          <p14:sldIdLst>
            <p14:sldId id="256"/>
            <p14:sldId id="257"/>
          </p14:sldIdLst>
        </p14:section>
        <p14:section name="처리량과 지연시간" id="{96887389-F4D4-441B-BD38-AAC58838BDE2}">
          <p14:sldIdLst>
            <p14:sldId id="258"/>
            <p14:sldId id="259"/>
          </p14:sldIdLst>
        </p14:section>
        <p14:section name="부하테스트 툴 선정" id="{3B810457-705E-46A9-BF52-0EFF22673850}">
          <p14:sldIdLst>
            <p14:sldId id="260"/>
          </p14:sldIdLst>
        </p14:section>
        <p14:section name="EC2 서버 세팅" id="{00B8B239-0B6F-4ED6-A61A-77DF0D64754E}">
          <p14:sldIdLst>
            <p14:sldId id="262"/>
            <p14:sldId id="263"/>
          </p14:sldIdLst>
        </p14:section>
        <p14:section name="EC2 서버에 Node.js 설치" id="{3B2E0E82-27F2-4B07-A85E-C38CF693EEAA}">
          <p14:sldIdLst>
            <p14:sldId id="265"/>
            <p14:sldId id="266"/>
            <p14:sldId id="267"/>
            <p14:sldId id="269"/>
          </p14:sldIdLst>
        </p14:section>
        <p14:section name="부하테스트 툴 설치" id="{53DB50D8-1C63-4454-9C5E-1BCF00091647}">
          <p14:sldIdLst>
            <p14:sldId id="270"/>
            <p14:sldId id="271"/>
            <p14:sldId id="272"/>
            <p14:sldId id="273"/>
            <p14:sldId id="274"/>
          </p14:sldIdLst>
        </p14:section>
        <p14:section name="부하테스트 코드 작성" id="{2605A0D9-DDEE-4365-A386-13C2526B66BA}">
          <p14:sldIdLst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0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4206D-1A13-4CDE-9CFD-EA8D872C0655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343BF-6C14-4709-9ACC-6DFA527DC5F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8175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4206D-1A13-4CDE-9CFD-EA8D872C0655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343BF-6C14-4709-9ACC-6DFA527D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762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4206D-1A13-4CDE-9CFD-EA8D872C0655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343BF-6C14-4709-9ACC-6DFA527DC5F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0639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4206D-1A13-4CDE-9CFD-EA8D872C0655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343BF-6C14-4709-9ACC-6DFA527D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912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4206D-1A13-4CDE-9CFD-EA8D872C0655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343BF-6C14-4709-9ACC-6DFA527D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867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4206D-1A13-4CDE-9CFD-EA8D872C0655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343BF-6C14-4709-9ACC-6DFA527D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8243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4206D-1A13-4CDE-9CFD-EA8D872C0655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343BF-6C14-4709-9ACC-6DFA527D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193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354206D-1A13-4CDE-9CFD-EA8D872C0655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90343BF-6C14-4709-9ACC-6DFA527D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994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4206D-1A13-4CDE-9CFD-EA8D872C0655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343BF-6C14-4709-9ACC-6DFA527D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46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4206D-1A13-4CDE-9CFD-EA8D872C0655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343BF-6C14-4709-9ACC-6DFA527D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8804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4206D-1A13-4CDE-9CFD-EA8D872C0655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343BF-6C14-4709-9ACC-6DFA527D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981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354206D-1A13-4CDE-9CFD-EA8D872C0655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90343BF-6C14-4709-9ACC-6DFA527DC5F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541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54.180.90.102/boards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89EBBC-6258-C4E7-78A2-84E1B9DFCE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6600"/>
              <a:t>부하테스트의 기본 개념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8BF72EE-F649-CEAD-FFA4-C4C9F6F75D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944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42D960-00D0-8694-00F4-1EBF9C877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부하 테스트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B73FE8-1F8A-A850-9E60-E5C9CD08466B}"/>
              </a:ext>
            </a:extLst>
          </p:cNvPr>
          <p:cNvSpPr txBox="1"/>
          <p:nvPr/>
        </p:nvSpPr>
        <p:spPr>
          <a:xfrm>
            <a:off x="1210235" y="1882588"/>
            <a:ext cx="994544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부하테스트란</a:t>
            </a:r>
            <a:r>
              <a:rPr lang="en-US" altLang="ko-KR"/>
              <a:t>?</a:t>
            </a:r>
          </a:p>
          <a:p>
            <a:pPr marL="285750" indent="-285750">
              <a:buFontTx/>
              <a:buChar char="-"/>
            </a:pPr>
            <a:r>
              <a:rPr lang="ko-KR" altLang="en-US" sz="1200"/>
              <a:t>시스템이 어느정도의 부하</a:t>
            </a:r>
            <a:r>
              <a:rPr lang="en-US" altLang="ko-KR" sz="1200"/>
              <a:t>(=</a:t>
            </a:r>
            <a:r>
              <a:rPr lang="ko-KR" altLang="en-US" sz="1200"/>
              <a:t>트래픽</a:t>
            </a:r>
            <a:r>
              <a:rPr lang="en-US" altLang="ko-KR" sz="1200"/>
              <a:t>,</a:t>
            </a:r>
            <a:r>
              <a:rPr lang="ko-KR" altLang="en-US" sz="1200"/>
              <a:t>요청</a:t>
            </a:r>
            <a:r>
              <a:rPr lang="en-US" altLang="ko-KR" sz="1200"/>
              <a:t>)</a:t>
            </a:r>
            <a:r>
              <a:rPr lang="ko-KR" altLang="en-US" sz="1200"/>
              <a:t>를 견딜수 있는지 테스트 하는것</a:t>
            </a:r>
            <a:endParaRPr lang="en-US" altLang="ko-KR" sz="1200"/>
          </a:p>
          <a:p>
            <a:endParaRPr lang="en-US" altLang="ko-KR"/>
          </a:p>
          <a:p>
            <a:r>
              <a:rPr lang="ko-KR" altLang="en-US"/>
              <a:t>부하테스트를 하는 이유</a:t>
            </a:r>
            <a:r>
              <a:rPr lang="en-US" altLang="ko-KR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sz="1200"/>
              <a:t>프로덕트 환경에서 배포할 때</a:t>
            </a:r>
            <a:r>
              <a:rPr lang="en-US" altLang="ko-KR" sz="1200"/>
              <a:t>, </a:t>
            </a:r>
            <a:r>
              <a:rPr lang="ko-KR" altLang="en-US" sz="1200"/>
              <a:t>서버로의 요청이 몰려 서버가 동작하지 않는 상황을 미연에 방지하고자 부하테스트를 진행한다</a:t>
            </a:r>
            <a:r>
              <a:rPr lang="en-US" altLang="ko-KR" sz="1200"/>
              <a:t>.</a:t>
            </a:r>
          </a:p>
          <a:p>
            <a:pPr marL="285750" indent="-285750">
              <a:buFontTx/>
              <a:buChar char="-"/>
            </a:pPr>
            <a:endParaRPr lang="en-US" altLang="ko-KR" sz="1200"/>
          </a:p>
          <a:p>
            <a:pPr marL="285750" indent="-285750">
              <a:buFontTx/>
              <a:buChar char="-"/>
            </a:pPr>
            <a:r>
              <a:rPr lang="ko-KR" altLang="en-US" sz="1200"/>
              <a:t>프로덕트 환경에서 무작정 성능좋은 사양의 서버를 맞추어 운영하면 부하의 문제는 대부분 해결가능하다</a:t>
            </a:r>
            <a:r>
              <a:rPr lang="en-US" altLang="ko-KR" sz="1200"/>
              <a:t>. </a:t>
            </a:r>
            <a:r>
              <a:rPr lang="ko-KR" altLang="en-US" sz="1200"/>
              <a:t>그러나 제공하는 </a:t>
            </a:r>
            <a:r>
              <a:rPr lang="ko-KR" altLang="en-US" sz="1200" b="1">
                <a:solidFill>
                  <a:srgbClr val="FF0000"/>
                </a:solidFill>
              </a:rPr>
              <a:t>서비스가 수요가 적고 요청이 없다고 한다면</a:t>
            </a:r>
            <a:r>
              <a:rPr lang="en-US" altLang="ko-KR" sz="1200" b="1">
                <a:solidFill>
                  <a:srgbClr val="FF0000"/>
                </a:solidFill>
              </a:rPr>
              <a:t>, </a:t>
            </a:r>
            <a:r>
              <a:rPr lang="ko-KR" altLang="en-US" sz="1200" b="1">
                <a:solidFill>
                  <a:srgbClr val="FF0000"/>
                </a:solidFill>
              </a:rPr>
              <a:t>이는 너무나도 큰 비용적 낭비</a:t>
            </a:r>
            <a:r>
              <a:rPr lang="ko-KR" altLang="en-US" sz="1200"/>
              <a:t>로 돌아온다</a:t>
            </a:r>
            <a:r>
              <a:rPr lang="en-US" altLang="ko-KR" sz="1200"/>
              <a:t>. </a:t>
            </a:r>
            <a:r>
              <a:rPr lang="ko-KR" altLang="en-US" sz="1200"/>
              <a:t>그렇기에 </a:t>
            </a:r>
            <a:r>
              <a:rPr lang="ko-KR" altLang="en-US" sz="1200" b="1">
                <a:solidFill>
                  <a:srgbClr val="FF0000"/>
                </a:solidFill>
              </a:rPr>
              <a:t>부하테스트를 통해 딱 필요한 만큼의 컴퓨터 사양</a:t>
            </a:r>
            <a:r>
              <a:rPr lang="ko-KR" altLang="en-US" sz="1200"/>
              <a:t>을 선택하는게 중요하다</a:t>
            </a:r>
            <a:r>
              <a:rPr lang="en-US" altLang="ko-KR" sz="1200"/>
              <a:t>.</a:t>
            </a:r>
          </a:p>
          <a:p>
            <a:pPr marL="285750" indent="-285750">
              <a:buFontTx/>
              <a:buChar char="-"/>
            </a:pPr>
            <a:endParaRPr lang="en-US" altLang="ko-KR"/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45478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4BD9E5-4A06-6E04-6387-C086A8797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처리량</a:t>
            </a:r>
            <a:r>
              <a:rPr lang="en-US" altLang="ko-KR"/>
              <a:t>(Throughput)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6A69AF-9C9E-5497-34ED-BE857166DF6C}"/>
              </a:ext>
            </a:extLst>
          </p:cNvPr>
          <p:cNvSpPr txBox="1"/>
          <p:nvPr/>
        </p:nvSpPr>
        <p:spPr>
          <a:xfrm>
            <a:off x="1201271" y="1882588"/>
            <a:ext cx="100584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600"/>
              <a:t>부하테스트에서 </a:t>
            </a:r>
            <a:r>
              <a:rPr lang="en-US" altLang="ko-KR" sz="1600"/>
              <a:t>1</a:t>
            </a:r>
            <a:r>
              <a:rPr lang="ko-KR" altLang="en-US" sz="1600"/>
              <a:t>초당 처리할 수 있는 트랜잭션 양</a:t>
            </a:r>
            <a:r>
              <a:rPr lang="en-US" altLang="ko-KR" sz="1600"/>
              <a:t>(TPS[Transaction Per Second] = RPS[Request Per Second])</a:t>
            </a:r>
          </a:p>
          <a:p>
            <a:pPr marL="285750" indent="-285750">
              <a:buFontTx/>
              <a:buChar char="-"/>
            </a:pPr>
            <a:r>
              <a:rPr lang="en-US" altLang="ko-KR" sz="1600"/>
              <a:t>1</a:t>
            </a:r>
            <a:r>
              <a:rPr lang="ko-KR" altLang="en-US" sz="1600"/>
              <a:t>초에 </a:t>
            </a:r>
            <a:r>
              <a:rPr lang="en-US" altLang="ko-KR" sz="1600"/>
              <a:t>100</a:t>
            </a:r>
            <a:r>
              <a:rPr lang="ko-KR" altLang="en-US" sz="1600"/>
              <a:t>개의 </a:t>
            </a:r>
            <a:r>
              <a:rPr lang="en-US" altLang="ko-KR" sz="1600"/>
              <a:t>API</a:t>
            </a:r>
            <a:r>
              <a:rPr lang="ko-KR" altLang="en-US" sz="1600"/>
              <a:t>를 처리할 수 있다면 </a:t>
            </a:r>
            <a:r>
              <a:rPr lang="en-US" altLang="ko-KR" sz="1600"/>
              <a:t>100TPS</a:t>
            </a:r>
            <a:r>
              <a:rPr lang="ko-KR" altLang="en-US" sz="1600"/>
              <a:t>에 해당</a:t>
            </a:r>
            <a:r>
              <a:rPr lang="en-US" altLang="ko-KR" sz="1600"/>
              <a:t>. </a:t>
            </a:r>
            <a:br>
              <a:rPr lang="en-US" altLang="ko-KR" sz="1600"/>
            </a:br>
            <a:r>
              <a:rPr lang="en-US" altLang="ko-KR" sz="1100"/>
              <a:t>(</a:t>
            </a:r>
            <a:r>
              <a:rPr lang="ko-KR" altLang="en-US" sz="1100"/>
              <a:t>애플리케이션에서 </a:t>
            </a:r>
            <a:r>
              <a:rPr lang="en-US" altLang="ko-KR" sz="1100"/>
              <a:t>API</a:t>
            </a:r>
            <a:r>
              <a:rPr lang="ko-KR" altLang="en-US" sz="1100"/>
              <a:t>가 요청이자 애플리케이션에서 수행하는 작업의 단위라고 볼 수 있음 </a:t>
            </a:r>
            <a:r>
              <a:rPr lang="en-US" altLang="ko-KR" sz="1100"/>
              <a:t>= </a:t>
            </a:r>
            <a:r>
              <a:rPr lang="ko-KR" altLang="en-US" sz="1100"/>
              <a:t>트랜잭션</a:t>
            </a:r>
            <a:r>
              <a:rPr lang="en-US" altLang="ko-KR" sz="110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sz="1600"/>
              <a:t>ㅇㅇ</a:t>
            </a:r>
            <a:endParaRPr lang="en-US" altLang="ko-KR" sz="1600"/>
          </a:p>
          <a:p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3546338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170FEF-BE19-C058-A24B-FFB4B36EA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지연시간</a:t>
            </a:r>
            <a:r>
              <a:rPr lang="en-US" altLang="ko-KR"/>
              <a:t>(Latency)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92C920-1F84-E413-9C8C-683BA13D16F1}"/>
              </a:ext>
            </a:extLst>
          </p:cNvPr>
          <p:cNvSpPr txBox="1"/>
          <p:nvPr/>
        </p:nvSpPr>
        <p:spPr>
          <a:xfrm>
            <a:off x="1201271" y="1900518"/>
            <a:ext cx="9954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부하테스트에서 요청에 대한 평균 응답시간</a:t>
            </a:r>
          </a:p>
        </p:txBody>
      </p:sp>
    </p:spTree>
    <p:extLst>
      <p:ext uri="{BB962C8B-B14F-4D97-AF65-F5344CB8AC3E}">
        <p14:creationId xmlns:p14="http://schemas.microsoft.com/office/powerpoint/2010/main" val="2137492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B61487-681E-6350-3B73-EAFC3B6A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부하테스트 툴 </a:t>
            </a:r>
            <a:r>
              <a:rPr lang="en-US" altLang="ko-KR"/>
              <a:t>(K6)</a:t>
            </a:r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854ED09-9AB3-AE85-BD01-7C5073CFAF6F}"/>
              </a:ext>
            </a:extLst>
          </p:cNvPr>
          <p:cNvGrpSpPr/>
          <p:nvPr/>
        </p:nvGrpSpPr>
        <p:grpSpPr>
          <a:xfrm>
            <a:off x="1933783" y="1899607"/>
            <a:ext cx="7902116" cy="4079852"/>
            <a:chOff x="1933783" y="1899607"/>
            <a:chExt cx="7902116" cy="4079852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C331E36-AEFC-BD81-A0C6-BDC3BD658DFC}"/>
                </a:ext>
              </a:extLst>
            </p:cNvPr>
            <p:cNvGrpSpPr/>
            <p:nvPr/>
          </p:nvGrpSpPr>
          <p:grpSpPr>
            <a:xfrm>
              <a:off x="1933783" y="1899607"/>
              <a:ext cx="7902116" cy="4079852"/>
              <a:chOff x="1933783" y="1899607"/>
              <a:chExt cx="7902116" cy="4079852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B159A47D-5D6C-DAEE-F910-45FA9D76D4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33783" y="1899607"/>
                <a:ext cx="7902116" cy="4079852"/>
              </a:xfrm>
              <a:prstGeom prst="rect">
                <a:avLst/>
              </a:prstGeom>
            </p:spPr>
          </p:pic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39DC2673-3DB6-1CC3-C8BB-D9D6008A884B}"/>
                  </a:ext>
                </a:extLst>
              </p:cNvPr>
              <p:cNvSpPr/>
              <p:nvPr/>
            </p:nvSpPr>
            <p:spPr>
              <a:xfrm>
                <a:off x="2232212" y="3056965"/>
                <a:ext cx="6140823" cy="23308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6BDC560-DEDE-6BA0-FD0F-8BDD11297B00}"/>
                </a:ext>
              </a:extLst>
            </p:cNvPr>
            <p:cNvSpPr/>
            <p:nvPr/>
          </p:nvSpPr>
          <p:spPr>
            <a:xfrm>
              <a:off x="2026024" y="5351929"/>
              <a:ext cx="3281082" cy="18826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88BD58A-E2E6-C407-9DC1-E7CE429C7AB9}"/>
                </a:ext>
              </a:extLst>
            </p:cNvPr>
            <p:cNvSpPr/>
            <p:nvPr/>
          </p:nvSpPr>
          <p:spPr>
            <a:xfrm>
              <a:off x="4733365" y="5163670"/>
              <a:ext cx="5102533" cy="18825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32895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5CA285A-2DE4-BE8E-567F-7F062C5CB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06" y="842831"/>
            <a:ext cx="5541858" cy="1306469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2A96ED32-B1DA-A8CC-8793-16CF7B06B91D}"/>
              </a:ext>
            </a:extLst>
          </p:cNvPr>
          <p:cNvGrpSpPr/>
          <p:nvPr/>
        </p:nvGrpSpPr>
        <p:grpSpPr>
          <a:xfrm>
            <a:off x="174207" y="2496359"/>
            <a:ext cx="5541857" cy="3518810"/>
            <a:chOff x="174205" y="1698500"/>
            <a:chExt cx="5541857" cy="351881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8CBE0B9A-9782-5B04-5F0B-C73E10210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4205" y="1698500"/>
              <a:ext cx="5541857" cy="35188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FA9CE0F-7F96-15BB-F951-D3D70E81B033}"/>
                </a:ext>
              </a:extLst>
            </p:cNvPr>
            <p:cNvSpPr/>
            <p:nvPr/>
          </p:nvSpPr>
          <p:spPr>
            <a:xfrm>
              <a:off x="1281953" y="2823882"/>
              <a:ext cx="591671" cy="8068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283E27E-4986-C6B0-37E1-09F840632F06}"/>
              </a:ext>
            </a:extLst>
          </p:cNvPr>
          <p:cNvGrpSpPr/>
          <p:nvPr/>
        </p:nvGrpSpPr>
        <p:grpSpPr>
          <a:xfrm>
            <a:off x="5786818" y="842831"/>
            <a:ext cx="6325443" cy="4787154"/>
            <a:chOff x="5795782" y="208566"/>
            <a:chExt cx="6325443" cy="4787154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4BC76CEB-1F9C-2AD9-D7B4-539EE223A522}"/>
                </a:ext>
              </a:extLst>
            </p:cNvPr>
            <p:cNvGrpSpPr/>
            <p:nvPr/>
          </p:nvGrpSpPr>
          <p:grpSpPr>
            <a:xfrm>
              <a:off x="5795782" y="208566"/>
              <a:ext cx="6325443" cy="4787154"/>
              <a:chOff x="5795782" y="208566"/>
              <a:chExt cx="6325443" cy="4787154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CD35EDB7-783A-5E44-5200-DBE5A94F95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95782" y="208566"/>
                <a:ext cx="6325443" cy="478715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B3D746F6-4489-6B4C-DC95-78BDC2524B90}"/>
                  </a:ext>
                </a:extLst>
              </p:cNvPr>
              <p:cNvSpPr/>
              <p:nvPr/>
            </p:nvSpPr>
            <p:spPr>
              <a:xfrm>
                <a:off x="5795782" y="4168588"/>
                <a:ext cx="2030406" cy="31376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40DE47A-27AE-6830-6507-F26500A759E5}"/>
                </a:ext>
              </a:extLst>
            </p:cNvPr>
            <p:cNvSpPr/>
            <p:nvPr/>
          </p:nvSpPr>
          <p:spPr>
            <a:xfrm>
              <a:off x="5880846" y="708212"/>
              <a:ext cx="5020235" cy="49305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47B3D71-E440-F1CB-196D-1308835FE637}"/>
              </a:ext>
            </a:extLst>
          </p:cNvPr>
          <p:cNvSpPr txBox="1"/>
          <p:nvPr/>
        </p:nvSpPr>
        <p:spPr>
          <a:xfrm>
            <a:off x="7440706" y="1290918"/>
            <a:ext cx="3496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테스트임으로 키 페어 없이</a:t>
            </a:r>
            <a:r>
              <a:rPr lang="en-US" altLang="ko-KR" sz="1200"/>
              <a:t> </a:t>
            </a:r>
            <a:r>
              <a:rPr lang="ko-KR" altLang="en-US" sz="1200"/>
              <a:t>설정</a:t>
            </a:r>
          </a:p>
        </p:txBody>
      </p:sp>
    </p:spTree>
    <p:extLst>
      <p:ext uri="{BB962C8B-B14F-4D97-AF65-F5344CB8AC3E}">
        <p14:creationId xmlns:p14="http://schemas.microsoft.com/office/powerpoint/2010/main" val="2888781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0760584-F8C5-61CF-3427-683E2DBD76A7}"/>
              </a:ext>
            </a:extLst>
          </p:cNvPr>
          <p:cNvGrpSpPr/>
          <p:nvPr/>
        </p:nvGrpSpPr>
        <p:grpSpPr>
          <a:xfrm>
            <a:off x="1040980" y="421340"/>
            <a:ext cx="10478667" cy="5862919"/>
            <a:chOff x="1040980" y="421340"/>
            <a:chExt cx="10478667" cy="5862919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15CCCE3-9EDC-08B2-85D3-2DE8417C8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0980" y="421340"/>
              <a:ext cx="10397168" cy="5862919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F630177-95FB-A3A1-A214-22390CA171E4}"/>
                </a:ext>
              </a:extLst>
            </p:cNvPr>
            <p:cNvSpPr/>
            <p:nvPr/>
          </p:nvSpPr>
          <p:spPr>
            <a:xfrm>
              <a:off x="10936941" y="5844988"/>
              <a:ext cx="582706" cy="37651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4208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959F7E-E476-B6B2-A918-2502EAB4C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Node.js </a:t>
            </a:r>
            <a:r>
              <a:rPr lang="ko-KR" altLang="en-US"/>
              <a:t>설치 명령어 입력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9016CA-5531-4B2F-0870-E503D4636E75}"/>
              </a:ext>
            </a:extLst>
          </p:cNvPr>
          <p:cNvSpPr txBox="1"/>
          <p:nvPr/>
        </p:nvSpPr>
        <p:spPr>
          <a:xfrm>
            <a:off x="1097279" y="1859339"/>
            <a:ext cx="1036857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/>
              <a:t>sudo su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/>
              <a:t>apt-get update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/>
              <a:t>apt-get install -y ca-certificates curl gnupg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/>
              <a:t>mkdir -p /etc/apt/keyrings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/>
              <a:t>curl -fsSL https://deb.nodesource.com/gpgkey/nodesource-repo.gpg.key | sudo gpg --dearmor -o /etc/apt/keyrings/nodesource.gpg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/>
              <a:t> NODE_MAJOR=20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/>
              <a:t>echo "deb [signed-by=/etc/apt/keyrings/nodesource.gpg] https://deb.nodesource.com/node_$NODE_MAJOR.x nodistro main" | sudo tee /etc/apt/sources.list.d/nodesource.list</a:t>
            </a:r>
          </a:p>
          <a:p>
            <a:endParaRPr lang="en-US" altLang="ko-KR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/>
              <a:t>apt-get update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/>
              <a:t>apt-get install nodejs -y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/>
              <a:t>sudo apt install npm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/>
              <a:t>node -v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510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42F63D-464C-8478-4AC4-D422BDFA2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Express</a:t>
            </a:r>
            <a:r>
              <a:rPr lang="ko-KR" altLang="en-US"/>
              <a:t> 서버 셋팅하기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AC622E-9125-90E7-CA48-D7BAAC99E47C}"/>
              </a:ext>
            </a:extLst>
          </p:cNvPr>
          <p:cNvSpPr txBox="1"/>
          <p:nvPr/>
        </p:nvSpPr>
        <p:spPr>
          <a:xfrm>
            <a:off x="1097279" y="1737360"/>
            <a:ext cx="100583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/>
              <a:t>$ mkdir my-server </a:t>
            </a:r>
          </a:p>
          <a:p>
            <a:r>
              <a:rPr lang="en-US" altLang="ko-KR" sz="1400"/>
              <a:t>$ cd my-server </a:t>
            </a:r>
          </a:p>
          <a:p>
            <a:r>
              <a:rPr lang="en-US" altLang="ko-KR" sz="1400"/>
              <a:t>$ npm init # </a:t>
            </a:r>
            <a:r>
              <a:rPr lang="ko-KR" altLang="en-US" sz="1400"/>
              <a:t>의존성 관리 파일 생성 </a:t>
            </a:r>
            <a:endParaRPr lang="en-US" altLang="ko-KR" sz="1400"/>
          </a:p>
          <a:p>
            <a:r>
              <a:rPr lang="en-US" altLang="ko-KR" sz="1400"/>
              <a:t>$ npm i express # express </a:t>
            </a:r>
            <a:r>
              <a:rPr lang="ko-KR" altLang="en-US" sz="1400"/>
              <a:t>라이브러리 설치 </a:t>
            </a:r>
            <a:r>
              <a:rPr lang="en-US" altLang="ko-KR" sz="1400"/>
              <a:t>(springBoot </a:t>
            </a:r>
            <a:r>
              <a:rPr lang="ko-KR" altLang="en-US" sz="1400"/>
              <a:t>같은 </a:t>
            </a:r>
            <a:r>
              <a:rPr lang="en-US" altLang="ko-KR" sz="1400"/>
              <a:t>node.js </a:t>
            </a:r>
            <a:r>
              <a:rPr lang="ko-KR" altLang="en-US" sz="1400"/>
              <a:t>에서 많이 사용하는 프레임워크</a:t>
            </a:r>
            <a:r>
              <a:rPr lang="en-US" altLang="ko-KR" sz="1400"/>
              <a:t>)</a:t>
            </a:r>
            <a:endParaRPr lang="ko-KR" alt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59944F-D8A5-4339-567A-B82DA7209C64}"/>
              </a:ext>
            </a:extLst>
          </p:cNvPr>
          <p:cNvSpPr txBox="1"/>
          <p:nvPr/>
        </p:nvSpPr>
        <p:spPr>
          <a:xfrm>
            <a:off x="1097279" y="3057194"/>
            <a:ext cx="634342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200"/>
              <a:t>app.js</a:t>
            </a:r>
            <a:r>
              <a:rPr lang="ko-KR" altLang="en-US" sz="1200"/>
              <a:t> 로직 작성</a:t>
            </a:r>
            <a:endParaRPr lang="en-US" altLang="ko-KR" sz="120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ko-KR" sz="1200"/>
          </a:p>
          <a:p>
            <a:r>
              <a:rPr lang="en-US" altLang="ko-KR" sz="1200"/>
              <a:t>const express = require('express'); </a:t>
            </a:r>
          </a:p>
          <a:p>
            <a:r>
              <a:rPr lang="en-US" altLang="ko-KR" sz="1200"/>
              <a:t>const app = express(); </a:t>
            </a:r>
          </a:p>
          <a:p>
            <a:r>
              <a:rPr lang="en-US" altLang="ko-KR" sz="1200"/>
              <a:t>const port = 80; </a:t>
            </a:r>
          </a:p>
          <a:p>
            <a:endParaRPr lang="en-US" altLang="ko-KR" sz="1200"/>
          </a:p>
          <a:p>
            <a:r>
              <a:rPr lang="en-US" altLang="ko-KR" sz="1200"/>
              <a:t>app.get('/boards', (req, res) =&gt;{ </a:t>
            </a:r>
          </a:p>
          <a:p>
            <a:r>
              <a:rPr lang="en-US" altLang="ko-KR" sz="1200"/>
              <a:t>	res.send([ </a:t>
            </a:r>
          </a:p>
          <a:p>
            <a:r>
              <a:rPr lang="en-US" altLang="ko-KR" sz="1200"/>
              <a:t>		{ id: 1, title: ' </a:t>
            </a:r>
            <a:r>
              <a:rPr lang="ko-KR" altLang="en-US" sz="1200"/>
              <a:t>첫 번째 게시글 </a:t>
            </a:r>
            <a:r>
              <a:rPr lang="en-US" altLang="ko-KR" sz="1200"/>
              <a:t>', content: ' </a:t>
            </a:r>
            <a:r>
              <a:rPr lang="ko-KR" altLang="en-US" sz="1200"/>
              <a:t>이것은 첫 번째 게시글의 내용입니다 </a:t>
            </a:r>
            <a:r>
              <a:rPr lang="en-US" altLang="ko-KR" sz="1200"/>
              <a:t>.' }, </a:t>
            </a:r>
          </a:p>
          <a:p>
            <a:r>
              <a:rPr lang="en-US" altLang="ko-KR" sz="1200"/>
              <a:t>		{ id: 2, title: ' </a:t>
            </a:r>
            <a:r>
              <a:rPr lang="ko-KR" altLang="en-US" sz="1200"/>
              <a:t>두 번째 게시글 </a:t>
            </a:r>
            <a:r>
              <a:rPr lang="en-US" altLang="ko-KR" sz="1200"/>
              <a:t>', content: ' </a:t>
            </a:r>
            <a:r>
              <a:rPr lang="ko-KR" altLang="en-US" sz="1200"/>
              <a:t>이것은 두 번째 게시글의 내용입니다 </a:t>
            </a:r>
            <a:r>
              <a:rPr lang="en-US" altLang="ko-KR" sz="1200"/>
              <a:t>.' },</a:t>
            </a:r>
          </a:p>
          <a:p>
            <a:r>
              <a:rPr lang="en-US" altLang="ko-KR" sz="1200"/>
              <a:t>		 { id: 3, title: ' </a:t>
            </a:r>
            <a:r>
              <a:rPr lang="ko-KR" altLang="en-US" sz="1200"/>
              <a:t>세 번째 게시글 </a:t>
            </a:r>
            <a:r>
              <a:rPr lang="en-US" altLang="ko-KR" sz="1200"/>
              <a:t>', content: ' </a:t>
            </a:r>
            <a:r>
              <a:rPr lang="ko-KR" altLang="en-US" sz="1200"/>
              <a:t>이것은 세 번째 게시글의 내용입니다 </a:t>
            </a:r>
            <a:r>
              <a:rPr lang="en-US" altLang="ko-KR" sz="1200"/>
              <a:t>.' } </a:t>
            </a:r>
          </a:p>
          <a:p>
            <a:r>
              <a:rPr lang="en-US" altLang="ko-KR" sz="1200"/>
              <a:t>	]); </a:t>
            </a:r>
          </a:p>
          <a:p>
            <a:r>
              <a:rPr lang="en-US" altLang="ko-KR" sz="1200"/>
              <a:t>}) </a:t>
            </a:r>
          </a:p>
          <a:p>
            <a:r>
              <a:rPr lang="en-US" altLang="ko-KR" sz="1200"/>
              <a:t>app.listen(port, () =&gt; { </a:t>
            </a:r>
          </a:p>
          <a:p>
            <a:r>
              <a:rPr lang="en-US" altLang="ko-KR" sz="1200"/>
              <a:t>	console.log(`Example app listening on port ${port}`) </a:t>
            </a:r>
          </a:p>
          <a:p>
            <a:r>
              <a:rPr lang="en-US" altLang="ko-KR" sz="1200"/>
              <a:t>})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BD08938-A232-FA00-0C3F-0E48EF453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817" y="2910185"/>
            <a:ext cx="4182059" cy="37629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55920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F5F7E6-215D-951B-F043-908F5FDBF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pm2 </a:t>
            </a:r>
            <a:r>
              <a:rPr lang="ko-KR" altLang="en-US"/>
              <a:t>설치하기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EA34F8-ADDA-B603-6B87-4B0458CCCF31}"/>
              </a:ext>
            </a:extLst>
          </p:cNvPr>
          <p:cNvSpPr txBox="1"/>
          <p:nvPr/>
        </p:nvSpPr>
        <p:spPr>
          <a:xfrm>
            <a:off x="1255059" y="278981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$ npm i -g pm2      (pm2 </a:t>
            </a:r>
            <a:r>
              <a:rPr lang="ko-KR" altLang="en-US"/>
              <a:t>서버 설치</a:t>
            </a:r>
            <a:r>
              <a:rPr lang="en-US" altLang="ko-KR"/>
              <a:t>)</a:t>
            </a:r>
          </a:p>
          <a:p>
            <a:r>
              <a:rPr lang="en-US" altLang="ko-KR"/>
              <a:t>$ pm2</a:t>
            </a:r>
            <a:r>
              <a:rPr lang="ko-KR" altLang="en-US"/>
              <a:t> </a:t>
            </a:r>
            <a:r>
              <a:rPr lang="en-US" altLang="ko-KR"/>
              <a:t>start</a:t>
            </a:r>
            <a:r>
              <a:rPr lang="ko-KR" altLang="en-US"/>
              <a:t> </a:t>
            </a:r>
            <a:r>
              <a:rPr lang="en-US" altLang="ko-KR"/>
              <a:t>app.js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서버 실행</a:t>
            </a:r>
            <a:r>
              <a:rPr lang="en-US" altLang="ko-KR"/>
              <a:t>)</a:t>
            </a:r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BF3788A-B0EC-9D5E-E684-31A014E4BFC3}"/>
              </a:ext>
            </a:extLst>
          </p:cNvPr>
          <p:cNvGrpSpPr/>
          <p:nvPr/>
        </p:nvGrpSpPr>
        <p:grpSpPr>
          <a:xfrm>
            <a:off x="1097280" y="1853956"/>
            <a:ext cx="8964276" cy="819264"/>
            <a:chOff x="1097280" y="1853956"/>
            <a:chExt cx="8964276" cy="81926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0C3F7BA-97BB-6647-09CE-DCA6483016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53956"/>
              <a:ext cx="8964276" cy="819264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F4880BA-AF06-A3B5-3724-FF009821ADF2}"/>
                </a:ext>
              </a:extLst>
            </p:cNvPr>
            <p:cNvSpPr/>
            <p:nvPr/>
          </p:nvSpPr>
          <p:spPr>
            <a:xfrm>
              <a:off x="1371600" y="2124635"/>
              <a:ext cx="1775012" cy="36755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2398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A3D86F-8CE4-2808-3A9B-0D032C914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잘동작하는지 확인하기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173B294-2F4B-7164-FB90-E9D19104E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77237"/>
            <a:ext cx="3391373" cy="59063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B3DA2169-16B7-D9C5-C358-54C7CA85742C}"/>
              </a:ext>
            </a:extLst>
          </p:cNvPr>
          <p:cNvSpPr/>
          <p:nvPr/>
        </p:nvSpPr>
        <p:spPr>
          <a:xfrm>
            <a:off x="1097280" y="2272553"/>
            <a:ext cx="1672814" cy="2953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6A06120-20DE-22FE-CF29-6680033F2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68" y="2807746"/>
            <a:ext cx="5400493" cy="264279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304AA76-2607-DB88-3767-78559A231E9C}"/>
              </a:ext>
            </a:extLst>
          </p:cNvPr>
          <p:cNvSpPr/>
          <p:nvPr/>
        </p:nvSpPr>
        <p:spPr>
          <a:xfrm>
            <a:off x="693868" y="3752179"/>
            <a:ext cx="1672814" cy="2953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274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421251-67DA-12CA-A997-EFF7B0E8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부하테스트 툴 설치</a:t>
            </a:r>
            <a:r>
              <a:rPr lang="en-US" altLang="ko-KR"/>
              <a:t>(K6-Server [EC2])</a:t>
            </a:r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F95FEE6-0198-33EC-4F99-FA755845C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108" y="3114965"/>
            <a:ext cx="6291942" cy="1200517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6C45F0FA-0FB7-1535-EFF3-7795C3AC787B}"/>
              </a:ext>
            </a:extLst>
          </p:cNvPr>
          <p:cNvGrpSpPr/>
          <p:nvPr/>
        </p:nvGrpSpPr>
        <p:grpSpPr>
          <a:xfrm>
            <a:off x="245546" y="1893973"/>
            <a:ext cx="7450652" cy="1064379"/>
            <a:chOff x="245546" y="1893973"/>
            <a:chExt cx="7450652" cy="106437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AFC2269-7A6E-BF68-6BCD-384FA83E1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5546" y="1893973"/>
              <a:ext cx="7450652" cy="106437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0310306-9C45-AC1E-5593-CEAF54A7C137}"/>
                </a:ext>
              </a:extLst>
            </p:cNvPr>
            <p:cNvSpPr/>
            <p:nvPr/>
          </p:nvSpPr>
          <p:spPr>
            <a:xfrm>
              <a:off x="6651812" y="2034988"/>
              <a:ext cx="385482" cy="3675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1</a:t>
              </a:r>
              <a:endParaRPr lang="ko-KR" altLang="en-US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CDD92194-4652-906F-83F5-C69ADE87DC04}"/>
              </a:ext>
            </a:extLst>
          </p:cNvPr>
          <p:cNvGrpSpPr/>
          <p:nvPr/>
        </p:nvGrpSpPr>
        <p:grpSpPr>
          <a:xfrm>
            <a:off x="245546" y="3114965"/>
            <a:ext cx="5427967" cy="3450295"/>
            <a:chOff x="245546" y="3114965"/>
            <a:chExt cx="5427967" cy="345029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54FEE2B-81A3-3301-BC6F-4C05ACC4A8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5546" y="3114965"/>
              <a:ext cx="5427967" cy="345029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3F1F96F-A2C6-AD73-DDD0-EE33A2D1D5FA}"/>
                </a:ext>
              </a:extLst>
            </p:cNvPr>
            <p:cNvSpPr/>
            <p:nvPr/>
          </p:nvSpPr>
          <p:spPr>
            <a:xfrm>
              <a:off x="5150088" y="3163894"/>
              <a:ext cx="385482" cy="3675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2</a:t>
              </a:r>
              <a:endParaRPr lang="ko-KR" altLang="en-US"/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25220A7-5E9C-2D91-04F0-5E2ADD76F622}"/>
              </a:ext>
            </a:extLst>
          </p:cNvPr>
          <p:cNvSpPr/>
          <p:nvPr/>
        </p:nvSpPr>
        <p:spPr>
          <a:xfrm>
            <a:off x="1344706" y="4249271"/>
            <a:ext cx="564776" cy="7530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48F0D4E-6CFF-1B3C-64D5-1660EA42B282}"/>
              </a:ext>
            </a:extLst>
          </p:cNvPr>
          <p:cNvGrpSpPr/>
          <p:nvPr/>
        </p:nvGrpSpPr>
        <p:grpSpPr>
          <a:xfrm>
            <a:off x="5844092" y="3185658"/>
            <a:ext cx="6102362" cy="936811"/>
            <a:chOff x="5844092" y="3185658"/>
            <a:chExt cx="6102362" cy="936811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54B307D-B9B4-EDBD-4FA0-098AD3B9A079}"/>
                </a:ext>
              </a:extLst>
            </p:cNvPr>
            <p:cNvSpPr/>
            <p:nvPr/>
          </p:nvSpPr>
          <p:spPr>
            <a:xfrm>
              <a:off x="11560972" y="3185658"/>
              <a:ext cx="385482" cy="3675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3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BC67224-E0AB-7E62-88CF-49DDFA956AC8}"/>
                </a:ext>
              </a:extLst>
            </p:cNvPr>
            <p:cNvSpPr/>
            <p:nvPr/>
          </p:nvSpPr>
          <p:spPr>
            <a:xfrm>
              <a:off x="5844092" y="3369434"/>
              <a:ext cx="4596020" cy="7530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06AB069-F5A2-831B-DBCF-18A918AB9EE4}"/>
                </a:ext>
              </a:extLst>
            </p:cNvPr>
            <p:cNvSpPr/>
            <p:nvPr/>
          </p:nvSpPr>
          <p:spPr>
            <a:xfrm>
              <a:off x="10501096" y="3567305"/>
              <a:ext cx="722716" cy="26959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5068D26-D3DD-906B-ABD6-073AA34A83DC}"/>
              </a:ext>
            </a:extLst>
          </p:cNvPr>
          <p:cNvGrpSpPr/>
          <p:nvPr/>
        </p:nvGrpSpPr>
        <p:grpSpPr>
          <a:xfrm>
            <a:off x="5783108" y="4472095"/>
            <a:ext cx="6077198" cy="1123038"/>
            <a:chOff x="5783108" y="4472095"/>
            <a:chExt cx="6077198" cy="1123038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AE1B820F-BF9F-C52C-6BBD-150C8F2356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83108" y="4472095"/>
              <a:ext cx="6077198" cy="112303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B41378E-8F6A-1E60-B10D-C66710BA36D8}"/>
                </a:ext>
              </a:extLst>
            </p:cNvPr>
            <p:cNvSpPr/>
            <p:nvPr/>
          </p:nvSpPr>
          <p:spPr>
            <a:xfrm>
              <a:off x="11368231" y="4512841"/>
              <a:ext cx="385482" cy="3675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4</a:t>
              </a:r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AE6AD43-0187-C96B-721A-F97A7A261316}"/>
                </a:ext>
              </a:extLst>
            </p:cNvPr>
            <p:cNvSpPr/>
            <p:nvPr/>
          </p:nvSpPr>
          <p:spPr>
            <a:xfrm>
              <a:off x="5783108" y="5002307"/>
              <a:ext cx="4786280" cy="59282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11179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5CA469-4258-3912-31E8-53D29D739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부하테스트 툴 설치</a:t>
            </a:r>
            <a:r>
              <a:rPr lang="en-US" altLang="ko-KR"/>
              <a:t>(K6-Server [EC2])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94995E0-BF21-116D-2C37-8E7A0E3A2F14}"/>
              </a:ext>
            </a:extLst>
          </p:cNvPr>
          <p:cNvGrpSpPr/>
          <p:nvPr/>
        </p:nvGrpSpPr>
        <p:grpSpPr>
          <a:xfrm>
            <a:off x="1097280" y="1891552"/>
            <a:ext cx="4353261" cy="1865515"/>
            <a:chOff x="1097280" y="1891552"/>
            <a:chExt cx="4353261" cy="186551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B28043C-47DE-4810-0AD1-46EEF3515D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500" t="58693" r="37279"/>
            <a:stretch>
              <a:fillRect/>
            </a:stretch>
          </p:blipFill>
          <p:spPr>
            <a:xfrm>
              <a:off x="1097280" y="1891552"/>
              <a:ext cx="4353261" cy="1865515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C885916-E96D-1A04-3E3E-9FCAF158CCD1}"/>
                </a:ext>
              </a:extLst>
            </p:cNvPr>
            <p:cNvSpPr/>
            <p:nvPr/>
          </p:nvSpPr>
          <p:spPr>
            <a:xfrm>
              <a:off x="4903694" y="1891552"/>
              <a:ext cx="439271" cy="28687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04ADEAF-CCA7-1E09-A63D-3F745647C6F2}"/>
              </a:ext>
            </a:extLst>
          </p:cNvPr>
          <p:cNvGrpSpPr/>
          <p:nvPr/>
        </p:nvGrpSpPr>
        <p:grpSpPr>
          <a:xfrm>
            <a:off x="5728447" y="5235388"/>
            <a:ext cx="5065058" cy="792313"/>
            <a:chOff x="5728447" y="5235388"/>
            <a:chExt cx="5065058" cy="792313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3DB4A13-0B46-3F22-E701-63357A2169E2}"/>
                </a:ext>
              </a:extLst>
            </p:cNvPr>
            <p:cNvSpPr/>
            <p:nvPr/>
          </p:nvSpPr>
          <p:spPr>
            <a:xfrm>
              <a:off x="5728447" y="5235388"/>
              <a:ext cx="1667435" cy="38548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F73D36F-8E03-943E-0BCE-4243EDD1900E}"/>
                </a:ext>
              </a:extLst>
            </p:cNvPr>
            <p:cNvSpPr/>
            <p:nvPr/>
          </p:nvSpPr>
          <p:spPr>
            <a:xfrm>
              <a:off x="5728447" y="5642218"/>
              <a:ext cx="1667435" cy="38548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9C213A5-F5F4-D1DE-7AD8-3BBB2EB22212}"/>
                </a:ext>
              </a:extLst>
            </p:cNvPr>
            <p:cNvSpPr/>
            <p:nvPr/>
          </p:nvSpPr>
          <p:spPr>
            <a:xfrm>
              <a:off x="9126070" y="5256735"/>
              <a:ext cx="1667435" cy="38548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43AD4DA-A678-2A7F-A7DC-39CBFA3693EE}"/>
              </a:ext>
            </a:extLst>
          </p:cNvPr>
          <p:cNvSpPr txBox="1"/>
          <p:nvPr/>
        </p:nvSpPr>
        <p:spPr>
          <a:xfrm>
            <a:off x="9350188" y="3352800"/>
            <a:ext cx="1805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K6 </a:t>
            </a:r>
            <a:r>
              <a:rPr lang="ko-KR" altLang="en-US" sz="1400"/>
              <a:t>기본 포트가 </a:t>
            </a:r>
            <a:r>
              <a:rPr lang="en-US" altLang="ko-KR" sz="1400"/>
              <a:t>5665</a:t>
            </a:r>
            <a:endParaRPr lang="ko-KR" altLang="en-US" sz="140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2E413CD-545E-A2C4-C219-AA5CF15BA0CB}"/>
              </a:ext>
            </a:extLst>
          </p:cNvPr>
          <p:cNvGrpSpPr/>
          <p:nvPr/>
        </p:nvGrpSpPr>
        <p:grpSpPr>
          <a:xfrm>
            <a:off x="5701244" y="1891552"/>
            <a:ext cx="5597807" cy="4921205"/>
            <a:chOff x="5701244" y="1891552"/>
            <a:chExt cx="5597807" cy="4921205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3033B8F-D015-15BF-B0C4-B4370FFD6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01244" y="1891552"/>
              <a:ext cx="5597807" cy="491053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91BF255-4606-A3F1-C9FF-6C221AF71246}"/>
                </a:ext>
              </a:extLst>
            </p:cNvPr>
            <p:cNvSpPr/>
            <p:nvPr/>
          </p:nvSpPr>
          <p:spPr>
            <a:xfrm>
              <a:off x="5728447" y="6571397"/>
              <a:ext cx="851647" cy="24136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E30C122-2DDD-A6A3-77CB-E41B51D5D990}"/>
              </a:ext>
            </a:extLst>
          </p:cNvPr>
          <p:cNvSpPr txBox="1"/>
          <p:nvPr/>
        </p:nvSpPr>
        <p:spPr>
          <a:xfrm>
            <a:off x="3693305" y="5699100"/>
            <a:ext cx="188258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보안 그룹 규칙 추가 버튼으로 인바운드 보안 그룹 규칙 추가</a:t>
            </a:r>
          </a:p>
        </p:txBody>
      </p:sp>
    </p:spTree>
    <p:extLst>
      <p:ext uri="{BB962C8B-B14F-4D97-AF65-F5344CB8AC3E}">
        <p14:creationId xmlns:p14="http://schemas.microsoft.com/office/powerpoint/2010/main" val="1316930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DA1D25-A187-4CFD-AC43-C7578CD6C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부하테스트 툴 설치</a:t>
            </a:r>
            <a:r>
              <a:rPr lang="en-US" altLang="ko-KR"/>
              <a:t>(K6-Server [EC2])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B7A9FA4-25D2-9F53-ED8C-BFF74659F75E}"/>
              </a:ext>
            </a:extLst>
          </p:cNvPr>
          <p:cNvGrpSpPr/>
          <p:nvPr/>
        </p:nvGrpSpPr>
        <p:grpSpPr>
          <a:xfrm>
            <a:off x="824291" y="1946639"/>
            <a:ext cx="10543417" cy="2964722"/>
            <a:chOff x="824291" y="1946639"/>
            <a:chExt cx="10543417" cy="296472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25DE7A2-2261-71CB-D5FA-6F3AD52BD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4291" y="1946639"/>
              <a:ext cx="10543417" cy="2964722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84C315A-2415-F69E-9D3A-FC5E5593DF66}"/>
                </a:ext>
              </a:extLst>
            </p:cNvPr>
            <p:cNvSpPr/>
            <p:nvPr/>
          </p:nvSpPr>
          <p:spPr>
            <a:xfrm>
              <a:off x="2635624" y="3316941"/>
              <a:ext cx="8399929" cy="58270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E4C1A1B-86CB-9F67-A914-56FAD2CDDA95}"/>
              </a:ext>
            </a:extLst>
          </p:cNvPr>
          <p:cNvSpPr txBox="1"/>
          <p:nvPr/>
        </p:nvSpPr>
        <p:spPr>
          <a:xfrm>
            <a:off x="2931459" y="3523129"/>
            <a:ext cx="31645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ssh</a:t>
            </a:r>
            <a:r>
              <a:rPr lang="ko-KR" altLang="en-US" sz="1200"/>
              <a:t> 인바운드 규칙 안하면 접속안됨</a:t>
            </a:r>
          </a:p>
        </p:txBody>
      </p:sp>
    </p:spTree>
    <p:extLst>
      <p:ext uri="{BB962C8B-B14F-4D97-AF65-F5344CB8AC3E}">
        <p14:creationId xmlns:p14="http://schemas.microsoft.com/office/powerpoint/2010/main" val="755004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1D9F5B-3109-0983-2414-CE7E418D8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K6 </a:t>
            </a:r>
            <a:r>
              <a:rPr lang="ko-KR" altLang="en-US"/>
              <a:t>툴 설치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54574-714B-DAE2-48AA-9BF20CD4EA86}"/>
              </a:ext>
            </a:extLst>
          </p:cNvPr>
          <p:cNvSpPr txBox="1"/>
          <p:nvPr/>
        </p:nvSpPr>
        <p:spPr>
          <a:xfrm>
            <a:off x="1097280" y="1912221"/>
            <a:ext cx="793376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/>
              <a:t>curl -fsSL https://dl.k6.io/key.gpg | sudo gpg --dearmor -o /usr/share/keyrings/k6-archive-keyring.gpg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/>
              <a:t>echo "deb [signed-by=/usr/share/keyrings/k6-archive-keyring.gpg] https://dl.k6.io/deb stable main" | sudo tee /etc/apt/sources.list.d/k6.list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/>
              <a:t>sudo apt-get update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/>
              <a:t>sudo apt-get install k6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/>
              <a:t>k6</a:t>
            </a:r>
            <a:endParaRPr lang="en-US" altLang="ko-KR" sz="1400"/>
          </a:p>
        </p:txBody>
      </p:sp>
    </p:spTree>
    <p:extLst>
      <p:ext uri="{BB962C8B-B14F-4D97-AF65-F5344CB8AC3E}">
        <p14:creationId xmlns:p14="http://schemas.microsoft.com/office/powerpoint/2010/main" val="277293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74FCD-B968-7425-B881-3C3C51C40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/>
              <a:t>부하테스트 환경 과 애플리케이션 환경을 분리하는 이유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E05581C-2979-F37A-6EE5-77975FDCC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27007"/>
            <a:ext cx="6008577" cy="4903694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B35DE6E-ECFF-5BBA-F9AB-E7EA55234E27}"/>
              </a:ext>
            </a:extLst>
          </p:cNvPr>
          <p:cNvSpPr/>
          <p:nvPr/>
        </p:nvSpPr>
        <p:spPr>
          <a:xfrm>
            <a:off x="1317812" y="4278854"/>
            <a:ext cx="5638800" cy="4007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A4E3AE-1DD2-C54D-2A7F-84A2220A9B29}"/>
              </a:ext>
            </a:extLst>
          </p:cNvPr>
          <p:cNvSpPr/>
          <p:nvPr/>
        </p:nvSpPr>
        <p:spPr>
          <a:xfrm>
            <a:off x="1317811" y="1918447"/>
            <a:ext cx="4589929" cy="1972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399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E9CA41-6448-B7DF-DC21-32EC22EFD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script.js </a:t>
            </a:r>
            <a:r>
              <a:rPr lang="ko-KR" altLang="en-US"/>
              <a:t>작성하기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85CCBD-EC2E-6515-25A5-2263E05838A0}"/>
              </a:ext>
            </a:extLst>
          </p:cNvPr>
          <p:cNvSpPr txBox="1"/>
          <p:nvPr/>
        </p:nvSpPr>
        <p:spPr>
          <a:xfrm>
            <a:off x="1183341" y="1846729"/>
            <a:ext cx="103094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cd</a:t>
            </a:r>
            <a:r>
              <a:rPr lang="ko-KR" altLang="en-US"/>
              <a:t> </a:t>
            </a:r>
            <a:r>
              <a:rPr lang="en-US" altLang="ko-KR"/>
              <a:t>~</a:t>
            </a:r>
          </a:p>
          <a:p>
            <a:r>
              <a:rPr lang="en-US" altLang="ko-KR"/>
              <a:t>vi script.js</a:t>
            </a:r>
          </a:p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F62CD09-280B-251F-C816-FEBE773E2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341" y="2565616"/>
            <a:ext cx="3926541" cy="31362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44F899-66E2-ECFF-CE92-33118A4EBEB9}"/>
              </a:ext>
            </a:extLst>
          </p:cNvPr>
          <p:cNvSpPr txBox="1"/>
          <p:nvPr/>
        </p:nvSpPr>
        <p:spPr>
          <a:xfrm>
            <a:off x="5441576" y="2565615"/>
            <a:ext cx="60511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export const options </a:t>
            </a:r>
            <a:r>
              <a:rPr lang="en-US" altLang="ko-KR" sz="1400">
                <a:sym typeface="Wingdings" panose="05000000000000000000" pitchFamily="2" charset="2"/>
              </a:rPr>
              <a:t> </a:t>
            </a:r>
            <a:r>
              <a:rPr lang="ko-KR" altLang="en-US" sz="1400">
                <a:sym typeface="Wingdings" panose="05000000000000000000" pitchFamily="2" charset="2"/>
              </a:rPr>
              <a:t>단위테스트의 설정값</a:t>
            </a:r>
            <a:endParaRPr lang="en-US" altLang="ko-KR" sz="1400">
              <a:sym typeface="Wingdings" panose="05000000000000000000" pitchFamily="2" charset="2"/>
            </a:endParaRPr>
          </a:p>
          <a:p>
            <a:r>
              <a:rPr lang="en-US" altLang="ko-KR" sz="1400">
                <a:sym typeface="Wingdings" panose="05000000000000000000" pitchFamily="2" charset="2"/>
              </a:rPr>
              <a:t>	- stages</a:t>
            </a:r>
            <a:r>
              <a:rPr lang="ko-KR" altLang="en-US" sz="1400">
                <a:sym typeface="Wingdings" panose="05000000000000000000" pitchFamily="2" charset="2"/>
              </a:rPr>
              <a:t> 는 수행하려는 단계</a:t>
            </a:r>
            <a:endParaRPr lang="en-US" altLang="ko-KR" sz="1400">
              <a:sym typeface="Wingdings" panose="05000000000000000000" pitchFamily="2" charset="2"/>
            </a:endParaRPr>
          </a:p>
          <a:p>
            <a:r>
              <a:rPr lang="en-US" altLang="ko-KR" sz="1400">
                <a:sym typeface="Wingdings" panose="05000000000000000000" pitchFamily="2" charset="2"/>
              </a:rPr>
              <a:t>	- duration : </a:t>
            </a:r>
            <a:r>
              <a:rPr lang="ko-KR" altLang="en-US" sz="1400">
                <a:sym typeface="Wingdings" panose="05000000000000000000" pitchFamily="2" charset="2"/>
              </a:rPr>
              <a:t>부하 테스트 시간</a:t>
            </a:r>
            <a:endParaRPr lang="en-US" altLang="ko-KR" sz="1400">
              <a:sym typeface="Wingdings" panose="05000000000000000000" pitchFamily="2" charset="2"/>
            </a:endParaRPr>
          </a:p>
          <a:p>
            <a:r>
              <a:rPr lang="en-US" altLang="ko-KR" sz="1400">
                <a:sym typeface="Wingdings" panose="05000000000000000000" pitchFamily="2" charset="2"/>
              </a:rPr>
              <a:t>	- target : 6000 (</a:t>
            </a:r>
            <a:r>
              <a:rPr lang="ko-KR" altLang="en-US" sz="1400">
                <a:sym typeface="Wingdings" panose="05000000000000000000" pitchFamily="2" charset="2"/>
              </a:rPr>
              <a:t>가상 사용자 </a:t>
            </a:r>
            <a:r>
              <a:rPr lang="en-US" altLang="ko-KR" sz="1400">
                <a:sym typeface="Wingdings" panose="05000000000000000000" pitchFamily="2" charset="2"/>
              </a:rPr>
              <a:t>6000 )</a:t>
            </a:r>
          </a:p>
          <a:p>
            <a:r>
              <a:rPr lang="en-US" altLang="ko-KR" sz="1400">
                <a:sym typeface="Wingdings" panose="05000000000000000000" pitchFamily="2" charset="2"/>
              </a:rPr>
              <a:t>export default function  </a:t>
            </a:r>
            <a:r>
              <a:rPr lang="ko-KR" altLang="en-US" sz="1400">
                <a:sym typeface="Wingdings" panose="05000000000000000000" pitchFamily="2" charset="2"/>
              </a:rPr>
              <a:t>실제 동작 시나리오</a:t>
            </a:r>
            <a:endParaRPr lang="en-US" altLang="ko-KR" sz="1400">
              <a:sym typeface="Wingdings" panose="05000000000000000000" pitchFamily="2" charset="2"/>
            </a:endParaRPr>
          </a:p>
          <a:p>
            <a:r>
              <a:rPr lang="en-US" altLang="ko-KR" sz="1400">
                <a:sym typeface="Wingdings" panose="05000000000000000000" pitchFamily="2" charset="2"/>
              </a:rPr>
              <a:t>	- </a:t>
            </a:r>
            <a:r>
              <a:rPr lang="en-US" altLang="ko-KR" sz="1400">
                <a:sym typeface="Wingdings" panose="05000000000000000000" pitchFamily="2" charset="2"/>
                <a:hlinkClick r:id="rId3"/>
              </a:rPr>
              <a:t>http://54.180.90.102/boards</a:t>
            </a:r>
            <a:r>
              <a:rPr lang="en-US" altLang="ko-KR" sz="1400">
                <a:sym typeface="Wingdings" panose="05000000000000000000" pitchFamily="2" charset="2"/>
              </a:rPr>
              <a:t> </a:t>
            </a:r>
            <a:r>
              <a:rPr lang="ko-KR" altLang="en-US" sz="1400">
                <a:sym typeface="Wingdings" panose="05000000000000000000" pitchFamily="2" charset="2"/>
              </a:rPr>
              <a:t>로 요청을 보낸다</a:t>
            </a:r>
            <a:r>
              <a:rPr lang="en-US" altLang="ko-KR" sz="1400">
                <a:sym typeface="Wingdings" panose="05000000000000000000" pitchFamily="2" charset="2"/>
              </a:rPr>
              <a:t>.</a:t>
            </a:r>
          </a:p>
          <a:p>
            <a:r>
              <a:rPr lang="en-US" altLang="ko-KR" sz="1400">
                <a:sym typeface="Wingdings" panose="05000000000000000000" pitchFamily="2" charset="2"/>
              </a:rPr>
              <a:t>	- 1</a:t>
            </a:r>
            <a:r>
              <a:rPr lang="ko-KR" altLang="en-US" sz="1400">
                <a:sym typeface="Wingdings" panose="05000000000000000000" pitchFamily="2" charset="2"/>
              </a:rPr>
              <a:t>초를 </a:t>
            </a:r>
            <a:r>
              <a:rPr lang="en-US" altLang="ko-KR" sz="1400">
                <a:sym typeface="Wingdings" panose="05000000000000000000" pitchFamily="2" charset="2"/>
              </a:rPr>
              <a:t>sleep </a:t>
            </a:r>
            <a:r>
              <a:rPr lang="ko-KR" altLang="en-US" sz="1400">
                <a:sym typeface="Wingdings" panose="05000000000000000000" pitchFamily="2" charset="2"/>
              </a:rPr>
              <a:t>시킨다</a:t>
            </a:r>
            <a:r>
              <a:rPr lang="en-US" altLang="ko-KR" sz="1400">
                <a:sym typeface="Wingdings" panose="05000000000000000000" pitchFamily="2" charset="2"/>
              </a:rPr>
              <a:t>.</a:t>
            </a:r>
          </a:p>
          <a:p>
            <a:r>
              <a:rPr lang="en-US" altLang="ko-KR" sz="1400">
                <a:sym typeface="Wingdings" panose="05000000000000000000" pitchFamily="2" charset="2"/>
              </a:rPr>
              <a:t>	- </a:t>
            </a:r>
            <a:r>
              <a:rPr lang="ko-KR" altLang="en-US" sz="1400">
                <a:sym typeface="Wingdings" panose="05000000000000000000" pitchFamily="2" charset="2"/>
              </a:rPr>
              <a:t>옵션에 설정한 시간동안 가상사용자 만큼 반복시킨다</a:t>
            </a:r>
            <a:r>
              <a:rPr lang="en-US" altLang="ko-KR" sz="1400">
                <a:sym typeface="Wingdings" panose="05000000000000000000" pitchFamily="2" charset="2"/>
              </a:rPr>
              <a:t>.</a:t>
            </a:r>
          </a:p>
          <a:p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511532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A5425-EA64-D375-9AD4-53EBE34C1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부하테스트 명령어 수행하기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A485FF-4E3C-0218-7F94-7DC867FC23BD}"/>
              </a:ext>
            </a:extLst>
          </p:cNvPr>
          <p:cNvSpPr txBox="1"/>
          <p:nvPr/>
        </p:nvSpPr>
        <p:spPr>
          <a:xfrm>
            <a:off x="1097280" y="18010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$ K6_WEB_DASHBOARD=true k6 run script.js</a:t>
            </a:r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FA1B1BC-9477-CFCE-96D6-C80B2017AD15}"/>
              </a:ext>
            </a:extLst>
          </p:cNvPr>
          <p:cNvGrpSpPr/>
          <p:nvPr/>
        </p:nvGrpSpPr>
        <p:grpSpPr>
          <a:xfrm>
            <a:off x="1097280" y="2234005"/>
            <a:ext cx="8001896" cy="3294898"/>
            <a:chOff x="1097280" y="2234005"/>
            <a:chExt cx="8001896" cy="329489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32369E9-058B-23DC-188F-4FBE745416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2234005"/>
              <a:ext cx="8001896" cy="3294898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8C323DB-DE6C-FFE2-10AC-29CE42EA7423}"/>
                </a:ext>
              </a:extLst>
            </p:cNvPr>
            <p:cNvSpPr/>
            <p:nvPr/>
          </p:nvSpPr>
          <p:spPr>
            <a:xfrm>
              <a:off x="2474259" y="4912659"/>
              <a:ext cx="986117" cy="19722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8BD790E-6A68-BDDA-AC37-7502844D6546}"/>
              </a:ext>
            </a:extLst>
          </p:cNvPr>
          <p:cNvSpPr txBox="1"/>
          <p:nvPr/>
        </p:nvSpPr>
        <p:spPr>
          <a:xfrm>
            <a:off x="1097280" y="5528903"/>
            <a:ext cx="10771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VUs</a:t>
            </a:r>
            <a:r>
              <a:rPr lang="ko-KR" altLang="en-US"/>
              <a:t> </a:t>
            </a:r>
            <a:r>
              <a:rPr lang="en-US" altLang="ko-KR"/>
              <a:t>(Virtual Users):</a:t>
            </a:r>
            <a:r>
              <a:rPr lang="ko-KR" altLang="en-US"/>
              <a:t> 가상 유저 수</a:t>
            </a:r>
          </a:p>
        </p:txBody>
      </p:sp>
    </p:spTree>
    <p:extLst>
      <p:ext uri="{BB962C8B-B14F-4D97-AF65-F5344CB8AC3E}">
        <p14:creationId xmlns:p14="http://schemas.microsoft.com/office/powerpoint/2010/main" val="42365635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C10A4C-C96B-11BB-D1A4-ED92F7BD3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대시보드 중요지표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9C1A93-F9C5-8C77-726A-F29CC9030013}"/>
              </a:ext>
            </a:extLst>
          </p:cNvPr>
          <p:cNvSpPr txBox="1"/>
          <p:nvPr/>
        </p:nvSpPr>
        <p:spPr>
          <a:xfrm>
            <a:off x="1214718" y="2032871"/>
            <a:ext cx="37024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FF0000"/>
                </a:solidFill>
              </a:rPr>
              <a:t>http Request Rate = Through put(</a:t>
            </a:r>
            <a:r>
              <a:rPr lang="ko-KR" altLang="en-US" sz="1400">
                <a:solidFill>
                  <a:srgbClr val="FF0000"/>
                </a:solidFill>
              </a:rPr>
              <a:t>처리량</a:t>
            </a:r>
            <a:r>
              <a:rPr lang="en-US" altLang="ko-KR" sz="1400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1400">
                <a:solidFill>
                  <a:srgbClr val="00B050"/>
                </a:solidFill>
              </a:rPr>
              <a:t>http Request duration = Latency(</a:t>
            </a:r>
            <a:r>
              <a:rPr lang="ko-KR" altLang="en-US" sz="1400">
                <a:solidFill>
                  <a:srgbClr val="00B050"/>
                </a:solidFill>
              </a:rPr>
              <a:t>지연시간</a:t>
            </a:r>
            <a:r>
              <a:rPr lang="en-US" altLang="ko-KR" sz="1400">
                <a:solidFill>
                  <a:srgbClr val="00B050"/>
                </a:solidFill>
              </a:rPr>
              <a:t>)</a:t>
            </a:r>
          </a:p>
          <a:p>
            <a:r>
              <a:rPr lang="en-US" altLang="ko-KR" sz="1400">
                <a:solidFill>
                  <a:srgbClr val="0070C0"/>
                </a:solidFill>
              </a:rPr>
              <a:t>http Request Failed = </a:t>
            </a:r>
            <a:r>
              <a:rPr lang="ko-KR" altLang="en-US" sz="1400">
                <a:solidFill>
                  <a:srgbClr val="0070C0"/>
                </a:solidFill>
              </a:rPr>
              <a:t>요청 실패 율</a:t>
            </a:r>
            <a:endParaRPr lang="en-US" altLang="ko-KR" sz="1400">
              <a:solidFill>
                <a:srgbClr val="0070C0"/>
              </a:solidFill>
            </a:endParaRPr>
          </a:p>
          <a:p>
            <a:endParaRPr lang="ko-KR" altLang="en-US" sz="140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17BFCBE-C012-4948-3F93-E5B9FBE34041}"/>
              </a:ext>
            </a:extLst>
          </p:cNvPr>
          <p:cNvGrpSpPr/>
          <p:nvPr/>
        </p:nvGrpSpPr>
        <p:grpSpPr>
          <a:xfrm>
            <a:off x="4678680" y="1737360"/>
            <a:ext cx="6063663" cy="5048731"/>
            <a:chOff x="3456855" y="1809269"/>
            <a:chExt cx="6063663" cy="504873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67EA73F-0E35-4763-3F38-D56F41C46B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56855" y="1809269"/>
              <a:ext cx="6063663" cy="5048731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8CCB80D-BFDE-E582-5374-3327A92C3F24}"/>
                </a:ext>
              </a:extLst>
            </p:cNvPr>
            <p:cNvSpPr/>
            <p:nvPr/>
          </p:nvSpPr>
          <p:spPr>
            <a:xfrm>
              <a:off x="4500282" y="2034988"/>
              <a:ext cx="950259" cy="54684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7AC7943-11C2-7375-03AF-CDFFD66EB9AB}"/>
                </a:ext>
              </a:extLst>
            </p:cNvPr>
            <p:cNvSpPr/>
            <p:nvPr/>
          </p:nvSpPr>
          <p:spPr>
            <a:xfrm>
              <a:off x="4787153" y="5091952"/>
              <a:ext cx="582706" cy="17929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8EC6168-F8FB-BA9F-F00A-C7160421F565}"/>
                </a:ext>
              </a:extLst>
            </p:cNvPr>
            <p:cNvSpPr/>
            <p:nvPr/>
          </p:nvSpPr>
          <p:spPr>
            <a:xfrm>
              <a:off x="5941838" y="3648635"/>
              <a:ext cx="835479" cy="224118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E88C1CA-A868-8019-6C3D-D88657519951}"/>
                </a:ext>
              </a:extLst>
            </p:cNvPr>
            <p:cNvSpPr/>
            <p:nvPr/>
          </p:nvSpPr>
          <p:spPr>
            <a:xfrm>
              <a:off x="5450541" y="2034987"/>
              <a:ext cx="950259" cy="54684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E0B35E5-ECF9-94DE-7BF3-0E571B6199E7}"/>
                </a:ext>
              </a:extLst>
            </p:cNvPr>
            <p:cNvSpPr/>
            <p:nvPr/>
          </p:nvSpPr>
          <p:spPr>
            <a:xfrm>
              <a:off x="6400800" y="2034987"/>
              <a:ext cx="1008529" cy="546847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5794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E7451-F16A-71AE-EF83-48A996AF6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대시보드 해석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CBDDF6-5A10-097A-58CD-26EE267EB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85" y="4301234"/>
            <a:ext cx="4772691" cy="2038635"/>
          </a:xfrm>
          <a:prstGeom prst="rect">
            <a:avLst/>
          </a:prstGeo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D905357-A619-A6DF-4616-BF06D1FC8D54}"/>
              </a:ext>
            </a:extLst>
          </p:cNvPr>
          <p:cNvCxnSpPr>
            <a:cxnSpLocks/>
          </p:cNvCxnSpPr>
          <p:nvPr/>
        </p:nvCxnSpPr>
        <p:spPr>
          <a:xfrm flipH="1">
            <a:off x="403412" y="4787152"/>
            <a:ext cx="55312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8A193CA-9D2E-3D39-3842-9323A63C4FD6}"/>
              </a:ext>
            </a:extLst>
          </p:cNvPr>
          <p:cNvSpPr txBox="1"/>
          <p:nvPr/>
        </p:nvSpPr>
        <p:spPr>
          <a:xfrm>
            <a:off x="6329082" y="4105829"/>
            <a:ext cx="547743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어느 순간 </a:t>
            </a:r>
            <a:r>
              <a:rPr lang="en-US" altLang="ko-KR" sz="1200"/>
              <a:t>http_reqs </a:t>
            </a:r>
            <a:r>
              <a:rPr lang="ko-KR" altLang="en-US" sz="1200"/>
              <a:t>수가 더이상 올라가지 않고 일정수를 유지하는 경우가 이 시스템의 </a:t>
            </a:r>
            <a:r>
              <a:rPr lang="en-US" altLang="ko-KR" sz="1200"/>
              <a:t>Throughput </a:t>
            </a:r>
            <a:r>
              <a:rPr lang="ko-KR" altLang="en-US" sz="1200"/>
              <a:t>처리량이 된다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( </a:t>
            </a:r>
            <a:r>
              <a:rPr lang="ko-KR" altLang="en-US" sz="1200"/>
              <a:t>이번 측정에서 현재 </a:t>
            </a:r>
            <a:r>
              <a:rPr lang="en-US" altLang="ko-KR" sz="1200"/>
              <a:t>EC2 K6 Server</a:t>
            </a:r>
            <a:r>
              <a:rPr lang="ko-KR" altLang="en-US" sz="1200"/>
              <a:t>가 </a:t>
            </a:r>
            <a:r>
              <a:rPr lang="en-US" altLang="ko-KR" sz="1200"/>
              <a:t>2800 </a:t>
            </a:r>
            <a:r>
              <a:rPr lang="ko-KR" altLang="en-US" sz="1200"/>
              <a:t>까지의 </a:t>
            </a:r>
            <a:r>
              <a:rPr lang="ko-KR" altLang="en-US" sz="1200" b="1">
                <a:solidFill>
                  <a:srgbClr val="FF0000"/>
                </a:solidFill>
              </a:rPr>
              <a:t>최대 처리량</a:t>
            </a:r>
            <a:r>
              <a:rPr lang="ko-KR" altLang="en-US" sz="1200"/>
              <a:t>을 </a:t>
            </a:r>
            <a:br>
              <a:rPr lang="en-US" altLang="ko-KR" sz="1200"/>
            </a:br>
            <a:r>
              <a:rPr lang="en-US" altLang="ko-KR" sz="1200"/>
              <a:t>   </a:t>
            </a:r>
            <a:r>
              <a:rPr lang="ko-KR" altLang="en-US" sz="1200"/>
              <a:t>가지고 있다는 뜻이다</a:t>
            </a:r>
            <a:r>
              <a:rPr lang="en-US" altLang="ko-KR" sz="1200"/>
              <a:t>.)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최대 </a:t>
            </a:r>
            <a:r>
              <a:rPr lang="en-US" altLang="ko-KR" sz="1200">
                <a:sym typeface="Wingdings" panose="05000000000000000000" pitchFamily="2" charset="2"/>
              </a:rPr>
              <a:t>Throughput = 2800tps</a:t>
            </a:r>
          </a:p>
          <a:p>
            <a:endParaRPr lang="en-US" altLang="ko-KR" sz="1200">
              <a:sym typeface="Wingdings" panose="05000000000000000000" pitchFamily="2" charset="2"/>
            </a:endParaRPr>
          </a:p>
          <a:p>
            <a:r>
              <a:rPr lang="ko-KR" altLang="en-US" sz="1200">
                <a:sym typeface="Wingdings" panose="05000000000000000000" pitchFamily="2" charset="2"/>
              </a:rPr>
              <a:t>응답 시간 </a:t>
            </a:r>
            <a:r>
              <a:rPr lang="en-US" altLang="ko-KR" sz="1200">
                <a:sym typeface="Wingdings" panose="05000000000000000000" pitchFamily="2" charset="2"/>
              </a:rPr>
              <a:t>1</a:t>
            </a:r>
            <a:r>
              <a:rPr lang="ko-KR" altLang="en-US" sz="1200">
                <a:sym typeface="Wingdings" panose="05000000000000000000" pitchFamily="2" charset="2"/>
              </a:rPr>
              <a:t>초를 기준으로 잡는다면 </a:t>
            </a:r>
            <a:r>
              <a:rPr lang="en-US" altLang="ko-KR" sz="1200">
                <a:sym typeface="Wingdings" panose="05000000000000000000" pitchFamily="2" charset="2"/>
              </a:rPr>
              <a:t>2000 tps </a:t>
            </a:r>
            <a:r>
              <a:rPr lang="ko-KR" altLang="en-US" sz="1200">
                <a:sym typeface="Wingdings" panose="05000000000000000000" pitchFamily="2" charset="2"/>
              </a:rPr>
              <a:t>까진 대부분 </a:t>
            </a:r>
            <a:r>
              <a:rPr lang="en-US" altLang="ko-KR" sz="1200">
                <a:sym typeface="Wingdings" panose="05000000000000000000" pitchFamily="2" charset="2"/>
              </a:rPr>
              <a:t>1</a:t>
            </a:r>
            <a:r>
              <a:rPr lang="ko-KR" altLang="en-US" sz="1200">
                <a:sym typeface="Wingdings" panose="05000000000000000000" pitchFamily="2" charset="2"/>
              </a:rPr>
              <a:t>초안에 응답을 주는 시스템이라고 말할수 있다</a:t>
            </a:r>
            <a:r>
              <a:rPr lang="en-US" altLang="ko-KR" sz="1200">
                <a:sym typeface="Wingdings" panose="05000000000000000000" pitchFamily="2" charset="2"/>
              </a:rPr>
              <a:t>. 16:06</a:t>
            </a:r>
            <a:r>
              <a:rPr lang="ko-KR" altLang="en-US" sz="1200">
                <a:sym typeface="Wingdings" panose="05000000000000000000" pitchFamily="2" charset="2"/>
              </a:rPr>
              <a:t>초 때 스파이크가 발생하였는데 어떠한 서버측 </a:t>
            </a:r>
            <a:r>
              <a:rPr lang="en-US" altLang="ko-KR" sz="1200">
                <a:sym typeface="Wingdings" panose="05000000000000000000" pitchFamily="2" charset="2"/>
              </a:rPr>
              <a:t>GC(Garbage</a:t>
            </a:r>
            <a:r>
              <a:rPr lang="ko-KR" altLang="en-US" sz="1200">
                <a:sym typeface="Wingdings" panose="05000000000000000000" pitchFamily="2" charset="2"/>
              </a:rPr>
              <a:t> </a:t>
            </a:r>
            <a:r>
              <a:rPr lang="en-US" altLang="ko-KR" sz="1200">
                <a:sym typeface="Wingdings" panose="05000000000000000000" pitchFamily="2" charset="2"/>
              </a:rPr>
              <a:t>Collection), CPU, </a:t>
            </a:r>
            <a:r>
              <a:rPr lang="ko-KR" altLang="en-US" sz="1200">
                <a:sym typeface="Wingdings" panose="05000000000000000000" pitchFamily="2" charset="2"/>
              </a:rPr>
              <a:t>커넥션 풀 메트릭등을 대조해서 서버에 무슨일이 벌어졌는지 확인해보는것이 좋다</a:t>
            </a:r>
            <a:r>
              <a:rPr lang="en-US" altLang="ko-KR" sz="1200">
                <a:sym typeface="Wingdings" panose="05000000000000000000" pitchFamily="2" charset="2"/>
              </a:rPr>
              <a:t>. (</a:t>
            </a:r>
            <a:r>
              <a:rPr lang="ko-KR" altLang="en-US" sz="1200">
                <a:sym typeface="Wingdings" panose="05000000000000000000" pitchFamily="2" charset="2"/>
              </a:rPr>
              <a:t>이 시스템은 </a:t>
            </a:r>
            <a:r>
              <a:rPr lang="en-US" altLang="ko-KR" sz="1200">
                <a:sym typeface="Wingdings" panose="05000000000000000000" pitchFamily="2" charset="2"/>
              </a:rPr>
              <a:t>2000tps </a:t>
            </a:r>
            <a:r>
              <a:rPr lang="ko-KR" altLang="en-US" sz="1200">
                <a:sym typeface="Wingdings" panose="05000000000000000000" pitchFamily="2" charset="2"/>
              </a:rPr>
              <a:t>까진 </a:t>
            </a:r>
            <a:r>
              <a:rPr lang="en-US" altLang="ko-KR" sz="1200">
                <a:sym typeface="Wingdings" panose="05000000000000000000" pitchFamily="2" charset="2"/>
              </a:rPr>
              <a:t>1</a:t>
            </a:r>
            <a:r>
              <a:rPr lang="ko-KR" altLang="en-US" sz="1200">
                <a:sym typeface="Wingdings" panose="05000000000000000000" pitchFamily="2" charset="2"/>
              </a:rPr>
              <a:t>초의 응답시간을 보장한다</a:t>
            </a:r>
            <a:r>
              <a:rPr lang="en-US" altLang="ko-KR" sz="1200">
                <a:sym typeface="Wingdings" panose="05000000000000000000" pitchFamily="2" charset="2"/>
              </a:rPr>
              <a:t>.)</a:t>
            </a:r>
          </a:p>
          <a:p>
            <a:endParaRPr lang="en-US" altLang="ko-KR" sz="1200">
              <a:sym typeface="Wingdings" panose="05000000000000000000" pitchFamily="2" charset="2"/>
            </a:endParaRPr>
          </a:p>
          <a:p>
            <a:r>
              <a:rPr lang="en-US" altLang="ko-KR" sz="1200">
                <a:sym typeface="Wingdings" panose="05000000000000000000" pitchFamily="2" charset="2"/>
              </a:rPr>
              <a:t>Request Failed </a:t>
            </a:r>
            <a:r>
              <a:rPr lang="ko-KR" altLang="en-US" sz="1200">
                <a:sym typeface="Wingdings" panose="05000000000000000000" pitchFamily="2" charset="2"/>
              </a:rPr>
              <a:t>는 응답실패로 </a:t>
            </a:r>
            <a:r>
              <a:rPr lang="ko-KR" altLang="en-US" sz="1200" b="1">
                <a:solidFill>
                  <a:srgbClr val="00B0F0"/>
                </a:solidFill>
                <a:sym typeface="Wingdings" panose="05000000000000000000" pitchFamily="2" charset="2"/>
              </a:rPr>
              <a:t>응답실패에 대한 원인을 무조건적으로 분석해서 해결하여야하는 비중이 큰 오류 </a:t>
            </a:r>
            <a:r>
              <a:rPr lang="ko-KR" altLang="en-US" sz="1200">
                <a:sym typeface="Wingdings" panose="05000000000000000000" pitchFamily="2" charset="2"/>
              </a:rPr>
              <a:t>항목이다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  <a:r>
              <a:rPr lang="ko-KR" altLang="en-US" sz="1200">
                <a:sym typeface="Wingdings" panose="05000000000000000000" pitchFamily="2" charset="2"/>
              </a:rPr>
              <a:t> </a:t>
            </a:r>
            <a:endParaRPr lang="en-US" altLang="ko-KR" sz="1200">
              <a:sym typeface="Wingdings" panose="05000000000000000000" pitchFamily="2" charset="2"/>
            </a:endParaRPr>
          </a:p>
          <a:p>
            <a:endParaRPr lang="en-US" altLang="ko-KR" sz="120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E7AAF5E-9D34-31E6-9F57-EED336EDC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884" y="1906178"/>
            <a:ext cx="10719903" cy="2199651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46DEBFD-4AAC-C1A6-F2F2-F034136DF1C1}"/>
              </a:ext>
            </a:extLst>
          </p:cNvPr>
          <p:cNvCxnSpPr>
            <a:cxnSpLocks/>
          </p:cNvCxnSpPr>
          <p:nvPr/>
        </p:nvCxnSpPr>
        <p:spPr>
          <a:xfrm flipH="1" flipV="1">
            <a:off x="403412" y="2761129"/>
            <a:ext cx="11403106" cy="986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9434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8AD1C1-974B-5A0E-ACAF-2FA8BFAC8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api-server </a:t>
            </a:r>
            <a:r>
              <a:rPr lang="ko-KR" altLang="en-US"/>
              <a:t>완전 삭제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07AE15-4797-972E-2012-AE06BCE32B7E}"/>
              </a:ext>
            </a:extLst>
          </p:cNvPr>
          <p:cNvSpPr txBox="1"/>
          <p:nvPr/>
        </p:nvSpPr>
        <p:spPr>
          <a:xfrm>
            <a:off x="1084729" y="1918447"/>
            <a:ext cx="10103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다음 강의부터는 쓸 </a:t>
            </a:r>
            <a:r>
              <a:rPr lang="en-US" altLang="ko-KR"/>
              <a:t>aws api-server</a:t>
            </a:r>
            <a:r>
              <a:rPr lang="ko-KR" altLang="en-US"/>
              <a:t>는 볼 이유가 없음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594307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213</TotalTime>
  <Words>874</Words>
  <Application>Microsoft Office PowerPoint</Application>
  <PresentationFormat>와이드스크린</PresentationFormat>
  <Paragraphs>100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Calibri</vt:lpstr>
      <vt:lpstr>Calibri Light</vt:lpstr>
      <vt:lpstr>Wingdings</vt:lpstr>
      <vt:lpstr>추억</vt:lpstr>
      <vt:lpstr>부하테스트의 기본 개념</vt:lpstr>
      <vt:lpstr>부하 테스트</vt:lpstr>
      <vt:lpstr>처리량(Throughput)</vt:lpstr>
      <vt:lpstr>지연시간(Latency)</vt:lpstr>
      <vt:lpstr>부하테스트 툴 (K6)</vt:lpstr>
      <vt:lpstr>PowerPoint 프레젠테이션</vt:lpstr>
      <vt:lpstr>PowerPoint 프레젠테이션</vt:lpstr>
      <vt:lpstr>Node.js 설치 명령어 입력</vt:lpstr>
      <vt:lpstr>Express 서버 셋팅하기</vt:lpstr>
      <vt:lpstr>pm2 설치하기</vt:lpstr>
      <vt:lpstr>잘동작하는지 확인하기</vt:lpstr>
      <vt:lpstr>부하테스트 툴 설치(K6-Server [EC2])</vt:lpstr>
      <vt:lpstr>부하테스트 툴 설치(K6-Server [EC2])</vt:lpstr>
      <vt:lpstr>부하테스트 툴 설치(K6-Server [EC2])</vt:lpstr>
      <vt:lpstr>K6 툴 설치 </vt:lpstr>
      <vt:lpstr>부하테스트 환경 과 애플리케이션 환경을 분리하는 이유</vt:lpstr>
      <vt:lpstr>script.js 작성하기</vt:lpstr>
      <vt:lpstr>부하테스트 명령어 수행하기</vt:lpstr>
      <vt:lpstr>대시보드 중요지표</vt:lpstr>
      <vt:lpstr>대시보드 해석</vt:lpstr>
      <vt:lpstr>api-server 완전 삭제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44</cp:revision>
  <dcterms:created xsi:type="dcterms:W3CDTF">2026-08-18T13:33:34Z</dcterms:created>
  <dcterms:modified xsi:type="dcterms:W3CDTF">2026-08-19T07:25:57Z</dcterms:modified>
</cp:coreProperties>
</file>