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9" r:id="rId26"/>
    <p:sldId id="282" r:id="rId27"/>
    <p:sldId id="283" r:id="rId28"/>
    <p:sldId id="291" r:id="rId29"/>
    <p:sldId id="292" r:id="rId30"/>
    <p:sldId id="293" r:id="rId31"/>
    <p:sldId id="294" r:id="rId32"/>
    <p:sldId id="295" r:id="rId33"/>
    <p:sldId id="296" r:id="rId34"/>
    <p:sldId id="287" r:id="rId35"/>
    <p:sldId id="297" r:id="rId36"/>
    <p:sldId id="298" r:id="rId37"/>
    <p:sldId id="288" r:id="rId38"/>
    <p:sldId id="299" r:id="rId39"/>
    <p:sldId id="300" r:id="rId40"/>
    <p:sldId id="301" r:id="rId41"/>
    <p:sldId id="302" r:id="rId42"/>
    <p:sldId id="303" r:id="rId43"/>
    <p:sldId id="304" r:id="rId44"/>
    <p:sldId id="305" r:id="rId45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3A860EE-4AFF-4C24-B766-BC54AF4EDEE8}">
          <p14:sldIdLst>
            <p14:sldId id="256"/>
            <p14:sldId id="257"/>
          </p14:sldIdLst>
        </p14:section>
        <p14:section name="수평적확장,수직적확장,캐싱 개념" id="{4A3C25BD-BE18-4B99-A997-E2B20EC896E9}">
          <p14:sldIdLst>
            <p14:sldId id="258"/>
            <p14:sldId id="259"/>
            <p14:sldId id="260"/>
          </p14:sldIdLst>
        </p14:section>
        <p14:section name="트래픽 증가에 따른 시스템 설계 및 확장 방법" id="{469B6BCC-E5D0-459E-9AF1-3289ED711F72}">
          <p14:sldIdLst>
            <p14:sldId id="261"/>
            <p14:sldId id="263"/>
            <p14:sldId id="264"/>
            <p14:sldId id="265"/>
            <p14:sldId id="266"/>
            <p14:sldId id="267"/>
            <p14:sldId id="269"/>
          </p14:sldIdLst>
        </p14:section>
        <p14:section name="실습: RDS 병목 해결" id="{EE87DB1C-A9C5-449F-9336-A191A8FDEA30}">
          <p14:sldIdLst>
            <p14:sldId id="270"/>
          </p14:sldIdLst>
        </p14:section>
        <p14:section name="실습: RDS 병목 해결" id="{ABBE1251-2B58-4944-9CA1-70702B5B3307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EC2 수평적 확장을 통한 병목해결" id="{B55BFA34-7BAA-4440-B539-C2D6BEF73296}">
          <p14:sldIdLst>
            <p14:sldId id="277"/>
            <p14:sldId id="278"/>
            <p14:sldId id="279"/>
            <p14:sldId id="280"/>
            <p14:sldId id="281"/>
            <p14:sldId id="289"/>
            <p14:sldId id="282"/>
            <p14:sldId id="283"/>
          </p14:sldIdLst>
        </p14:section>
        <p14:section name="ELB 연결하기" id="{5FFE8299-71DD-47FE-AED6-04149CD1DDAD}">
          <p14:sldIdLst>
            <p14:sldId id="291"/>
            <p14:sldId id="292"/>
          </p14:sldIdLst>
        </p14:section>
        <p14:section name="cloudwatch 위젯 수정" id="{E55DC1B6-499B-4AC9-B5E1-1A5BFBA40D32}">
          <p14:sldIdLst>
            <p14:sldId id="293"/>
            <p14:sldId id="294"/>
            <p14:sldId id="295"/>
            <p14:sldId id="296"/>
          </p14:sldIdLst>
        </p14:section>
        <p14:section name="EC2 수평적 확장 부하테스트" id="{63FD46C6-6C1B-41AE-9238-CAF0CC94E532}">
          <p14:sldIdLst>
            <p14:sldId id="287"/>
            <p14:sldId id="297"/>
            <p14:sldId id="298"/>
            <p14:sldId id="288"/>
          </p14:sldIdLst>
        </p14:section>
        <p14:section name="AWS 요금안나가게 삭제하기" id="{BA8440B0-5A68-45B7-8885-2633936E2F65}">
          <p14:sldIdLst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6" autoAdjust="0"/>
    <p:restoredTop sz="94943" autoAdjust="0"/>
  </p:normalViewPr>
  <p:slideViewPr>
    <p:cSldViewPr snapToGrid="0">
      <p:cViewPr varScale="1">
        <p:scale>
          <a:sx n="123" d="100"/>
          <a:sy n="12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24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704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33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49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33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66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882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096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39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63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58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8F27D8-FF49-4A5D-9C16-7B3597F19562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DCF215-0F90-4098-9A49-8A100293EEE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2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8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2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9424A-78DD-D4AC-1ED8-9CC4749AF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600"/>
              <a:t>병목지점의 성능개선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17DC41-87F3-3595-2166-4FF0758B5D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592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9CA7C-09E2-DE49-B7A5-60F44C84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가용성</a:t>
            </a:r>
            <a:r>
              <a:rPr lang="en-US" altLang="ko-KR" sz="4000"/>
              <a:t>(Availability)</a:t>
            </a:r>
            <a:r>
              <a:rPr lang="ko-KR" altLang="en-US" sz="4000"/>
              <a:t>과 이중화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86D01-6B6A-A3C4-C021-244995402220}"/>
              </a:ext>
            </a:extLst>
          </p:cNvPr>
          <p:cNvSpPr txBox="1"/>
          <p:nvPr/>
        </p:nvSpPr>
        <p:spPr>
          <a:xfrm>
            <a:off x="1237129" y="1945341"/>
            <a:ext cx="991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가용성이란 시스템이 서비스를 정상적으로 제공할 수 있는 가능성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F0C169-C24A-88C5-287E-AC7D6C64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30" y="2443151"/>
            <a:ext cx="9783540" cy="571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02072D-8B1C-A6F2-6866-599FCBF235E8}"/>
              </a:ext>
            </a:extLst>
          </p:cNvPr>
          <p:cNvSpPr txBox="1"/>
          <p:nvPr/>
        </p:nvSpPr>
        <p:spPr>
          <a:xfrm>
            <a:off x="1237129" y="3558988"/>
            <a:ext cx="9918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시스템 이중화란 시스템의 일부분을 사용할 수 없게 되어도 다른 시스템을 이용하여 서비스를 계속 이용할 수 있도록 만드는것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F5D3C3-AC5B-B210-C482-ED7FA3DCE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755" y="4268500"/>
            <a:ext cx="4172150" cy="25102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8E557B6-6034-0FA7-B41D-E2C813649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68500"/>
            <a:ext cx="4763408" cy="2500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058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48F45-1D9E-D0EA-E180-D00A6532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수평적 확장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509D42-3965-3395-5923-C568114E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113" y="1878018"/>
            <a:ext cx="6037440" cy="44570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7B34B7-DAE5-1391-A5B7-11A0444D3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629" y="1883376"/>
            <a:ext cx="3610051" cy="22231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251376-4B87-3F56-CE52-041A59ABD2D1}"/>
              </a:ext>
            </a:extLst>
          </p:cNvPr>
          <p:cNvSpPr txBox="1"/>
          <p:nvPr/>
        </p:nvSpPr>
        <p:spPr>
          <a:xfrm>
            <a:off x="7557247" y="4320988"/>
            <a:ext cx="4410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</a:t>
            </a:r>
            <a:r>
              <a:rPr lang="en-US" altLang="ko-KR" sz="1200"/>
              <a:t>: </a:t>
            </a:r>
            <a:r>
              <a:rPr lang="ko-KR" altLang="en-US" sz="1200"/>
              <a:t>동일한 서비스를 제공하는 서버를 추가한다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단점 </a:t>
            </a:r>
            <a:r>
              <a:rPr lang="en-US" altLang="ko-KR" sz="1200"/>
              <a:t>: </a:t>
            </a:r>
            <a:r>
              <a:rPr lang="ko-KR" altLang="en-US" sz="1200"/>
              <a:t>로드밸런서 필요 및 비용증대</a:t>
            </a:r>
          </a:p>
        </p:txBody>
      </p:sp>
    </p:spTree>
    <p:extLst>
      <p:ext uri="{BB962C8B-B14F-4D97-AF65-F5344CB8AC3E}">
        <p14:creationId xmlns:p14="http://schemas.microsoft.com/office/powerpoint/2010/main" val="277004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90A16-EDA7-2AF4-D795-8BEC86730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수직적 확장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0B0B10-45E8-D607-D9DF-F10637BB6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62" y="1808322"/>
            <a:ext cx="8665285" cy="3905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4180EFB-8E17-615B-04BD-ED3C77B08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62" y="2269864"/>
            <a:ext cx="6020640" cy="37152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509EFCC-2537-40AA-8837-66C13E434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795" y="2269864"/>
            <a:ext cx="5096243" cy="25078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915ED2-847A-18D5-69D6-E3FD92D805F4}"/>
              </a:ext>
            </a:extLst>
          </p:cNvPr>
          <p:cNvSpPr txBox="1"/>
          <p:nvPr/>
        </p:nvSpPr>
        <p:spPr>
          <a:xfrm>
            <a:off x="6687671" y="4984376"/>
            <a:ext cx="5208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</a:t>
            </a:r>
            <a:r>
              <a:rPr lang="en-US" altLang="ko-KR" sz="1200"/>
              <a:t>:</a:t>
            </a:r>
          </a:p>
          <a:p>
            <a:pPr marL="228600" indent="-228600">
              <a:buAutoNum type="arabicPeriod"/>
            </a:pPr>
            <a:r>
              <a:rPr lang="en-US" altLang="ko-KR" sz="1200"/>
              <a:t>CPU, RAM</a:t>
            </a:r>
            <a:r>
              <a:rPr lang="ko-KR" altLang="en-US" sz="1200"/>
              <a:t> 등 서비스를 제공하는 서버 컴퓨터의 스펙을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변경하는것임으로</a:t>
            </a:r>
            <a:r>
              <a:rPr lang="en-US" altLang="ko-KR" sz="1200"/>
              <a:t>. </a:t>
            </a:r>
            <a:r>
              <a:rPr lang="ko-KR" altLang="en-US" sz="1200"/>
              <a:t>서비스의 종료가 불가결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가용성이 떨어짐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1200">
                <a:sym typeface="Wingdings" panose="05000000000000000000" pitchFamily="2" charset="2"/>
              </a:rPr>
              <a:t>EC2 </a:t>
            </a:r>
            <a:r>
              <a:rPr lang="ko-KR" altLang="en-US" sz="1200">
                <a:sym typeface="Wingdings" panose="05000000000000000000" pitchFamily="2" charset="2"/>
              </a:rPr>
              <a:t>에서 부여할수 있는 서버의 스펙의 한계가 있고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물리적인 자체 서버로써 서비스를 한다 하더라도 서버의 스펙에는 한계가 있음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36063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9C6AC-9F95-8A96-7ECC-6B19DA73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8FC8BF-FFBF-0D8C-DB1A-0213FF1E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24" y="1936377"/>
            <a:ext cx="5179919" cy="33779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17DFD5-E097-5A7B-D01B-8851AF064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459" y="2146670"/>
            <a:ext cx="4160860" cy="41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9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F5F87-7E4B-8BD9-FE54-655D08C35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서비스 규모에 따른 시스템 설계의 변화 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203F2D-F382-9DB8-422E-E4D6D4980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56" y="1914419"/>
            <a:ext cx="4532441" cy="15476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B233617-E814-EAA4-8E0B-3BBC76E1E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870" y="3733271"/>
            <a:ext cx="7421011" cy="285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2186D7-DB55-CCFA-4D22-3709D5A6AD85}"/>
              </a:ext>
            </a:extLst>
          </p:cNvPr>
          <p:cNvSpPr txBox="1"/>
          <p:nvPr/>
        </p:nvSpPr>
        <p:spPr>
          <a:xfrm>
            <a:off x="1344706" y="4168588"/>
            <a:ext cx="1005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요약</a:t>
            </a:r>
            <a:r>
              <a:rPr lang="en-US" altLang="ko-KR" sz="1600"/>
              <a:t>: </a:t>
            </a:r>
            <a:r>
              <a:rPr lang="ko-KR" altLang="en-US" sz="1600"/>
              <a:t>초기 서비스 형태</a:t>
            </a:r>
            <a:br>
              <a:rPr lang="en-US" altLang="ko-KR" sz="1600"/>
            </a:br>
            <a:r>
              <a:rPr lang="en-US" altLang="ko-KR" sz="1600"/>
              <a:t>           </a:t>
            </a:r>
            <a:r>
              <a:rPr lang="ko-KR" altLang="en-US" sz="1600"/>
              <a:t>부하가 걸렸을 때</a:t>
            </a:r>
            <a:r>
              <a:rPr lang="en-US" altLang="ko-KR" sz="1600"/>
              <a:t>, </a:t>
            </a:r>
            <a:r>
              <a:rPr lang="ko-KR" altLang="en-US" sz="1600"/>
              <a:t>각 프로세스 별로 차지하는 자원이 많아 트래픽 처리에는 적절하지 않다</a:t>
            </a:r>
            <a:r>
              <a:rPr lang="en-US" altLang="ko-KR" sz="1600"/>
              <a:t>.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186269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D3F752-D5BD-8E40-4317-8549B6746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07" y="387299"/>
            <a:ext cx="7678222" cy="20672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DAD3B2-27D2-643A-5985-F471837AFA45}"/>
              </a:ext>
            </a:extLst>
          </p:cNvPr>
          <p:cNvSpPr txBox="1"/>
          <p:nvPr/>
        </p:nvSpPr>
        <p:spPr>
          <a:xfrm>
            <a:off x="699247" y="2614102"/>
            <a:ext cx="10596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CPU</a:t>
            </a:r>
            <a:r>
              <a:rPr lang="ko-KR" altLang="en-US" sz="1400"/>
              <a:t>성능과 메모리 성능을 많이 잡아먹는 </a:t>
            </a:r>
            <a:r>
              <a:rPr lang="en-US" altLang="ko-KR" sz="1400"/>
              <a:t>DB</a:t>
            </a:r>
            <a:r>
              <a:rPr lang="ko-KR" altLang="en-US" sz="1400"/>
              <a:t>를 따로 분리함으로써</a:t>
            </a:r>
            <a:r>
              <a:rPr lang="en-US" altLang="ko-KR" sz="1400"/>
              <a:t>, </a:t>
            </a:r>
            <a:r>
              <a:rPr lang="ko-KR" altLang="en-US" sz="1400"/>
              <a:t>시스템 성능을 향상시킨다</a:t>
            </a:r>
            <a:r>
              <a:rPr lang="en-US" altLang="ko-KR" sz="140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CBA7D45-4A32-0EBA-ED19-B5075EA53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341" y="2983434"/>
            <a:ext cx="5220813" cy="2413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C1BB72-1607-A9E3-B4EB-068D2B9B5045}"/>
              </a:ext>
            </a:extLst>
          </p:cNvPr>
          <p:cNvSpPr txBox="1"/>
          <p:nvPr/>
        </p:nvSpPr>
        <p:spPr>
          <a:xfrm>
            <a:off x="699247" y="5396753"/>
            <a:ext cx="10596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DB</a:t>
            </a:r>
            <a:r>
              <a:rPr lang="ko-KR" altLang="en-US" sz="1400"/>
              <a:t>를 분리하였어도 </a:t>
            </a:r>
            <a:r>
              <a:rPr lang="en-US" altLang="ko-KR" sz="1400"/>
              <a:t>EC2 </a:t>
            </a:r>
            <a:r>
              <a:rPr lang="ko-KR" altLang="en-US" sz="1400"/>
              <a:t>서버에 트래픽이 몰릴경우</a:t>
            </a:r>
            <a:r>
              <a:rPr lang="en-US" altLang="ko-KR" sz="1400"/>
              <a:t>. </a:t>
            </a:r>
            <a:r>
              <a:rPr lang="ko-KR" altLang="en-US" sz="1400"/>
              <a:t>정적 리소스 만을 제공하는 서버</a:t>
            </a:r>
            <a:r>
              <a:rPr lang="en-US" altLang="ko-KR" sz="1400"/>
              <a:t>(S3)</a:t>
            </a:r>
            <a:r>
              <a:rPr lang="ko-KR" altLang="en-US" sz="1400"/>
              <a:t>를 따로 둔다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[ (</a:t>
            </a:r>
            <a:r>
              <a:rPr lang="ko-KR" altLang="en-US" sz="1400"/>
              <a:t>동영상</a:t>
            </a:r>
            <a:r>
              <a:rPr lang="en-US" altLang="ko-KR" sz="1400"/>
              <a:t>, </a:t>
            </a:r>
            <a:r>
              <a:rPr lang="ko-KR" altLang="en-US" sz="1400"/>
              <a:t>이미지</a:t>
            </a:r>
            <a:r>
              <a:rPr lang="en-US" altLang="ko-KR" sz="1400"/>
              <a:t>, </a:t>
            </a:r>
            <a:r>
              <a:rPr lang="ko-KR" altLang="en-US" sz="1400"/>
              <a:t>웹 페이지 등</a:t>
            </a:r>
            <a:r>
              <a:rPr lang="en-US" altLang="ko-KR" sz="1400"/>
              <a:t>) </a:t>
            </a:r>
            <a:r>
              <a:rPr lang="ko-KR" altLang="en-US" sz="1400"/>
              <a:t>용량이 큰 자원들이 컴퓨팅 자원을 많이 소모함으로 </a:t>
            </a:r>
            <a:r>
              <a:rPr lang="en-US" altLang="ko-KR" sz="1400"/>
              <a:t>S3</a:t>
            </a:r>
            <a:r>
              <a:rPr lang="ko-KR" altLang="en-US" sz="1400"/>
              <a:t>서버로 분리한 형태이다</a:t>
            </a:r>
            <a:r>
              <a:rPr lang="en-US" altLang="ko-KR" sz="1400"/>
              <a:t>. ]</a:t>
            </a:r>
          </a:p>
        </p:txBody>
      </p:sp>
    </p:spTree>
    <p:extLst>
      <p:ext uri="{BB962C8B-B14F-4D97-AF65-F5344CB8AC3E}">
        <p14:creationId xmlns:p14="http://schemas.microsoft.com/office/powerpoint/2010/main" val="2044202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3803F4-6EBA-37DA-C8C7-3DA540FA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4" y="394203"/>
            <a:ext cx="5824875" cy="26269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8373FE-CC86-21C4-858C-1EAF03972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591" y="211432"/>
            <a:ext cx="3507382" cy="3921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72E6FD-D42F-19AF-F489-A2C755329BB2}"/>
              </a:ext>
            </a:extLst>
          </p:cNvPr>
          <p:cNvSpPr txBox="1"/>
          <p:nvPr/>
        </p:nvSpPr>
        <p:spPr>
          <a:xfrm>
            <a:off x="770965" y="4356847"/>
            <a:ext cx="10990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정적 파일은 용량이 크고 파일의 원본이 저장된 서버와의 거리가 멀수록 정적파일을 서빙받는데</a:t>
            </a:r>
            <a:r>
              <a:rPr lang="en-US" altLang="ko-KR" sz="1600"/>
              <a:t>, </a:t>
            </a:r>
            <a:r>
              <a:rPr lang="ko-KR" altLang="en-US" sz="1600"/>
              <a:t>오랜 시간이 걸린다</a:t>
            </a:r>
            <a:r>
              <a:rPr lang="en-US" altLang="ko-KR" sz="1600"/>
              <a:t>. </a:t>
            </a:r>
            <a:r>
              <a:rPr lang="ko-KR" altLang="en-US" sz="1600"/>
              <a:t>이를 해결하기 위해 캐싱원리가 적용된 </a:t>
            </a:r>
            <a:r>
              <a:rPr lang="en-US" altLang="ko-KR" sz="1600"/>
              <a:t>CDN</a:t>
            </a:r>
            <a:r>
              <a:rPr lang="ko-KR" altLang="en-US" sz="1600"/>
              <a:t>을 활용하여 정적 파일 전송속도를 향상시킨다</a:t>
            </a:r>
            <a:r>
              <a:rPr lang="en-US" altLang="ko-KR" sz="1600"/>
              <a:t>.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12068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EF81AF-FEE5-CA4C-1ADE-99A0DB7D052D}"/>
              </a:ext>
            </a:extLst>
          </p:cNvPr>
          <p:cNvSpPr txBox="1"/>
          <p:nvPr/>
        </p:nvSpPr>
        <p:spPr>
          <a:xfrm>
            <a:off x="7064188" y="313765"/>
            <a:ext cx="49289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정적서버의 완전한 분리를 했음에도 </a:t>
            </a:r>
            <a:r>
              <a:rPr lang="en-US" altLang="ko-KR" sz="1200"/>
              <a:t>EC2 </a:t>
            </a:r>
            <a:r>
              <a:rPr lang="ko-KR" altLang="en-US" sz="1200"/>
              <a:t>서버의 트래픽 부하를 잡아야할 경우</a:t>
            </a:r>
            <a:r>
              <a:rPr lang="en-US" altLang="ko-KR" sz="1200"/>
              <a:t>. </a:t>
            </a:r>
            <a:br>
              <a:rPr lang="en-US" altLang="ko-KR" sz="1200"/>
            </a:br>
            <a:endParaRPr lang="en-US" altLang="ko-KR" sz="1200"/>
          </a:p>
          <a:p>
            <a:r>
              <a:rPr lang="en-US" altLang="ko-KR" sz="1200"/>
              <a:t>EC2</a:t>
            </a:r>
            <a:r>
              <a:rPr lang="ko-KR" altLang="en-US" sz="1200"/>
              <a:t> 대수를 늘리는 수평적 확장을 통해 동일한 처리 요청들을 각 서버에 분산하여</a:t>
            </a:r>
            <a:r>
              <a:rPr lang="en-US" altLang="ko-KR" sz="1200"/>
              <a:t> </a:t>
            </a:r>
            <a:r>
              <a:rPr lang="ko-KR" altLang="en-US" sz="1200"/>
              <a:t>처리함으로써</a:t>
            </a:r>
            <a:r>
              <a:rPr lang="en-US" altLang="ko-KR" sz="1200"/>
              <a:t>, </a:t>
            </a:r>
            <a:r>
              <a:rPr lang="ko-KR" altLang="en-US" sz="1200"/>
              <a:t>시스템적 성능을 개선한다</a:t>
            </a:r>
            <a:r>
              <a:rPr lang="en-US" altLang="ko-KR" sz="1200"/>
              <a:t>. </a:t>
            </a:r>
          </a:p>
          <a:p>
            <a:endParaRPr lang="en-US" altLang="ko-KR" sz="1200"/>
          </a:p>
          <a:p>
            <a:r>
              <a:rPr lang="ko-KR" altLang="en-US" sz="1200"/>
              <a:t>요청에 따른 분산을 위해 </a:t>
            </a:r>
            <a:r>
              <a:rPr lang="en-US" altLang="ko-KR" sz="1200"/>
              <a:t>ELB(</a:t>
            </a:r>
            <a:r>
              <a:rPr lang="ko-KR" altLang="en-US" sz="1200"/>
              <a:t>로드밸런서</a:t>
            </a:r>
            <a:r>
              <a:rPr lang="en-US" altLang="ko-KR" sz="1200"/>
              <a:t>) </a:t>
            </a:r>
            <a:r>
              <a:rPr lang="ko-KR" altLang="en-US" sz="1200"/>
              <a:t>를 사용한다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F88B9F-8971-AD29-F556-7EE920298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35" y="313766"/>
            <a:ext cx="6659165" cy="344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9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2DCC67-9536-3EC1-5533-EED0AD964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76" y="270377"/>
            <a:ext cx="7398248" cy="4453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E40A0-4906-5A65-82CB-CC40EB1CABA3}"/>
              </a:ext>
            </a:extLst>
          </p:cNvPr>
          <p:cNvSpPr txBox="1"/>
          <p:nvPr/>
        </p:nvSpPr>
        <p:spPr>
          <a:xfrm>
            <a:off x="7763435" y="242047"/>
            <a:ext cx="43030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EC2</a:t>
            </a:r>
            <a:r>
              <a:rPr lang="ko-KR" altLang="en-US" sz="1200"/>
              <a:t>를 늘린만큼 </a:t>
            </a:r>
            <a:r>
              <a:rPr lang="en-US" altLang="ko-KR" sz="1200"/>
              <a:t>DB</a:t>
            </a:r>
            <a:r>
              <a:rPr lang="ko-KR" altLang="en-US" sz="1200"/>
              <a:t>에 전달되는 단위시간당 요청도 늘어난다</a:t>
            </a:r>
            <a:r>
              <a:rPr lang="en-US" altLang="ko-KR" sz="1200"/>
              <a:t>. </a:t>
            </a:r>
            <a:br>
              <a:rPr lang="en-US" altLang="ko-KR" sz="1200"/>
            </a:br>
            <a:endParaRPr lang="en-US" altLang="ko-KR" sz="1200"/>
          </a:p>
          <a:p>
            <a:r>
              <a:rPr lang="en-US" altLang="ko-KR" sz="1200"/>
              <a:t>DB</a:t>
            </a:r>
            <a:r>
              <a:rPr lang="ko-KR" altLang="en-US" sz="1200"/>
              <a:t>부하에 의한 병목을 해결하기 위해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읽기 전용 서버를 두어 </a:t>
            </a:r>
            <a:r>
              <a:rPr lang="en-US" altLang="ko-KR" sz="1200"/>
              <a:t>DB</a:t>
            </a:r>
            <a:r>
              <a:rPr lang="ko-KR" altLang="en-US" sz="1200"/>
              <a:t>의 부하를 줄인다</a:t>
            </a:r>
            <a:r>
              <a:rPr lang="en-US" altLang="ko-KR" sz="1200"/>
              <a:t>.</a:t>
            </a:r>
            <a:r>
              <a:rPr lang="ko-KR" altLang="en-US" sz="1200"/>
              <a:t> </a:t>
            </a:r>
            <a:endParaRPr lang="en-US" altLang="ko-KR" sz="1200"/>
          </a:p>
          <a:p>
            <a:r>
              <a:rPr lang="en-US" altLang="ko-KR" sz="1200"/>
              <a:t>(</a:t>
            </a:r>
            <a:r>
              <a:rPr lang="ko-KR" altLang="en-US" sz="1200"/>
              <a:t>조회의 경우 엄격하게 관리되지 않는 경우가 대부분이다</a:t>
            </a:r>
            <a:r>
              <a:rPr lang="en-US" altLang="ko-KR" sz="1200"/>
              <a:t>.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DB</a:t>
            </a:r>
            <a:r>
              <a:rPr lang="ko-KR" altLang="en-US" sz="1200">
                <a:sym typeface="Wingdings" panose="05000000000000000000" pitchFamily="2" charset="2"/>
              </a:rPr>
              <a:t>에서 말하는</a:t>
            </a:r>
            <a:r>
              <a:rPr lang="en-US" altLang="ko-KR" sz="1200">
                <a:sym typeface="Wingdings" panose="05000000000000000000" pitchFamily="2" charset="2"/>
              </a:rPr>
              <a:t> </a:t>
            </a:r>
            <a:r>
              <a:rPr lang="ko-KR" altLang="en-US" sz="1200">
                <a:sym typeface="Wingdings" panose="05000000000000000000" pitchFamily="2" charset="2"/>
              </a:rPr>
              <a:t>엄격하다 뜻</a:t>
            </a:r>
            <a:r>
              <a:rPr lang="en-US" altLang="ko-KR" sz="1200">
                <a:sym typeface="Wingdings" panose="05000000000000000000" pitchFamily="2" charset="2"/>
              </a:rPr>
              <a:t>: </a:t>
            </a:r>
            <a:r>
              <a:rPr lang="ko-KR" altLang="en-US" sz="1200"/>
              <a:t>생성</a:t>
            </a:r>
            <a:r>
              <a:rPr lang="en-US" altLang="ko-KR" sz="1200"/>
              <a:t>,</a:t>
            </a:r>
            <a:r>
              <a:rPr lang="ko-KR" altLang="en-US" sz="1200"/>
              <a:t>수정</a:t>
            </a:r>
            <a:r>
              <a:rPr lang="en-US" altLang="ko-KR" sz="1200"/>
              <a:t>,</a:t>
            </a:r>
            <a:r>
              <a:rPr lang="ko-KR" altLang="en-US" sz="1200"/>
              <a:t>삭제에 대해 바로 반영되고 그</a:t>
            </a:r>
            <a:r>
              <a:rPr lang="en-US" altLang="ko-KR" sz="1200"/>
              <a:t> </a:t>
            </a:r>
            <a:r>
              <a:rPr lang="ko-KR" altLang="en-US" sz="1200"/>
              <a:t>결과를 보여줘야 한다</a:t>
            </a:r>
            <a:r>
              <a:rPr lang="en-US" altLang="ko-KR" sz="1200"/>
              <a:t>.)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166636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163F46-A47D-B72D-A4B4-DA86C2F8F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1" y="837113"/>
            <a:ext cx="4972744" cy="35342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E10241F-E46C-B6D2-F334-5679AD77C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73" y="122665"/>
            <a:ext cx="1905266" cy="552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9C780F-1F22-EAEC-E738-E7350C10F1CE}"/>
              </a:ext>
            </a:extLst>
          </p:cNvPr>
          <p:cNvSpPr txBox="1"/>
          <p:nvPr/>
        </p:nvSpPr>
        <p:spPr>
          <a:xfrm>
            <a:off x="6096000" y="251012"/>
            <a:ext cx="57015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그럼에도 더많은 트래픽 안정성을 챙겨야한다면</a:t>
            </a:r>
            <a:endParaRPr lang="en-US" altLang="ko-KR" sz="1400"/>
          </a:p>
          <a:p>
            <a:r>
              <a:rPr lang="en-US" altLang="ko-KR" sz="1400"/>
              <a:t>ElastiCache</a:t>
            </a:r>
            <a:r>
              <a:rPr lang="ko-KR" altLang="en-US" sz="1400"/>
              <a:t>를 도입하여 조회에 관한 영향을 </a:t>
            </a:r>
            <a:r>
              <a:rPr lang="en-US" altLang="ko-KR" sz="1400"/>
              <a:t>DB</a:t>
            </a:r>
            <a:r>
              <a:rPr lang="ko-KR" altLang="en-US" sz="1400"/>
              <a:t>와 캐쉬서버가 분담할 수 있도록 하여</a:t>
            </a:r>
            <a:r>
              <a:rPr lang="en-US" altLang="ko-KR" sz="1400"/>
              <a:t>, DB</a:t>
            </a:r>
            <a:r>
              <a:rPr lang="ko-KR" altLang="en-US" sz="1400"/>
              <a:t>에 오는 부하를 줄일수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786638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555CF-7C48-194F-EA33-535929F6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병목지점 성능 개선 판단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84D18-303B-81E6-0329-494E7F41F530}"/>
              </a:ext>
            </a:extLst>
          </p:cNvPr>
          <p:cNvSpPr txBox="1"/>
          <p:nvPr/>
        </p:nvSpPr>
        <p:spPr>
          <a:xfrm>
            <a:off x="1240746" y="1961636"/>
            <a:ext cx="450563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</a:rPr>
              <a:t>- EC2 </a:t>
            </a:r>
            <a:r>
              <a:rPr lang="ko-KR" altLang="en-US" sz="1400" b="1">
                <a:solidFill>
                  <a:srgbClr val="FF0000"/>
                </a:solidFill>
              </a:rPr>
              <a:t>서버 병목 개선 로드맵</a:t>
            </a:r>
            <a:endParaRPr lang="en-US" altLang="ko-KR" sz="1400" b="1">
              <a:solidFill>
                <a:srgbClr val="FF0000"/>
              </a:solidFill>
            </a:endParaRPr>
          </a:p>
          <a:p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서비스 로직적인 부분 해소</a:t>
            </a:r>
            <a:r>
              <a:rPr lang="en-US" altLang="ko-KR" sz="1400"/>
              <a:t>(EX: JPA</a:t>
            </a:r>
            <a:r>
              <a:rPr lang="ko-KR" altLang="en-US" sz="1400"/>
              <a:t> </a:t>
            </a:r>
            <a:r>
              <a:rPr lang="en-US" altLang="ko-KR" sz="1400"/>
              <a:t>N+1</a:t>
            </a:r>
            <a:r>
              <a:rPr lang="ko-KR" altLang="en-US" sz="1400"/>
              <a:t>문제</a:t>
            </a:r>
            <a:r>
              <a:rPr lang="en-US" altLang="ko-KR" sz="1400"/>
              <a:t>)</a:t>
            </a:r>
          </a:p>
          <a:p>
            <a:pPr marL="342900" indent="-342900">
              <a:buAutoNum type="arabicPeriod"/>
            </a:pPr>
            <a:r>
              <a:rPr lang="ko-KR" altLang="en-US" sz="1400"/>
              <a:t>정적 파일 서버</a:t>
            </a:r>
            <a:r>
              <a:rPr lang="en-US" altLang="ko-KR" sz="1400"/>
              <a:t>(S3, cloudfront</a:t>
            </a:r>
            <a:r>
              <a:rPr lang="ko-KR" altLang="en-US" sz="1400"/>
              <a:t> 분리</a:t>
            </a:r>
            <a:r>
              <a:rPr lang="en-US" altLang="ko-KR" sz="1400"/>
              <a:t>)</a:t>
            </a:r>
          </a:p>
          <a:p>
            <a:pPr marL="342900" indent="-342900">
              <a:buAutoNum type="arabicPeriod"/>
            </a:pPr>
            <a:r>
              <a:rPr lang="en-US" altLang="ko-KR" sz="1400"/>
              <a:t>ELB </a:t>
            </a:r>
            <a:r>
              <a:rPr lang="ko-KR" altLang="en-US" sz="1400"/>
              <a:t>및 수평적 확장적용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수직적 확장</a:t>
            </a:r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 b="1">
                <a:solidFill>
                  <a:srgbClr val="FF0000"/>
                </a:solidFill>
              </a:rPr>
              <a:t>- RDB</a:t>
            </a:r>
            <a:r>
              <a:rPr lang="ko-KR" altLang="en-US" sz="1400" b="1">
                <a:solidFill>
                  <a:srgbClr val="FF0000"/>
                </a:solidFill>
              </a:rPr>
              <a:t> 병목 개선 로드맵</a:t>
            </a:r>
            <a:endParaRPr lang="en-US" altLang="ko-KR" sz="1400" b="1">
              <a:solidFill>
                <a:srgbClr val="FF0000"/>
              </a:solidFill>
            </a:endParaRPr>
          </a:p>
          <a:p>
            <a:r>
              <a:rPr lang="en-US" altLang="ko-KR" sz="1400"/>
              <a:t>1. </a:t>
            </a:r>
            <a:r>
              <a:rPr lang="ko-KR" altLang="en-US" sz="1400"/>
              <a:t>비효율적인 쿼리 개선</a:t>
            </a:r>
            <a:r>
              <a:rPr lang="en-US" altLang="ko-KR" sz="1400"/>
              <a:t>( </a:t>
            </a:r>
            <a:r>
              <a:rPr lang="ko-KR" altLang="en-US" sz="1400"/>
              <a:t>인덱스</a:t>
            </a:r>
            <a:r>
              <a:rPr lang="en-US" altLang="ko-KR" sz="1400"/>
              <a:t>, SQL</a:t>
            </a:r>
            <a:r>
              <a:rPr lang="ko-KR" altLang="en-US" sz="1400"/>
              <a:t>문 튜닝</a:t>
            </a:r>
            <a:r>
              <a:rPr lang="en-US" altLang="ko-KR" sz="1400"/>
              <a:t>, </a:t>
            </a:r>
            <a:r>
              <a:rPr lang="ko-KR" altLang="en-US" sz="1400"/>
              <a:t>역정규화 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2. </a:t>
            </a:r>
            <a:r>
              <a:rPr lang="ko-KR" altLang="en-US" sz="1400"/>
              <a:t>수직적 확장</a:t>
            </a:r>
            <a:endParaRPr lang="en-US" altLang="ko-KR" sz="1400"/>
          </a:p>
          <a:p>
            <a:r>
              <a:rPr lang="en-US" altLang="ko-KR" sz="1400"/>
              <a:t>3. </a:t>
            </a:r>
            <a:r>
              <a:rPr lang="ko-KR" altLang="en-US" sz="1400"/>
              <a:t>읽기 전용 </a:t>
            </a:r>
            <a:r>
              <a:rPr lang="en-US" altLang="ko-KR" sz="1400"/>
              <a:t>DB </a:t>
            </a:r>
            <a:r>
              <a:rPr lang="ko-KR" altLang="en-US" sz="1400"/>
              <a:t>도입</a:t>
            </a:r>
            <a:r>
              <a:rPr lang="en-US" altLang="ko-KR" sz="1400"/>
              <a:t>(Read Replica)</a:t>
            </a:r>
          </a:p>
          <a:p>
            <a:r>
              <a:rPr lang="en-US" altLang="ko-KR" sz="1400"/>
              <a:t>4. </a:t>
            </a:r>
            <a:r>
              <a:rPr lang="ko-KR" altLang="en-US" sz="1400"/>
              <a:t>캐시 서버 도입하기</a:t>
            </a:r>
            <a:r>
              <a:rPr lang="en-US" altLang="ko-KR" sz="1400"/>
              <a:t> </a:t>
            </a:r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9BA833-A4C8-55C7-B1A6-E0E1F1ED7469}"/>
              </a:ext>
            </a:extLst>
          </p:cNvPr>
          <p:cNvSpPr txBox="1"/>
          <p:nvPr/>
        </p:nvSpPr>
        <p:spPr>
          <a:xfrm>
            <a:off x="6126480" y="3585882"/>
            <a:ext cx="4944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DB</a:t>
            </a:r>
            <a:r>
              <a:rPr lang="ko-KR" altLang="en-US" sz="1200"/>
              <a:t>의 경우 수평적 확장이 어렵다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DB</a:t>
            </a:r>
            <a:r>
              <a:rPr lang="ko-KR" altLang="en-US" sz="1200"/>
              <a:t>의 경우 저장하고 있는 데이터량이 상당한데</a:t>
            </a:r>
            <a:r>
              <a:rPr lang="en-US" altLang="ko-KR" sz="1200"/>
              <a:t>, </a:t>
            </a:r>
            <a:r>
              <a:rPr lang="ko-KR" altLang="en-US" sz="1200"/>
              <a:t>수평적 확장이라면 </a:t>
            </a:r>
            <a:br>
              <a:rPr lang="en-US" altLang="ko-KR" sz="1200"/>
            </a:br>
            <a:r>
              <a:rPr lang="ko-KR" altLang="en-US" sz="1200"/>
              <a:t>이를 동기화시켜주는 자원이 많이 들어간다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이러한 자원의 소요때문에</a:t>
            </a:r>
            <a:r>
              <a:rPr lang="en-US" altLang="ko-KR" sz="1200"/>
              <a:t>, DB</a:t>
            </a:r>
            <a:r>
              <a:rPr lang="ko-KR" altLang="en-US" sz="1200"/>
              <a:t>의 수평적확장은 효용성이 그다지 없다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또한 읽기 서버와의 분리를 통해 </a:t>
            </a:r>
            <a:r>
              <a:rPr lang="en-US" altLang="ko-KR" sz="1200"/>
              <a:t>DB</a:t>
            </a:r>
            <a:r>
              <a:rPr lang="ko-KR" altLang="en-US" sz="1200"/>
              <a:t>를 증설하는것도 비용이 적지 않기 때문에</a:t>
            </a:r>
            <a:r>
              <a:rPr lang="en-US" altLang="ko-KR" sz="1200"/>
              <a:t>, </a:t>
            </a:r>
            <a:r>
              <a:rPr lang="ko-KR" altLang="en-US" sz="1200"/>
              <a:t>수직적인 확장을 먼저 시도하는게 일반적이다</a:t>
            </a:r>
            <a:r>
              <a:rPr lang="en-US" altLang="ko-KR" sz="1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9054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52EB86-7E42-DE9F-D409-41B69921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RDS CPU </a:t>
            </a:r>
            <a:r>
              <a:rPr lang="ko-KR" altLang="en-US" sz="3600"/>
              <a:t>병목 해결 실습</a:t>
            </a:r>
            <a:r>
              <a:rPr lang="en-US" altLang="ko-KR" sz="3600"/>
              <a:t>(1)</a:t>
            </a:r>
            <a:endParaRPr lang="ko-KR" altLang="en-US" sz="360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CF4043F-FF17-B463-AE3F-802B8EDE24EE}"/>
              </a:ext>
            </a:extLst>
          </p:cNvPr>
          <p:cNvGrpSpPr/>
          <p:nvPr/>
        </p:nvGrpSpPr>
        <p:grpSpPr>
          <a:xfrm>
            <a:off x="1016317" y="1969617"/>
            <a:ext cx="10220325" cy="2698364"/>
            <a:chOff x="542925" y="4094252"/>
            <a:chExt cx="10220325" cy="269836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58D5D56-30E9-918A-1071-647E5B8D6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306"/>
            <a:stretch>
              <a:fillRect/>
            </a:stretch>
          </p:blipFill>
          <p:spPr>
            <a:xfrm>
              <a:off x="542925" y="4094252"/>
              <a:ext cx="10220325" cy="269836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A8DBB4B-E65C-E483-A2A5-2F7C5B256365}"/>
                </a:ext>
              </a:extLst>
            </p:cNvPr>
            <p:cNvSpPr/>
            <p:nvPr/>
          </p:nvSpPr>
          <p:spPr>
            <a:xfrm>
              <a:off x="5705475" y="5038725"/>
              <a:ext cx="2076450" cy="361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552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800D-FBF5-D473-943B-DA1C2E4D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E70CB-731B-D44B-8AF9-6A4AC5A6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RDS CPU </a:t>
            </a:r>
            <a:r>
              <a:rPr lang="ko-KR" altLang="en-US" sz="3600"/>
              <a:t>병목 해결 실습</a:t>
            </a:r>
            <a:r>
              <a:rPr lang="en-US" altLang="ko-KR" sz="3600"/>
              <a:t>(2)</a:t>
            </a:r>
            <a:endParaRPr lang="ko-KR" altLang="en-US" sz="36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8A3293B-C3B7-4CE3-9BCF-6D4C4D07E82B}"/>
              </a:ext>
            </a:extLst>
          </p:cNvPr>
          <p:cNvGrpSpPr/>
          <p:nvPr/>
        </p:nvGrpSpPr>
        <p:grpSpPr>
          <a:xfrm>
            <a:off x="341207" y="1927412"/>
            <a:ext cx="5754793" cy="3530988"/>
            <a:chOff x="341207" y="1927412"/>
            <a:chExt cx="5754793" cy="353098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8419C16-F6EF-2A66-4EA6-B09EEB181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207" y="1927412"/>
              <a:ext cx="5754793" cy="3530988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A61B5E6-AA07-61AF-7EF7-6D22142D1BA8}"/>
                </a:ext>
              </a:extLst>
            </p:cNvPr>
            <p:cNvSpPr/>
            <p:nvPr/>
          </p:nvSpPr>
          <p:spPr>
            <a:xfrm>
              <a:off x="1030941" y="3783106"/>
              <a:ext cx="5065059" cy="1703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6E7C405-1C73-EBEF-BA51-7097DD84C086}"/>
              </a:ext>
            </a:extLst>
          </p:cNvPr>
          <p:cNvSpPr txBox="1"/>
          <p:nvPr/>
        </p:nvSpPr>
        <p:spPr>
          <a:xfrm>
            <a:off x="6158753" y="1927412"/>
            <a:ext cx="55670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RDS </a:t>
            </a:r>
            <a:r>
              <a:rPr lang="ko-KR" altLang="en-US" sz="1200"/>
              <a:t>서버의 병목을 줄이기 위해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애플리케이션의 로직적인 부분을 확인 </a:t>
            </a:r>
            <a:endParaRPr lang="en-US" altLang="ko-KR" sz="1200"/>
          </a:p>
          <a:p>
            <a:r>
              <a:rPr lang="en-US" altLang="ko-KR" sz="1200"/>
              <a:t>createdAt</a:t>
            </a:r>
            <a:r>
              <a:rPr lang="ko-KR" altLang="en-US" sz="1200"/>
              <a:t>을 통한 조회정보의 정렬이 이루어진다</a:t>
            </a:r>
            <a:r>
              <a:rPr lang="en-US" altLang="ko-KR" sz="1200"/>
              <a:t>. </a:t>
            </a:r>
          </a:p>
          <a:p>
            <a:endParaRPr lang="en-US" altLang="ko-KR" sz="1200"/>
          </a:p>
          <a:p>
            <a:r>
              <a:rPr lang="ko-KR" altLang="en-US" sz="1200"/>
              <a:t>이러한 조회 성능을 개선하기 위해 </a:t>
            </a:r>
            <a:r>
              <a:rPr lang="en-US" altLang="ko-KR" sz="1200"/>
              <a:t>DB</a:t>
            </a:r>
            <a:r>
              <a:rPr lang="ko-KR" altLang="en-US" sz="1200"/>
              <a:t>에 인덱스를 생성하여 적용한다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BA95514-37B8-5789-3646-A6E856CDD361}"/>
              </a:ext>
            </a:extLst>
          </p:cNvPr>
          <p:cNvGrpSpPr/>
          <p:nvPr/>
        </p:nvGrpSpPr>
        <p:grpSpPr>
          <a:xfrm>
            <a:off x="6158753" y="3051109"/>
            <a:ext cx="4020111" cy="641797"/>
            <a:chOff x="6158753" y="2974451"/>
            <a:chExt cx="4020111" cy="64179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9B8B9E0-8BE4-ED95-D377-9E943C57A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58753" y="2974451"/>
              <a:ext cx="4020111" cy="33342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C88D85-773A-316D-CAD6-74AB4CE643E2}"/>
                </a:ext>
              </a:extLst>
            </p:cNvPr>
            <p:cNvSpPr txBox="1"/>
            <p:nvPr/>
          </p:nvSpPr>
          <p:spPr>
            <a:xfrm>
              <a:off x="6158753" y="3339249"/>
              <a:ext cx="30659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인덱스 생성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A3DD852-95CC-F60B-3E34-6C7171A02892}"/>
              </a:ext>
            </a:extLst>
          </p:cNvPr>
          <p:cNvGrpSpPr/>
          <p:nvPr/>
        </p:nvGrpSpPr>
        <p:grpSpPr>
          <a:xfrm>
            <a:off x="6158753" y="3783106"/>
            <a:ext cx="5868170" cy="964973"/>
            <a:chOff x="6158753" y="3783106"/>
            <a:chExt cx="5868170" cy="96497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7C6504D-241F-B510-4DAD-7FCD919406B3}"/>
                </a:ext>
              </a:extLst>
            </p:cNvPr>
            <p:cNvGrpSpPr/>
            <p:nvPr/>
          </p:nvGrpSpPr>
          <p:grpSpPr>
            <a:xfrm>
              <a:off x="6158753" y="3783106"/>
              <a:ext cx="5868170" cy="964973"/>
              <a:chOff x="6158753" y="3783106"/>
              <a:chExt cx="5868170" cy="964973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29D5B3F2-3EA2-0E8C-119A-79998FA02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8753" y="3783106"/>
                <a:ext cx="2143424" cy="304843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904848DA-7E17-4D34-46A6-E007127EBD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72129" y="4099981"/>
                <a:ext cx="5754794" cy="648098"/>
              </a:xfrm>
              <a:prstGeom prst="rect">
                <a:avLst/>
              </a:prstGeom>
            </p:spPr>
          </p:pic>
        </p:grp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9A34F9C-1963-5482-9A69-372AA179934D}"/>
                </a:ext>
              </a:extLst>
            </p:cNvPr>
            <p:cNvSpPr/>
            <p:nvPr/>
          </p:nvSpPr>
          <p:spPr>
            <a:xfrm>
              <a:off x="6427694" y="4572000"/>
              <a:ext cx="3971365" cy="17607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383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54625-97F2-4AB9-332D-4EB9B37E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RDS </a:t>
            </a:r>
            <a:r>
              <a:rPr lang="ko-KR" altLang="en-US"/>
              <a:t>성능 개선 확인하기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0962D-57EA-CF30-48E0-84CA051D341A}"/>
              </a:ext>
            </a:extLst>
          </p:cNvPr>
          <p:cNvSpPr txBox="1"/>
          <p:nvPr/>
        </p:nvSpPr>
        <p:spPr>
          <a:xfrm>
            <a:off x="1201271" y="1810871"/>
            <a:ext cx="99544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EC2 </a:t>
            </a:r>
            <a:r>
              <a:rPr lang="ko-KR" altLang="en-US" sz="1200"/>
              <a:t>서버 애플리케이션 동작 확인</a:t>
            </a:r>
            <a:endParaRPr lang="en-US" altLang="ko-KR" sz="12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200"/>
              <a:t>sudo lsof -i 80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r>
              <a:rPr lang="en-US" altLang="ko-KR" sz="1200"/>
              <a:t>AWS cloudwatch </a:t>
            </a:r>
            <a:r>
              <a:rPr lang="ko-KR" altLang="en-US" sz="1200"/>
              <a:t>대시보드 열기 및 모니터링 셋팅</a:t>
            </a:r>
            <a:endParaRPr lang="en-US" altLang="ko-KR" sz="120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2B4E44-C71A-6C6F-C87E-04C41C5E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965" y="2235397"/>
            <a:ext cx="5458587" cy="590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8CC46E-887D-EE4B-4B73-72D91FB01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279" y="3302577"/>
            <a:ext cx="3026953" cy="26679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F16B37-11DA-2DAE-C047-7456C7EE7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93" y="3380531"/>
            <a:ext cx="8177509" cy="174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6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D8704-E54D-5F72-292A-09528460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RDS </a:t>
            </a:r>
            <a:r>
              <a:rPr lang="ko-KR" altLang="en-US"/>
              <a:t>성능 개선 확인하기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16524-E11D-D9A7-D544-8A83D7AB93B1}"/>
              </a:ext>
            </a:extLst>
          </p:cNvPr>
          <p:cNvSpPr txBox="1"/>
          <p:nvPr/>
        </p:nvSpPr>
        <p:spPr>
          <a:xfrm>
            <a:off x="1201271" y="1810871"/>
            <a:ext cx="995440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EC2 </a:t>
            </a:r>
            <a:r>
              <a:rPr lang="ko-KR" altLang="en-US" sz="1200"/>
              <a:t>서버 실시간 </a:t>
            </a:r>
            <a:r>
              <a:rPr lang="en-US" altLang="ko-KR" sz="1200"/>
              <a:t>CPU / Memory </a:t>
            </a:r>
            <a:r>
              <a:rPr lang="ko-KR" altLang="en-US" sz="1200"/>
              <a:t>사용률 확인 리눅스 명령어</a:t>
            </a: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/>
              <a:t>top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r>
              <a:rPr lang="en-US" altLang="ko-KR" sz="1200"/>
              <a:t>k6-server </a:t>
            </a:r>
            <a:r>
              <a:rPr lang="ko-KR" altLang="en-US" sz="1200"/>
              <a:t>부하테스트 스크립트 실행</a:t>
            </a: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/>
              <a:t>K6_WEB_DASHBOARD=true k6 run script.js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39C5D8-FF4E-831A-EDC8-101025D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496" y="2293269"/>
            <a:ext cx="4305901" cy="2095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24A9BBD-A58C-F728-B7D2-760D6C3B2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496" y="2585920"/>
            <a:ext cx="7430537" cy="16861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5BD835-91AF-73F5-A599-3992D8B79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496" y="4820720"/>
            <a:ext cx="570627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38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1715B-CDB8-0221-797F-743B8A78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RDS </a:t>
            </a:r>
            <a:r>
              <a:rPr lang="ko-KR" altLang="en-US"/>
              <a:t>성능 개선 확인하기</a:t>
            </a:r>
            <a:r>
              <a:rPr lang="en-US" altLang="ko-KR"/>
              <a:t>(3)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4154B-026B-718C-EF01-00273D79A933}"/>
              </a:ext>
            </a:extLst>
          </p:cNvPr>
          <p:cNvSpPr txBox="1"/>
          <p:nvPr/>
        </p:nvSpPr>
        <p:spPr>
          <a:xfrm>
            <a:off x="1201271" y="1846729"/>
            <a:ext cx="93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K6 </a:t>
            </a:r>
            <a:r>
              <a:rPr lang="ko-KR" altLang="en-US"/>
              <a:t>웹 대시보드 확인 </a:t>
            </a:r>
            <a:r>
              <a:rPr lang="en-US" altLang="ko-KR"/>
              <a:t>(Port: 5665)</a:t>
            </a:r>
            <a:r>
              <a:rPr lang="ko-KR" altLang="en-US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100FE1-A8A6-E425-81CC-76FAD0D6D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71" y="2216061"/>
            <a:ext cx="3286584" cy="58110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D92B03D-74D1-80D0-FB9A-559B962AEF8A}"/>
              </a:ext>
            </a:extLst>
          </p:cNvPr>
          <p:cNvSpPr/>
          <p:nvPr/>
        </p:nvSpPr>
        <p:spPr>
          <a:xfrm>
            <a:off x="1201271" y="2506614"/>
            <a:ext cx="1586753" cy="290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DBBC48-6CBD-8482-AA65-29DE26E44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271" y="2945446"/>
            <a:ext cx="10094259" cy="183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76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4C41F-0174-E8DB-996C-5B47B231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결과 해석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9E760-D3C2-4968-4C0F-4120FEB133F6}"/>
              </a:ext>
            </a:extLst>
          </p:cNvPr>
          <p:cNvSpPr txBox="1"/>
          <p:nvPr/>
        </p:nvSpPr>
        <p:spPr>
          <a:xfrm>
            <a:off x="1264024" y="1837765"/>
            <a:ext cx="597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K6 </a:t>
            </a:r>
            <a:r>
              <a:rPr lang="ko-KR" altLang="en-US" sz="1400"/>
              <a:t>대시보드</a:t>
            </a:r>
            <a:r>
              <a:rPr lang="en-US" altLang="ko-KR" sz="1400"/>
              <a:t> </a:t>
            </a:r>
            <a:r>
              <a:rPr lang="en-US" altLang="ko-KR" sz="1400">
                <a:sym typeface="Wingdings" panose="05000000000000000000" pitchFamily="2" charset="2"/>
              </a:rPr>
              <a:t></a:t>
            </a:r>
            <a:r>
              <a:rPr lang="en-US" altLang="ko-KR" sz="1400"/>
              <a:t> 3TPS </a:t>
            </a:r>
            <a:r>
              <a:rPr lang="ko-KR" altLang="en-US" sz="1400"/>
              <a:t>에서 </a:t>
            </a:r>
            <a:r>
              <a:rPr lang="en-US" altLang="ko-KR" sz="1400"/>
              <a:t>4~5TPS</a:t>
            </a:r>
            <a:r>
              <a:rPr lang="ko-KR" altLang="en-US" sz="1400"/>
              <a:t>까지 처리량 상승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1755153-D8C0-CE3D-34CC-163A6D0D52AA}"/>
              </a:ext>
            </a:extLst>
          </p:cNvPr>
          <p:cNvGrpSpPr/>
          <p:nvPr/>
        </p:nvGrpSpPr>
        <p:grpSpPr>
          <a:xfrm>
            <a:off x="914401" y="2307502"/>
            <a:ext cx="5441576" cy="1780404"/>
            <a:chOff x="914400" y="2307502"/>
            <a:chExt cx="6517341" cy="234340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3DF0543-32DA-9D12-22A4-93B362731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4024" y="2307502"/>
              <a:ext cx="5842882" cy="2343402"/>
            </a:xfrm>
            <a:prstGeom prst="rect">
              <a:avLst/>
            </a:prstGeom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CDFB69D-E774-EEBA-3C8A-B8F04283C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00" y="2931459"/>
              <a:ext cx="6517341" cy="6275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C29F3E1-A88F-A7C7-D39E-ED90F2AF2EB5}"/>
              </a:ext>
            </a:extLst>
          </p:cNvPr>
          <p:cNvSpPr txBox="1"/>
          <p:nvPr/>
        </p:nvSpPr>
        <p:spPr>
          <a:xfrm>
            <a:off x="1206315" y="4153776"/>
            <a:ext cx="597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ym typeface="Wingdings" panose="05000000000000000000" pitchFamily="2" charset="2"/>
              </a:rPr>
              <a:t>EC2 </a:t>
            </a:r>
            <a:r>
              <a:rPr lang="ko-KR" altLang="en-US" sz="1400">
                <a:sym typeface="Wingdings" panose="05000000000000000000" pitchFamily="2" charset="2"/>
              </a:rPr>
              <a:t>실시간 모니터링 </a:t>
            </a:r>
            <a:r>
              <a:rPr lang="en-US" altLang="ko-KR" sz="1400">
                <a:sym typeface="Wingdings" panose="05000000000000000000" pitchFamily="2" charset="2"/>
              </a:rPr>
              <a:t></a:t>
            </a:r>
            <a:r>
              <a:rPr lang="en-US" altLang="ko-KR" sz="1400"/>
              <a:t> 3TPS </a:t>
            </a:r>
            <a:r>
              <a:rPr lang="ko-KR" altLang="en-US" sz="1400"/>
              <a:t>에서 </a:t>
            </a:r>
            <a:r>
              <a:rPr lang="en-US" altLang="ko-KR" sz="1400"/>
              <a:t>4~5TPS</a:t>
            </a:r>
            <a:r>
              <a:rPr lang="ko-KR" altLang="en-US" sz="1400"/>
              <a:t>까지 처리량 상승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E9BC38-F5C5-5C17-53C3-8CE2D14F5CCA}"/>
              </a:ext>
            </a:extLst>
          </p:cNvPr>
          <p:cNvGrpSpPr/>
          <p:nvPr/>
        </p:nvGrpSpPr>
        <p:grpSpPr>
          <a:xfrm>
            <a:off x="1206315" y="4561958"/>
            <a:ext cx="7344800" cy="1733792"/>
            <a:chOff x="1206315" y="4561958"/>
            <a:chExt cx="7344800" cy="1733792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776A2BD-677B-5D64-C4DE-231C3AF44FC1}"/>
                </a:ext>
              </a:extLst>
            </p:cNvPr>
            <p:cNvGrpSpPr/>
            <p:nvPr/>
          </p:nvGrpSpPr>
          <p:grpSpPr>
            <a:xfrm>
              <a:off x="1206315" y="4561958"/>
              <a:ext cx="7344800" cy="1733792"/>
              <a:chOff x="1206315" y="4561958"/>
              <a:chExt cx="7344800" cy="1733792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983FBF3C-8324-A740-8A13-B3A24BE713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6315" y="4561958"/>
                <a:ext cx="7344800" cy="1733792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FA9FF4E-79EA-58BE-EBB4-A5DCA7130AAF}"/>
                  </a:ext>
                </a:extLst>
              </p:cNvPr>
              <p:cNvSpPr/>
              <p:nvPr/>
            </p:nvSpPr>
            <p:spPr>
              <a:xfrm>
                <a:off x="2779059" y="5812993"/>
                <a:ext cx="3182470" cy="25101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DD095BA-78D6-697A-97C1-7E5C9FBC9BC0}"/>
                </a:ext>
              </a:extLst>
            </p:cNvPr>
            <p:cNvSpPr/>
            <p:nvPr/>
          </p:nvSpPr>
          <p:spPr>
            <a:xfrm>
              <a:off x="1206315" y="5674659"/>
              <a:ext cx="1402414" cy="2510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CABD515-23D0-FDE6-3C95-B252D9D3C3C3}"/>
              </a:ext>
            </a:extLst>
          </p:cNvPr>
          <p:cNvSpPr txBox="1"/>
          <p:nvPr/>
        </p:nvSpPr>
        <p:spPr>
          <a:xfrm>
            <a:off x="8677835" y="4561958"/>
            <a:ext cx="3370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메모리는 넉넉하나</a:t>
            </a:r>
            <a:endParaRPr lang="en-US" altLang="ko-KR" sz="1200"/>
          </a:p>
          <a:p>
            <a:r>
              <a:rPr lang="ko-KR" altLang="en-US" sz="1200"/>
              <a:t>전체 </a:t>
            </a:r>
            <a:r>
              <a:rPr lang="en-US" altLang="ko-KR" sz="1200"/>
              <a:t>CPU </a:t>
            </a:r>
            <a:r>
              <a:rPr lang="ko-KR" altLang="en-US" sz="1200"/>
              <a:t>사용률이 </a:t>
            </a:r>
            <a:r>
              <a:rPr lang="en-US" altLang="ko-KR" sz="1200"/>
              <a:t>99</a:t>
            </a:r>
            <a:r>
              <a:rPr lang="ko-KR" altLang="en-US" sz="1200"/>
              <a:t>프로 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또 다른 병목 원인 발생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(EC2 CPU </a:t>
            </a:r>
            <a:r>
              <a:rPr lang="ko-KR" altLang="en-US" sz="1200">
                <a:sym typeface="Wingdings" panose="05000000000000000000" pitchFamily="2" charset="2"/>
              </a:rPr>
              <a:t>사용률 병목 예상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97863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B84CE-4B2B-C1C9-48C7-64DD0AC8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결과 해석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0A9548-ED4A-5D19-4FB1-D8DBC73FC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7" y="3572435"/>
            <a:ext cx="6194612" cy="272546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77288CF-E3F9-0C6C-6DFD-D3E090D92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53" y="1812900"/>
            <a:ext cx="9475694" cy="16161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3D9F013-D098-8229-0719-33D9F4DDA575}"/>
              </a:ext>
            </a:extLst>
          </p:cNvPr>
          <p:cNvSpPr/>
          <p:nvPr/>
        </p:nvSpPr>
        <p:spPr>
          <a:xfrm>
            <a:off x="3200400" y="1812900"/>
            <a:ext cx="197224" cy="248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DEF82CD-4D34-D517-C3EC-A6C26B0BE178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3299012" y="2061882"/>
            <a:ext cx="174811" cy="1510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25A1CC-D6C1-A18A-40FB-7DB2A90CF59C}"/>
              </a:ext>
            </a:extLst>
          </p:cNvPr>
          <p:cNvSpPr txBox="1"/>
          <p:nvPr/>
        </p:nvSpPr>
        <p:spPr>
          <a:xfrm>
            <a:off x="6714565" y="3572435"/>
            <a:ext cx="5307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EC2 CPU(100% </a:t>
            </a:r>
            <a:r>
              <a:rPr lang="ko-KR" altLang="en-US" sz="1200"/>
              <a:t>도달</a:t>
            </a:r>
            <a:r>
              <a:rPr lang="en-US" altLang="ko-KR" sz="1200"/>
              <a:t>) </a:t>
            </a:r>
            <a:r>
              <a:rPr lang="ko-KR" altLang="en-US" sz="1200"/>
              <a:t>병목 확인</a:t>
            </a:r>
          </a:p>
        </p:txBody>
      </p:sp>
    </p:spTree>
    <p:extLst>
      <p:ext uri="{BB962C8B-B14F-4D97-AF65-F5344CB8AC3E}">
        <p14:creationId xmlns:p14="http://schemas.microsoft.com/office/powerpoint/2010/main" val="3244491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559B4-1C0A-4364-46FB-340581DE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/>
              <a:t>EC2 </a:t>
            </a:r>
            <a:r>
              <a:rPr lang="ko-KR" altLang="en-US" sz="4400"/>
              <a:t>병목에 대한 해결방안 모색하기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CC3084-477D-6BD1-E945-DEAE7DEDE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62" y="1851736"/>
            <a:ext cx="7465473" cy="3268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4E870C-CF64-BA79-F11B-252728574AE0}"/>
              </a:ext>
            </a:extLst>
          </p:cNvPr>
          <p:cNvSpPr txBox="1"/>
          <p:nvPr/>
        </p:nvSpPr>
        <p:spPr>
          <a:xfrm>
            <a:off x="7879976" y="1918447"/>
            <a:ext cx="40161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애플리케이션 로직에 비효율적인 로직이 없다고 </a:t>
            </a:r>
            <a:br>
              <a:rPr lang="en-US" altLang="ko-KR" sz="1200"/>
            </a:br>
            <a:r>
              <a:rPr lang="ko-KR" altLang="en-US" sz="1200"/>
              <a:t>가정한다</a:t>
            </a:r>
            <a:endParaRPr lang="en-US" altLang="ko-KR" sz="1200"/>
          </a:p>
          <a:p>
            <a:pPr marL="228600" indent="-228600">
              <a:buAutoNum type="arabicPeriod"/>
            </a:pPr>
            <a:endParaRPr lang="en-US" altLang="ko-KR" sz="1200"/>
          </a:p>
          <a:p>
            <a:pPr marL="228600" indent="-228600">
              <a:buAutoNum type="arabicPeriod"/>
            </a:pPr>
            <a:r>
              <a:rPr lang="ko-KR" altLang="en-US" sz="1200"/>
              <a:t>파일에 대한 업로드가 없는 프로젝트임으로 정적 서버 분리에 대한 성능향상은 배제하도록 한다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endParaRPr lang="en-US" altLang="ko-KR" sz="1200"/>
          </a:p>
          <a:p>
            <a:pPr marL="228600" indent="-228600">
              <a:buAutoNum type="arabicPeriod"/>
            </a:pPr>
            <a:r>
              <a:rPr lang="ko-KR" altLang="en-US" sz="1200"/>
              <a:t>로드 밸런서를 활용한 수평적 확장을 실습해본다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endParaRPr lang="en-US" altLang="ko-KR" sz="1200"/>
          </a:p>
          <a:p>
            <a:pPr marL="228600" indent="-228600">
              <a:buAutoNum type="arabicPeriod"/>
            </a:pPr>
            <a:r>
              <a:rPr lang="ko-KR" altLang="en-US" sz="1200"/>
              <a:t>아마존에서 제공하는 유료서버 확장임으로 배제</a:t>
            </a:r>
            <a:endParaRPr lang="en-US" altLang="ko-KR" sz="1200"/>
          </a:p>
          <a:p>
            <a:pPr marL="228600" indent="-228600">
              <a:buAutoNum type="arabicPeriod"/>
            </a:pP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407164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BA567-1A4B-687F-DD25-312EBFE9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생성된 </a:t>
            </a:r>
            <a:r>
              <a:rPr lang="en-US" altLang="ko-KR"/>
              <a:t>EC2 </a:t>
            </a:r>
            <a:r>
              <a:rPr lang="ko-KR" altLang="en-US"/>
              <a:t>인스턴스의 이미지 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2B8F20-CAC6-4FBD-2646-61069053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7" y="1945341"/>
            <a:ext cx="3110468" cy="95417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24D6792C-D4D8-35C9-C90B-8C1DFAA7BFBE}"/>
              </a:ext>
            </a:extLst>
          </p:cNvPr>
          <p:cNvGrpSpPr/>
          <p:nvPr/>
        </p:nvGrpSpPr>
        <p:grpSpPr>
          <a:xfrm>
            <a:off x="3948602" y="1945341"/>
            <a:ext cx="3901087" cy="3923252"/>
            <a:chOff x="4638885" y="1945341"/>
            <a:chExt cx="3901087" cy="392325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B9F94C6-8E64-AC04-8517-37FFC72BE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8885" y="1945341"/>
              <a:ext cx="3901087" cy="392325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405E4A1-F090-7260-6BF0-525E4D257018}"/>
                </a:ext>
              </a:extLst>
            </p:cNvPr>
            <p:cNvSpPr/>
            <p:nvPr/>
          </p:nvSpPr>
          <p:spPr>
            <a:xfrm>
              <a:off x="5934635" y="5172635"/>
              <a:ext cx="2605337" cy="2061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5C9B146-E8AA-81DB-E321-17F27A244530}"/>
              </a:ext>
            </a:extLst>
          </p:cNvPr>
          <p:cNvGrpSpPr/>
          <p:nvPr/>
        </p:nvGrpSpPr>
        <p:grpSpPr>
          <a:xfrm>
            <a:off x="8060074" y="1945341"/>
            <a:ext cx="3858405" cy="3923252"/>
            <a:chOff x="8060074" y="1945341"/>
            <a:chExt cx="3858405" cy="392325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6F44F82-2575-6AA1-815A-F3DD8C080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60074" y="1945341"/>
              <a:ext cx="3858405" cy="3923252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7EF7B41-CEF8-6FDF-7CB3-5F2EBB2F5904}"/>
                </a:ext>
              </a:extLst>
            </p:cNvPr>
            <p:cNvSpPr/>
            <p:nvPr/>
          </p:nvSpPr>
          <p:spPr>
            <a:xfrm>
              <a:off x="8238565" y="5378824"/>
              <a:ext cx="1138518" cy="2061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70ACB05-2CAF-DAA7-CB35-53439C54E579}"/>
                </a:ext>
              </a:extLst>
            </p:cNvPr>
            <p:cNvSpPr/>
            <p:nvPr/>
          </p:nvSpPr>
          <p:spPr>
            <a:xfrm>
              <a:off x="8319247" y="3906967"/>
              <a:ext cx="932329" cy="4947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E0085463-B7CC-249E-9851-B86E3FAF8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8778" y="5868593"/>
            <a:ext cx="1247949" cy="4191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AE112A-E7E1-2AB5-1C76-0DDE3DDEAEFA}"/>
              </a:ext>
            </a:extLst>
          </p:cNvPr>
          <p:cNvSpPr txBox="1"/>
          <p:nvPr/>
        </p:nvSpPr>
        <p:spPr>
          <a:xfrm>
            <a:off x="295835" y="3429000"/>
            <a:ext cx="3558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docker image </a:t>
            </a:r>
            <a:r>
              <a:rPr lang="ko-KR" altLang="en-US"/>
              <a:t>와 성격이 유사하다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72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0F29E-28FF-D9B7-FD15-B36FCCA6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생성 이미지로 복제 인스턴스 생성</a:t>
            </a:r>
            <a:r>
              <a:rPr lang="en-US" altLang="ko-KR"/>
              <a:t>(1)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E65BBB3-C195-0CCD-C8F2-3CFFB12DBB72}"/>
              </a:ext>
            </a:extLst>
          </p:cNvPr>
          <p:cNvGrpSpPr/>
          <p:nvPr/>
        </p:nvGrpSpPr>
        <p:grpSpPr>
          <a:xfrm>
            <a:off x="1097280" y="1891551"/>
            <a:ext cx="1623644" cy="4289995"/>
            <a:chOff x="1097280" y="1891551"/>
            <a:chExt cx="1623644" cy="428999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972A3C1-F433-E14A-23E5-EDDD7BC51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91551"/>
              <a:ext cx="1623644" cy="428999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5F3C31A-4044-2AF8-3CA0-EAA6B37E3B8B}"/>
                </a:ext>
              </a:extLst>
            </p:cNvPr>
            <p:cNvSpPr/>
            <p:nvPr/>
          </p:nvSpPr>
          <p:spPr>
            <a:xfrm>
              <a:off x="1097280" y="5683624"/>
              <a:ext cx="507402" cy="2151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00A20FA-532B-F8D8-4572-7DFD64764FD7}"/>
              </a:ext>
            </a:extLst>
          </p:cNvPr>
          <p:cNvGrpSpPr/>
          <p:nvPr/>
        </p:nvGrpSpPr>
        <p:grpSpPr>
          <a:xfrm>
            <a:off x="3047574" y="1891551"/>
            <a:ext cx="6096851" cy="1571844"/>
            <a:chOff x="3047574" y="1891551"/>
            <a:chExt cx="6096851" cy="157184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4801C33-A52A-5574-E26D-85C08E5E7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7574" y="1891551"/>
              <a:ext cx="6096851" cy="1571844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3575917-94C5-6D0D-978B-0C985F41991E}"/>
                </a:ext>
              </a:extLst>
            </p:cNvPr>
            <p:cNvSpPr/>
            <p:nvPr/>
          </p:nvSpPr>
          <p:spPr>
            <a:xfrm>
              <a:off x="3254188" y="3074894"/>
              <a:ext cx="385483" cy="3541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7D61B60-2813-55E5-35A9-E83FFBD17EBE}"/>
              </a:ext>
            </a:extLst>
          </p:cNvPr>
          <p:cNvGrpSpPr/>
          <p:nvPr/>
        </p:nvGrpSpPr>
        <p:grpSpPr>
          <a:xfrm>
            <a:off x="3149869" y="3738706"/>
            <a:ext cx="4864074" cy="2763869"/>
            <a:chOff x="3149869" y="3738706"/>
            <a:chExt cx="4864074" cy="2763869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45843A2-EE9B-9265-1F1F-9BE08958F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9869" y="3738706"/>
              <a:ext cx="4864074" cy="2763869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BA8D141-E06A-2781-61CA-ECD3A486C2EC}"/>
                </a:ext>
              </a:extLst>
            </p:cNvPr>
            <p:cNvSpPr/>
            <p:nvPr/>
          </p:nvSpPr>
          <p:spPr>
            <a:xfrm>
              <a:off x="5933738" y="5614147"/>
              <a:ext cx="879438" cy="3541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9662FC3-7013-0098-D749-CC973EC76B40}"/>
              </a:ext>
            </a:extLst>
          </p:cNvPr>
          <p:cNvGrpSpPr/>
          <p:nvPr/>
        </p:nvGrpSpPr>
        <p:grpSpPr>
          <a:xfrm>
            <a:off x="8210465" y="5898776"/>
            <a:ext cx="1695535" cy="465973"/>
            <a:chOff x="8210465" y="5898776"/>
            <a:chExt cx="1695535" cy="46597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A7CCFC7-88B8-01A9-B88A-1871B2566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81916" y="5898776"/>
              <a:ext cx="1552792" cy="428685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C734D0F-5EB0-0461-4933-82A6C1247930}"/>
                </a:ext>
              </a:extLst>
            </p:cNvPr>
            <p:cNvSpPr/>
            <p:nvPr/>
          </p:nvSpPr>
          <p:spPr>
            <a:xfrm>
              <a:off x="8210465" y="5936064"/>
              <a:ext cx="1695535" cy="4286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686C955-F0B9-687E-96C1-34C8F409FF3D}"/>
              </a:ext>
            </a:extLst>
          </p:cNvPr>
          <p:cNvCxnSpPr>
            <a:stCxn id="5" idx="3"/>
            <a:endCxn id="13" idx="1"/>
          </p:cNvCxnSpPr>
          <p:nvPr/>
        </p:nvCxnSpPr>
        <p:spPr>
          <a:xfrm flipV="1">
            <a:off x="1604682" y="3251947"/>
            <a:ext cx="1649506" cy="25392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C9B2605-C53B-A5C4-5D44-D5AC10985A93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639671" y="3251947"/>
            <a:ext cx="2294067" cy="25392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F4C33EF-BB7E-A8BA-E7D3-66DAF01FE60A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813176" y="5791200"/>
            <a:ext cx="1397289" cy="359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30616A71-31AD-D83A-096A-06011C591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231" y="5380543"/>
            <a:ext cx="966252" cy="410657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1D603B8-120E-7C50-48E6-5F311A59F75E}"/>
              </a:ext>
            </a:extLst>
          </p:cNvPr>
          <p:cNvSpPr txBox="1"/>
          <p:nvPr/>
        </p:nvSpPr>
        <p:spPr>
          <a:xfrm>
            <a:off x="7575175" y="5274310"/>
            <a:ext cx="262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상태가 사용가능이 되면 </a:t>
            </a:r>
            <a:r>
              <a:rPr lang="en-US" altLang="ko-KR" sz="1400"/>
              <a:t>AMI</a:t>
            </a:r>
            <a:r>
              <a:rPr lang="ko-KR" altLang="en-US" sz="1400"/>
              <a:t>로 인스턴스 시작 버튼 클릭</a:t>
            </a:r>
          </a:p>
        </p:txBody>
      </p:sp>
    </p:spTree>
    <p:extLst>
      <p:ext uri="{BB962C8B-B14F-4D97-AF65-F5344CB8AC3E}">
        <p14:creationId xmlns:p14="http://schemas.microsoft.com/office/powerpoint/2010/main" val="161946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D303-F554-55D9-90C3-3308FAF2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0AAFB-E423-4218-A797-4F937D876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생성 이미지로 복제 인스턴스 생성</a:t>
            </a:r>
            <a:r>
              <a:rPr lang="en-US" altLang="ko-KR"/>
              <a:t>(2)</a:t>
            </a:r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B3E6D8A-F46D-863E-9B20-93A1475FD232}"/>
              </a:ext>
            </a:extLst>
          </p:cNvPr>
          <p:cNvGrpSpPr/>
          <p:nvPr/>
        </p:nvGrpSpPr>
        <p:grpSpPr>
          <a:xfrm>
            <a:off x="418770" y="3514166"/>
            <a:ext cx="6358548" cy="1174377"/>
            <a:chOff x="418770" y="3514166"/>
            <a:chExt cx="6358548" cy="117437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991CAC1-7734-BB8D-EBFC-40827D799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8770" y="3514166"/>
              <a:ext cx="5865396" cy="117437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8A5058-AF2C-D76E-261C-A16B7603037B}"/>
                </a:ext>
              </a:extLst>
            </p:cNvPr>
            <p:cNvSpPr txBox="1"/>
            <p:nvPr/>
          </p:nvSpPr>
          <p:spPr>
            <a:xfrm>
              <a:off x="2187388" y="3576918"/>
              <a:ext cx="45899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jscode-server</a:t>
              </a:r>
              <a:r>
                <a:rPr lang="ko-KR" altLang="en-US" sz="1400"/>
                <a:t>와 동일한 인스턴스 유형 선택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17F535C-605F-D4A8-BB9E-C06C13361C9B}"/>
                </a:ext>
              </a:extLst>
            </p:cNvPr>
            <p:cNvSpPr/>
            <p:nvPr/>
          </p:nvSpPr>
          <p:spPr>
            <a:xfrm>
              <a:off x="495946" y="3967566"/>
              <a:ext cx="4788976" cy="5424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64445C7-7A68-B4DC-F474-880346284FC3}"/>
              </a:ext>
            </a:extLst>
          </p:cNvPr>
          <p:cNvGrpSpPr/>
          <p:nvPr/>
        </p:nvGrpSpPr>
        <p:grpSpPr>
          <a:xfrm>
            <a:off x="418770" y="4934694"/>
            <a:ext cx="5677230" cy="968469"/>
            <a:chOff x="418770" y="4934694"/>
            <a:chExt cx="5677230" cy="968469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F2E127B-1B1A-8498-7B68-9E3029224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8770" y="4934694"/>
              <a:ext cx="5677230" cy="96846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255DEB4-D550-367E-39E0-13C2301148BF}"/>
                </a:ext>
              </a:extLst>
            </p:cNvPr>
            <p:cNvSpPr/>
            <p:nvPr/>
          </p:nvSpPr>
          <p:spPr>
            <a:xfrm>
              <a:off x="495946" y="5501898"/>
              <a:ext cx="4440264" cy="4012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E82E17A-06D9-8E28-D7CC-AC6B785C443C}"/>
              </a:ext>
            </a:extLst>
          </p:cNvPr>
          <p:cNvGrpSpPr/>
          <p:nvPr/>
        </p:nvGrpSpPr>
        <p:grpSpPr>
          <a:xfrm>
            <a:off x="418770" y="1969850"/>
            <a:ext cx="5845798" cy="1373985"/>
            <a:chOff x="418770" y="1969850"/>
            <a:chExt cx="5845798" cy="137398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804769D-6FBD-8EC6-0E55-2752666A8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770" y="1969850"/>
              <a:ext cx="5845798" cy="137398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08197A3-36E3-9EFC-CA7F-2684D042B924}"/>
                </a:ext>
              </a:extLst>
            </p:cNvPr>
            <p:cNvSpPr/>
            <p:nvPr/>
          </p:nvSpPr>
          <p:spPr>
            <a:xfrm>
              <a:off x="495946" y="2783373"/>
              <a:ext cx="4440264" cy="4012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5BD791-4E67-3B3C-C0A2-68CDBA02B73A}"/>
              </a:ext>
            </a:extLst>
          </p:cNvPr>
          <p:cNvGrpSpPr/>
          <p:nvPr/>
        </p:nvGrpSpPr>
        <p:grpSpPr>
          <a:xfrm>
            <a:off x="6427777" y="1969850"/>
            <a:ext cx="4727903" cy="4032826"/>
            <a:chOff x="6427777" y="1969850"/>
            <a:chExt cx="4727903" cy="4032826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4284A4B-4E7E-8CCA-650E-15B319393B12}"/>
                </a:ext>
              </a:extLst>
            </p:cNvPr>
            <p:cNvGrpSpPr/>
            <p:nvPr/>
          </p:nvGrpSpPr>
          <p:grpSpPr>
            <a:xfrm>
              <a:off x="6427777" y="1969850"/>
              <a:ext cx="4727903" cy="4032826"/>
              <a:chOff x="6427777" y="1969850"/>
              <a:chExt cx="4727903" cy="4032826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B61D0D88-246A-1F29-D060-1801CE025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27777" y="1969850"/>
                <a:ext cx="4727903" cy="4032826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22741DE-1BDC-AA4D-CE28-678D8868A5BA}"/>
                  </a:ext>
                </a:extLst>
              </p:cNvPr>
              <p:cNvSpPr/>
              <p:nvPr/>
            </p:nvSpPr>
            <p:spPr>
              <a:xfrm>
                <a:off x="6447375" y="4417011"/>
                <a:ext cx="2282270" cy="38745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D4E522D-E47D-D920-5DA9-A62B26619243}"/>
                </a:ext>
              </a:extLst>
            </p:cNvPr>
            <p:cNvSpPr/>
            <p:nvPr/>
          </p:nvSpPr>
          <p:spPr>
            <a:xfrm>
              <a:off x="6427777" y="5114441"/>
              <a:ext cx="2282270" cy="3874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01423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0FB59-BE65-21E6-FB1D-44BA6E959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생성 이미지로 복제 인스턴스 생성</a:t>
            </a:r>
            <a:r>
              <a:rPr lang="en-US" altLang="ko-KR"/>
              <a:t>(3)</a:t>
            </a:r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5B868F-BF2C-C2DA-F00E-C21692A5103F}"/>
              </a:ext>
            </a:extLst>
          </p:cNvPr>
          <p:cNvGrpSpPr/>
          <p:nvPr/>
        </p:nvGrpSpPr>
        <p:grpSpPr>
          <a:xfrm>
            <a:off x="765851" y="1869923"/>
            <a:ext cx="5477121" cy="1985963"/>
            <a:chOff x="765851" y="1869923"/>
            <a:chExt cx="5477121" cy="1985963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102E5BD-964D-E9B3-2F0C-552B17CB49A8}"/>
                </a:ext>
              </a:extLst>
            </p:cNvPr>
            <p:cNvGrpSpPr/>
            <p:nvPr/>
          </p:nvGrpSpPr>
          <p:grpSpPr>
            <a:xfrm>
              <a:off x="765851" y="1869923"/>
              <a:ext cx="5477121" cy="1334318"/>
              <a:chOff x="765851" y="1869923"/>
              <a:chExt cx="5477121" cy="1334318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7DE6099A-145A-EA06-0B46-8087FC642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5851" y="1869923"/>
                <a:ext cx="2095792" cy="371527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EF38E45D-2DC3-8DC1-2AA3-E5631B876D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851" y="2389005"/>
                <a:ext cx="5477121" cy="815236"/>
              </a:xfrm>
              <a:prstGeom prst="rect">
                <a:avLst/>
              </a:prstGeom>
            </p:spPr>
          </p:pic>
        </p:grp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7882FF5-AB56-8E09-BA57-85EA77463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178"/>
            <a:stretch>
              <a:fillRect/>
            </a:stretch>
          </p:blipFill>
          <p:spPr>
            <a:xfrm>
              <a:off x="765851" y="3303359"/>
              <a:ext cx="1422253" cy="552527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CEC7639E-9F11-71BF-15EF-79EBA3B1B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51" y="4183975"/>
            <a:ext cx="5165510" cy="232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77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2CFBA-A1C8-FA49-5002-D4348A51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복제 인스턴스 설정</a:t>
            </a:r>
            <a:r>
              <a:rPr lang="en-US" altLang="ko-KR" sz="3600"/>
              <a:t>(</a:t>
            </a:r>
            <a:r>
              <a:rPr lang="ko-KR" altLang="en-US" sz="3600"/>
              <a:t>프로그램 실행</a:t>
            </a:r>
            <a:r>
              <a:rPr lang="en-US" altLang="ko-KR" sz="3600"/>
              <a:t>)</a:t>
            </a:r>
            <a:r>
              <a:rPr lang="ko-KR" altLang="en-US" sz="3600"/>
              <a:t>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0AA2382-BE64-A64D-A91D-DA5645EA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45" y="1866494"/>
            <a:ext cx="3458058" cy="64779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27191BE-1A3B-75F4-F3EA-A7EBE3800BF6}"/>
              </a:ext>
            </a:extLst>
          </p:cNvPr>
          <p:cNvGrpSpPr/>
          <p:nvPr/>
        </p:nvGrpSpPr>
        <p:grpSpPr>
          <a:xfrm>
            <a:off x="643180" y="2870055"/>
            <a:ext cx="6859285" cy="2366031"/>
            <a:chOff x="643180" y="2870055"/>
            <a:chExt cx="6859285" cy="236603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1101132-4E5E-9B0C-0EFE-4A56D0ADDCB4}"/>
                </a:ext>
              </a:extLst>
            </p:cNvPr>
            <p:cNvGrpSpPr/>
            <p:nvPr/>
          </p:nvGrpSpPr>
          <p:grpSpPr>
            <a:xfrm>
              <a:off x="715545" y="3274073"/>
              <a:ext cx="6786920" cy="1962013"/>
              <a:chOff x="715545" y="2801375"/>
              <a:chExt cx="6786920" cy="1962013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CEB2E8-D545-867B-F095-185019824C97}"/>
                  </a:ext>
                </a:extLst>
              </p:cNvPr>
              <p:cNvSpPr txBox="1"/>
              <p:nvPr/>
            </p:nvSpPr>
            <p:spPr>
              <a:xfrm>
                <a:off x="715545" y="4486389"/>
                <a:ext cx="5350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sudo nohup java -jar jscode-0.0.1-SNAPSHOT.jar &amp;</a:t>
                </a:r>
                <a:endParaRPr lang="ko-KR" altLang="en-US" sz="1200"/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216812E1-0395-4CED-8A45-AFB2F462C620}"/>
                  </a:ext>
                </a:extLst>
              </p:cNvPr>
              <p:cNvGrpSpPr/>
              <p:nvPr/>
            </p:nvGrpSpPr>
            <p:grpSpPr>
              <a:xfrm>
                <a:off x="715545" y="2801375"/>
                <a:ext cx="6786920" cy="1615642"/>
                <a:chOff x="715545" y="2801375"/>
                <a:chExt cx="6786920" cy="1615642"/>
              </a:xfrm>
            </p:grpSpPr>
            <p:pic>
              <p:nvPicPr>
                <p:cNvPr id="12" name="그림 11">
                  <a:extLst>
                    <a:ext uri="{FF2B5EF4-FFF2-40B4-BE49-F238E27FC236}">
                      <a16:creationId xmlns:a16="http://schemas.microsoft.com/office/drawing/2014/main" id="{C835A829-BFD1-6953-428A-69C80C5A1A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5545" y="2801375"/>
                  <a:ext cx="5350058" cy="1123372"/>
                </a:xfrm>
                <a:prstGeom prst="rect">
                  <a:avLst/>
                </a:prstGeom>
              </p:spPr>
            </p:pic>
            <p:pic>
              <p:nvPicPr>
                <p:cNvPr id="19" name="그림 18">
                  <a:extLst>
                    <a:ext uri="{FF2B5EF4-FFF2-40B4-BE49-F238E27FC236}">
                      <a16:creationId xmlns:a16="http://schemas.microsoft.com/office/drawing/2014/main" id="{D1E7D979-C354-030C-091D-A2E359FF3D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5545" y="3924736"/>
                  <a:ext cx="6786920" cy="492281"/>
                </a:xfrm>
                <a:prstGeom prst="rect">
                  <a:avLst/>
                </a:prstGeom>
              </p:spPr>
            </p:pic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D59B366-8459-33FF-1502-6E2271CE9BF3}"/>
                </a:ext>
              </a:extLst>
            </p:cNvPr>
            <p:cNvSpPr txBox="1"/>
            <p:nvPr/>
          </p:nvSpPr>
          <p:spPr>
            <a:xfrm>
              <a:off x="643180" y="2870055"/>
              <a:ext cx="50989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>
                  <a:solidFill>
                    <a:srgbClr val="00B050"/>
                  </a:solidFill>
                </a:rPr>
                <a:t>복제 인스턴스 내 애플리케이션 </a:t>
              </a:r>
              <a:r>
                <a:rPr lang="en-US" altLang="ko-KR" sz="1600" b="1">
                  <a:solidFill>
                    <a:srgbClr val="00B050"/>
                  </a:solidFill>
                </a:rPr>
                <a:t>Back Ground </a:t>
              </a:r>
              <a:r>
                <a:rPr lang="ko-KR" altLang="en-US" sz="1600" b="1">
                  <a:solidFill>
                    <a:srgbClr val="00B050"/>
                  </a:solidFill>
                </a:rPr>
                <a:t>실행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DC86A65-7A7E-6AD6-45FF-AA2425FFBD25}"/>
              </a:ext>
            </a:extLst>
          </p:cNvPr>
          <p:cNvGrpSpPr/>
          <p:nvPr/>
        </p:nvGrpSpPr>
        <p:grpSpPr>
          <a:xfrm>
            <a:off x="7661938" y="1955879"/>
            <a:ext cx="3558835" cy="1562235"/>
            <a:chOff x="8018399" y="1970413"/>
            <a:chExt cx="3259877" cy="142949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DC8A2FB0-E575-0DE9-6C6E-3CAB66608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439" r="-1"/>
            <a:stretch>
              <a:fillRect/>
            </a:stretch>
          </p:blipFill>
          <p:spPr>
            <a:xfrm>
              <a:off x="8018399" y="1970413"/>
              <a:ext cx="3259877" cy="108774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448FCE-042A-7212-418D-93A2538AA691}"/>
                </a:ext>
              </a:extLst>
            </p:cNvPr>
            <p:cNvSpPr txBox="1"/>
            <p:nvPr/>
          </p:nvSpPr>
          <p:spPr>
            <a:xfrm>
              <a:off x="8018399" y="3122908"/>
              <a:ext cx="31372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애플리케이션 정상동작 브라우저 확인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1868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9470F-5710-CC54-52F8-514F744D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복제 인스턴스 </a:t>
            </a:r>
            <a:r>
              <a:rPr lang="en-US" altLang="ko-KR" sz="3600"/>
              <a:t>CLI</a:t>
            </a:r>
            <a:r>
              <a:rPr lang="ko-KR" altLang="en-US" sz="3600"/>
              <a:t>설정 </a:t>
            </a:r>
            <a:r>
              <a:rPr lang="en-US" altLang="ko-KR" sz="3600"/>
              <a:t>(</a:t>
            </a:r>
            <a:r>
              <a:rPr lang="ko-KR" altLang="en-US" sz="3600"/>
              <a:t>프로그램 실행</a:t>
            </a:r>
            <a:r>
              <a:rPr lang="en-US" altLang="ko-KR" sz="3600"/>
              <a:t>)</a:t>
            </a:r>
            <a:r>
              <a:rPr lang="ko-KR" altLang="en-US" sz="36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FD99F-C54F-4455-71F9-3BAC68516242}"/>
              </a:ext>
            </a:extLst>
          </p:cNvPr>
          <p:cNvSpPr txBox="1"/>
          <p:nvPr/>
        </p:nvSpPr>
        <p:spPr>
          <a:xfrm>
            <a:off x="69028" y="2551713"/>
            <a:ext cx="106945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sudo /opt/aws/amazon-cloudwatch-agent/bin/amazon-cloudwatch-agent-ctl -a fetch-config -m ec2 -s -c file:/opt/aws/amazon-cloudwatch-agent/bin/config.json</a:t>
            </a:r>
            <a:endParaRPr lang="en-US" altLang="ko-KR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8650CA-E1FB-3D41-5DCE-09D3DA926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8" y="2125480"/>
            <a:ext cx="12053943" cy="3857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5A11421-8E81-A166-8855-FB955C2DA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83" y="3342327"/>
            <a:ext cx="11286064" cy="1103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3D218-B1E1-9B7E-04E2-6B435D9CC5FE}"/>
              </a:ext>
            </a:extLst>
          </p:cNvPr>
          <p:cNvSpPr txBox="1"/>
          <p:nvPr/>
        </p:nvSpPr>
        <p:spPr>
          <a:xfrm>
            <a:off x="69028" y="2880662"/>
            <a:ext cx="9686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solidFill>
                  <a:srgbClr val="00B050"/>
                </a:solidFill>
              </a:rPr>
              <a:t>cloudwatch </a:t>
            </a:r>
            <a:r>
              <a:rPr lang="ko-KR" altLang="en-US" sz="1200" b="1">
                <a:solidFill>
                  <a:srgbClr val="00B050"/>
                </a:solidFill>
              </a:rPr>
              <a:t>동작 확인 명령어</a:t>
            </a:r>
            <a:endParaRPr lang="en-US" altLang="ko-KR" sz="1800" b="1">
              <a:solidFill>
                <a:srgbClr val="00B050"/>
              </a:solidFill>
            </a:endParaRPr>
          </a:p>
          <a:p>
            <a:r>
              <a:rPr lang="en-US" altLang="ko-KR" sz="1200"/>
              <a:t>  sudo /opt/aws/amazon-cloudwatch-agent/bin/amazon-cloudwatch-agent-ctl -m ec2 -a status</a:t>
            </a:r>
            <a:endParaRPr lang="ko-KR" altLang="en-US" sz="1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9BCB91-A6A7-C82E-E043-2623AE219822}"/>
              </a:ext>
            </a:extLst>
          </p:cNvPr>
          <p:cNvSpPr txBox="1"/>
          <p:nvPr/>
        </p:nvSpPr>
        <p:spPr>
          <a:xfrm>
            <a:off x="112939" y="1804462"/>
            <a:ext cx="8955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solidFill>
                  <a:srgbClr val="00B050"/>
                </a:solidFill>
              </a:rPr>
              <a:t>CPU</a:t>
            </a:r>
            <a:r>
              <a:rPr lang="ko-KR" altLang="en-US" sz="1200" b="1">
                <a:solidFill>
                  <a:srgbClr val="00B050"/>
                </a:solidFill>
              </a:rPr>
              <a:t>와 </a:t>
            </a:r>
            <a:r>
              <a:rPr lang="en-US" altLang="ko-KR" sz="1200" b="1">
                <a:solidFill>
                  <a:srgbClr val="00B050"/>
                </a:solidFill>
              </a:rPr>
              <a:t>MEM </a:t>
            </a:r>
            <a:r>
              <a:rPr lang="ko-KR" altLang="en-US" sz="1200" b="1">
                <a:solidFill>
                  <a:srgbClr val="00B050"/>
                </a:solidFill>
              </a:rPr>
              <a:t>모니터링을 위한 </a:t>
            </a:r>
            <a:r>
              <a:rPr lang="en-US" altLang="ko-KR" sz="1200" b="1">
                <a:solidFill>
                  <a:srgbClr val="00B050"/>
                </a:solidFill>
              </a:rPr>
              <a:t>AWS-CloudeWatch-Agent </a:t>
            </a:r>
            <a:r>
              <a:rPr lang="ko-KR" altLang="en-US" sz="1200" b="1">
                <a:solidFill>
                  <a:srgbClr val="00B050"/>
                </a:solidFill>
              </a:rPr>
              <a:t>프로그램 실행</a:t>
            </a:r>
            <a:endParaRPr lang="en-US" altLang="ko-KR" sz="1200" b="1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54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68DC6-0B5F-F1DB-F656-EDEB9249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복제 인스턴스 역할 설정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39E1779-7E5E-B977-DC04-7BD4B52DA27A}"/>
              </a:ext>
            </a:extLst>
          </p:cNvPr>
          <p:cNvGrpSpPr/>
          <p:nvPr/>
        </p:nvGrpSpPr>
        <p:grpSpPr>
          <a:xfrm>
            <a:off x="247973" y="1737360"/>
            <a:ext cx="9998990" cy="2541473"/>
            <a:chOff x="247973" y="1737360"/>
            <a:chExt cx="9998990" cy="254147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A5C6F8B-EFD1-8347-24D8-BCEC6502DB63}"/>
                </a:ext>
              </a:extLst>
            </p:cNvPr>
            <p:cNvGrpSpPr/>
            <p:nvPr/>
          </p:nvGrpSpPr>
          <p:grpSpPr>
            <a:xfrm>
              <a:off x="247973" y="1737360"/>
              <a:ext cx="9998990" cy="2541473"/>
              <a:chOff x="247973" y="1737360"/>
              <a:chExt cx="9998990" cy="2541473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3623815F-0A64-9B2A-6176-97F39BDA0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7973" y="1737360"/>
                <a:ext cx="9998990" cy="2541473"/>
              </a:xfrm>
              <a:prstGeom prst="rect">
                <a:avLst/>
              </a:prstGeom>
            </p:spPr>
          </p:pic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A18BFBC0-7013-FFE6-B7D0-F163F58AEA37}"/>
                  </a:ext>
                </a:extLst>
              </p:cNvPr>
              <p:cNvSpPr/>
              <p:nvPr/>
            </p:nvSpPr>
            <p:spPr>
              <a:xfrm>
                <a:off x="348712" y="3355384"/>
                <a:ext cx="263471" cy="27897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A2C7B311-2F29-D103-F66A-465419F59723}"/>
                  </a:ext>
                </a:extLst>
              </p:cNvPr>
              <p:cNvSpPr/>
              <p:nvPr/>
            </p:nvSpPr>
            <p:spPr>
              <a:xfrm>
                <a:off x="8555064" y="1890793"/>
                <a:ext cx="736170" cy="3332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42F32EE8-4D3C-60B5-5E6D-DED8557E4DC4}"/>
                  </a:ext>
                </a:extLst>
              </p:cNvPr>
              <p:cNvCxnSpPr>
                <a:stCxn id="3" idx="3"/>
                <a:endCxn id="5" idx="1"/>
              </p:cNvCxnSpPr>
              <p:nvPr/>
            </p:nvCxnSpPr>
            <p:spPr>
              <a:xfrm flipV="1">
                <a:off x="612183" y="2057400"/>
                <a:ext cx="7942881" cy="143746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FBBA157-DDB7-1D8A-0814-B56107F325D9}"/>
                </a:ext>
              </a:extLst>
            </p:cNvPr>
            <p:cNvSpPr/>
            <p:nvPr/>
          </p:nvSpPr>
          <p:spPr>
            <a:xfrm>
              <a:off x="7067227" y="3155567"/>
              <a:ext cx="3179736" cy="1998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4382BB-7E6D-9170-B7BB-69D5A5400513}"/>
              </a:ext>
            </a:extLst>
          </p:cNvPr>
          <p:cNvGrpSpPr/>
          <p:nvPr/>
        </p:nvGrpSpPr>
        <p:grpSpPr>
          <a:xfrm>
            <a:off x="247973" y="4176810"/>
            <a:ext cx="8758829" cy="2067166"/>
            <a:chOff x="162732" y="4445440"/>
            <a:chExt cx="8758829" cy="206716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C1B72BA-5D48-F6C6-FC4B-4B51DBC16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7822" y="5434510"/>
              <a:ext cx="1533739" cy="485843"/>
            </a:xfrm>
            <a:prstGeom prst="rect">
              <a:avLst/>
            </a:prstGeom>
          </p:spPr>
        </p:pic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76EB250-DF81-6D5B-7BCA-7E5103F0E10E}"/>
                </a:ext>
              </a:extLst>
            </p:cNvPr>
            <p:cNvGrpSpPr/>
            <p:nvPr/>
          </p:nvGrpSpPr>
          <p:grpSpPr>
            <a:xfrm>
              <a:off x="162732" y="4445440"/>
              <a:ext cx="6207371" cy="2067166"/>
              <a:chOff x="162732" y="4445440"/>
              <a:chExt cx="6207371" cy="2067166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C7A94BAF-6848-3710-0B8E-1680283E09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732" y="4445440"/>
                <a:ext cx="6207371" cy="2067166"/>
              </a:xfrm>
              <a:prstGeom prst="rect">
                <a:avLst/>
              </a:prstGeom>
            </p:spPr>
          </p:pic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36CF99B-AE25-16B1-594E-9B1E3F926374}"/>
                  </a:ext>
                </a:extLst>
              </p:cNvPr>
              <p:cNvSpPr/>
              <p:nvPr/>
            </p:nvSpPr>
            <p:spPr>
              <a:xfrm>
                <a:off x="348712" y="5920353"/>
                <a:ext cx="5990095" cy="31771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1E3920E-B4AC-B516-9BC5-C22719FCF8DA}"/>
                </a:ext>
              </a:extLst>
            </p:cNvPr>
            <p:cNvSpPr/>
            <p:nvPr/>
          </p:nvSpPr>
          <p:spPr>
            <a:xfrm>
              <a:off x="7387822" y="5514079"/>
              <a:ext cx="1476911" cy="4062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DC9D19F-57E7-0656-B565-C8DA378B05A7}"/>
                </a:ext>
              </a:extLst>
            </p:cNvPr>
            <p:cNvCxnSpPr>
              <a:endCxn id="15" idx="1"/>
            </p:cNvCxnSpPr>
            <p:nvPr/>
          </p:nvCxnSpPr>
          <p:spPr>
            <a:xfrm flipV="1">
              <a:off x="6338807" y="5717216"/>
              <a:ext cx="1049015" cy="36199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7070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A56A0406-1F6A-2153-8F70-DA4BC910D36E}"/>
              </a:ext>
            </a:extLst>
          </p:cNvPr>
          <p:cNvGrpSpPr/>
          <p:nvPr/>
        </p:nvGrpSpPr>
        <p:grpSpPr>
          <a:xfrm>
            <a:off x="293951" y="210261"/>
            <a:ext cx="11508265" cy="6437478"/>
            <a:chOff x="293951" y="210261"/>
            <a:chExt cx="11508265" cy="6437478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7AC7C8E-0BDC-EFFA-0E3B-D6A9E8E6CE5C}"/>
                </a:ext>
              </a:extLst>
            </p:cNvPr>
            <p:cNvGrpSpPr/>
            <p:nvPr/>
          </p:nvGrpSpPr>
          <p:grpSpPr>
            <a:xfrm>
              <a:off x="293951" y="210261"/>
              <a:ext cx="11508265" cy="6437478"/>
              <a:chOff x="293951" y="210261"/>
              <a:chExt cx="11508265" cy="6437478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4150EC9B-C048-6F05-5C91-24641A8BFE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54056" y="3203297"/>
                <a:ext cx="9648160" cy="1663979"/>
              </a:xfrm>
              <a:prstGeom prst="rect">
                <a:avLst/>
              </a:prstGeom>
            </p:spPr>
          </p:pic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0D23F998-699E-AC46-4304-E827CEDF8C20}"/>
                  </a:ext>
                </a:extLst>
              </p:cNvPr>
              <p:cNvGrpSpPr/>
              <p:nvPr/>
            </p:nvGrpSpPr>
            <p:grpSpPr>
              <a:xfrm>
                <a:off x="293951" y="210261"/>
                <a:ext cx="6869316" cy="6437478"/>
                <a:chOff x="293951" y="210261"/>
                <a:chExt cx="6869316" cy="6437478"/>
              </a:xfrm>
            </p:grpSpPr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448C9DF2-324B-CF85-8D35-A191C1ABB43F}"/>
                    </a:ext>
                  </a:extLst>
                </p:cNvPr>
                <p:cNvGrpSpPr/>
                <p:nvPr/>
              </p:nvGrpSpPr>
              <p:grpSpPr>
                <a:xfrm>
                  <a:off x="2102152" y="210261"/>
                  <a:ext cx="5061115" cy="2807936"/>
                  <a:chOff x="2102152" y="210261"/>
                  <a:chExt cx="5061115" cy="2807936"/>
                </a:xfrm>
              </p:grpSpPr>
              <p:grpSp>
                <p:nvGrpSpPr>
                  <p:cNvPr id="15" name="그룹 14">
                    <a:extLst>
                      <a:ext uri="{FF2B5EF4-FFF2-40B4-BE49-F238E27FC236}">
                        <a16:creationId xmlns:a16="http://schemas.microsoft.com/office/drawing/2014/main" id="{A390D8FE-B0BD-663C-4DBA-55F6F2868270}"/>
                      </a:ext>
                    </a:extLst>
                  </p:cNvPr>
                  <p:cNvGrpSpPr/>
                  <p:nvPr/>
                </p:nvGrpSpPr>
                <p:grpSpPr>
                  <a:xfrm>
                    <a:off x="2193702" y="1223433"/>
                    <a:ext cx="4969565" cy="1794764"/>
                    <a:chOff x="2193702" y="1223433"/>
                    <a:chExt cx="4969565" cy="1794764"/>
                  </a:xfrm>
                </p:grpSpPr>
                <p:pic>
                  <p:nvPicPr>
                    <p:cNvPr id="13" name="그림 12">
                      <a:extLst>
                        <a:ext uri="{FF2B5EF4-FFF2-40B4-BE49-F238E27FC236}">
                          <a16:creationId xmlns:a16="http://schemas.microsoft.com/office/drawing/2014/main" id="{0183A7D5-5B87-0CC3-F997-EC1BBE3C178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2193702" y="1223433"/>
                      <a:ext cx="4969565" cy="179476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4" name="직사각형 13">
                      <a:extLst>
                        <a:ext uri="{FF2B5EF4-FFF2-40B4-BE49-F238E27FC236}">
                          <a16:creationId xmlns:a16="http://schemas.microsoft.com/office/drawing/2014/main" id="{2BBA0574-BF38-CF4F-612C-062949726C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8532" y="2552369"/>
                      <a:ext cx="1399430" cy="286247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grpSp>
                <p:nvGrpSpPr>
                  <p:cNvPr id="12" name="그룹 11">
                    <a:extLst>
                      <a:ext uri="{FF2B5EF4-FFF2-40B4-BE49-F238E27FC236}">
                        <a16:creationId xmlns:a16="http://schemas.microsoft.com/office/drawing/2014/main" id="{6B2C84F8-61B3-6D0D-F704-CA6229A7C4FD}"/>
                      </a:ext>
                    </a:extLst>
                  </p:cNvPr>
                  <p:cNvGrpSpPr/>
                  <p:nvPr/>
                </p:nvGrpSpPr>
                <p:grpSpPr>
                  <a:xfrm>
                    <a:off x="2102152" y="210261"/>
                    <a:ext cx="4601217" cy="914528"/>
                    <a:chOff x="2102152" y="210261"/>
                    <a:chExt cx="4601217" cy="914528"/>
                  </a:xfrm>
                </p:grpSpPr>
                <p:pic>
                  <p:nvPicPr>
                    <p:cNvPr id="6" name="그림 5">
                      <a:extLst>
                        <a:ext uri="{FF2B5EF4-FFF2-40B4-BE49-F238E27FC236}">
                          <a16:creationId xmlns:a16="http://schemas.microsoft.com/office/drawing/2014/main" id="{AE8708C7-9D7B-FBAD-EC4D-29BC6EDDB74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2102152" y="210261"/>
                      <a:ext cx="4601217" cy="9145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7" name="직사각형 6">
                      <a:extLst>
                        <a:ext uri="{FF2B5EF4-FFF2-40B4-BE49-F238E27FC236}">
                          <a16:creationId xmlns:a16="http://schemas.microsoft.com/office/drawing/2014/main" id="{ED923EE5-57F1-919E-B26F-49A9DCA32E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76223" y="675861"/>
                      <a:ext cx="787179" cy="278296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cxnSp>
                <p:nvCxnSpPr>
                  <p:cNvPr id="17" name="직선 화살표 연결선 16">
                    <a:extLst>
                      <a:ext uri="{FF2B5EF4-FFF2-40B4-BE49-F238E27FC236}">
                        <a16:creationId xmlns:a16="http://schemas.microsoft.com/office/drawing/2014/main" id="{1A1E0654-3721-4C99-61CD-62D1CB29245E}"/>
                      </a:ext>
                    </a:extLst>
                  </p:cNvPr>
                  <p:cNvCxnSpPr>
                    <a:stCxn id="7" idx="2"/>
                    <a:endCxn id="14" idx="0"/>
                  </p:cNvCxnSpPr>
                  <p:nvPr/>
                </p:nvCxnSpPr>
                <p:spPr>
                  <a:xfrm>
                    <a:off x="2969813" y="954157"/>
                    <a:ext cx="1888434" cy="1598212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44D5606-180E-A4C0-3433-9773A5ED5637}"/>
                    </a:ext>
                  </a:extLst>
                </p:cNvPr>
                <p:cNvGrpSpPr/>
                <p:nvPr/>
              </p:nvGrpSpPr>
              <p:grpSpPr>
                <a:xfrm>
                  <a:off x="293951" y="210261"/>
                  <a:ext cx="2282272" cy="6437478"/>
                  <a:chOff x="293951" y="210261"/>
                  <a:chExt cx="2282272" cy="6437478"/>
                </a:xfrm>
              </p:grpSpPr>
              <p:grpSp>
                <p:nvGrpSpPr>
                  <p:cNvPr id="4" name="그룹 3">
                    <a:extLst>
                      <a:ext uri="{FF2B5EF4-FFF2-40B4-BE49-F238E27FC236}">
                        <a16:creationId xmlns:a16="http://schemas.microsoft.com/office/drawing/2014/main" id="{99F93D5B-7C87-3D29-31FD-F0AC287FBFA7}"/>
                      </a:ext>
                    </a:extLst>
                  </p:cNvPr>
                  <p:cNvGrpSpPr/>
                  <p:nvPr/>
                </p:nvGrpSpPr>
                <p:grpSpPr>
                  <a:xfrm>
                    <a:off x="293951" y="210261"/>
                    <a:ext cx="1550139" cy="6437478"/>
                    <a:chOff x="293951" y="210261"/>
                    <a:chExt cx="1550139" cy="6437478"/>
                  </a:xfrm>
                </p:grpSpPr>
                <p:pic>
                  <p:nvPicPr>
                    <p:cNvPr id="2" name="그림 1">
                      <a:extLst>
                        <a:ext uri="{FF2B5EF4-FFF2-40B4-BE49-F238E27FC236}">
                          <a16:creationId xmlns:a16="http://schemas.microsoft.com/office/drawing/2014/main" id="{2635D290-6ADB-D2A2-B055-7E9C404CFF4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293951" y="210261"/>
                      <a:ext cx="1550139" cy="6437478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</p:spPr>
                </p:pic>
                <p:sp>
                  <p:nvSpPr>
                    <p:cNvPr id="3" name="직사각형 2">
                      <a:extLst>
                        <a:ext uri="{FF2B5EF4-FFF2-40B4-BE49-F238E27FC236}">
                          <a16:creationId xmlns:a16="http://schemas.microsoft.com/office/drawing/2014/main" id="{302C858C-F762-7751-5878-B9AD1BF560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8712" y="5556142"/>
                      <a:ext cx="619932" cy="185980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cxnSp>
                <p:nvCxnSpPr>
                  <p:cNvPr id="9" name="직선 화살표 연결선 8">
                    <a:extLst>
                      <a:ext uri="{FF2B5EF4-FFF2-40B4-BE49-F238E27FC236}">
                        <a16:creationId xmlns:a16="http://schemas.microsoft.com/office/drawing/2014/main" id="{0BF93130-DAB1-9056-E2F9-F661E5FE160E}"/>
                      </a:ext>
                    </a:extLst>
                  </p:cNvPr>
                  <p:cNvCxnSpPr>
                    <a:cxnSpLocks/>
                    <a:stCxn id="3" idx="0"/>
                    <a:endCxn id="7" idx="1"/>
                  </p:cNvCxnSpPr>
                  <p:nvPr/>
                </p:nvCxnSpPr>
                <p:spPr>
                  <a:xfrm flipV="1">
                    <a:off x="658678" y="815009"/>
                    <a:ext cx="1917545" cy="4741133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07C7D449-3407-6A61-224F-0AF9BF269664}"/>
                  </a:ext>
                </a:extLst>
              </p:cNvPr>
              <p:cNvCxnSpPr>
                <a:stCxn id="14" idx="3"/>
                <a:endCxn id="20" idx="1"/>
              </p:cNvCxnSpPr>
              <p:nvPr/>
            </p:nvCxnSpPr>
            <p:spPr>
              <a:xfrm>
                <a:off x="5557962" y="2695493"/>
                <a:ext cx="5470497" cy="65850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BDBF023-9E1A-931A-3C3D-A09834983CE5}"/>
                </a:ext>
              </a:extLst>
            </p:cNvPr>
            <p:cNvSpPr/>
            <p:nvPr/>
          </p:nvSpPr>
          <p:spPr>
            <a:xfrm>
              <a:off x="11028459" y="3185575"/>
              <a:ext cx="731520" cy="3368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281E3B8-CCFB-67B7-145C-C7666A8B2B16}"/>
              </a:ext>
            </a:extLst>
          </p:cNvPr>
          <p:cNvGrpSpPr/>
          <p:nvPr/>
        </p:nvGrpSpPr>
        <p:grpSpPr>
          <a:xfrm>
            <a:off x="2102152" y="3522428"/>
            <a:ext cx="9292067" cy="3037398"/>
            <a:chOff x="2102152" y="3522428"/>
            <a:chExt cx="9292067" cy="3037398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2D4B8C5-A90F-9895-2081-A6C922343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02152" y="5052376"/>
              <a:ext cx="8687092" cy="1507450"/>
            </a:xfrm>
            <a:prstGeom prst="rect">
              <a:avLst/>
            </a:prstGeom>
          </p:spPr>
        </p:pic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39A4FADC-9C1A-9D74-99E4-E1AA6EAD8D74}"/>
                </a:ext>
              </a:extLst>
            </p:cNvPr>
            <p:cNvCxnSpPr>
              <a:cxnSpLocks/>
              <a:stCxn id="20" idx="2"/>
              <a:endCxn id="28" idx="3"/>
            </p:cNvCxnSpPr>
            <p:nvPr/>
          </p:nvCxnSpPr>
          <p:spPr>
            <a:xfrm flipH="1">
              <a:off x="2393343" y="3522428"/>
              <a:ext cx="9000876" cy="23058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DCA9688-BFA8-C9A9-972F-AFE87E4732F3}"/>
                </a:ext>
              </a:extLst>
            </p:cNvPr>
            <p:cNvSpPr/>
            <p:nvPr/>
          </p:nvSpPr>
          <p:spPr>
            <a:xfrm>
              <a:off x="2102152" y="5669280"/>
              <a:ext cx="291191" cy="3180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4303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19E42B5-5B2C-84F2-97B8-A86F88D43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06" y="170275"/>
            <a:ext cx="8687092" cy="15074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60B00AF-D4BA-DA05-EC97-1B613C08F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633" y="1753210"/>
            <a:ext cx="3391373" cy="192431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DAF5137-3D5E-563D-15DC-272C6CB88553}"/>
              </a:ext>
            </a:extLst>
          </p:cNvPr>
          <p:cNvSpPr/>
          <p:nvPr/>
        </p:nvSpPr>
        <p:spPr>
          <a:xfrm>
            <a:off x="297206" y="803082"/>
            <a:ext cx="299142" cy="27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535E538-427B-8955-4FF9-52EB9BE7663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596348" y="938254"/>
            <a:ext cx="2472855" cy="25253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3DE72A-24D2-9C86-88FC-677D7FE03724}"/>
              </a:ext>
            </a:extLst>
          </p:cNvPr>
          <p:cNvSpPr/>
          <p:nvPr/>
        </p:nvSpPr>
        <p:spPr>
          <a:xfrm>
            <a:off x="3069203" y="3249703"/>
            <a:ext cx="2122999" cy="427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6792F0B-C1C4-0798-BC19-50B65A6FADC0}"/>
              </a:ext>
            </a:extLst>
          </p:cNvPr>
          <p:cNvGrpSpPr/>
          <p:nvPr/>
        </p:nvGrpSpPr>
        <p:grpSpPr>
          <a:xfrm>
            <a:off x="448586" y="4162787"/>
            <a:ext cx="11294828" cy="2052809"/>
            <a:chOff x="448586" y="4162787"/>
            <a:chExt cx="11294828" cy="205280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6B15B1B-88E0-8F2C-4E77-873FF8965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586" y="4162787"/>
              <a:ext cx="9487232" cy="1808364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101A7C6-3952-64DF-BBFC-5DAA874982C5}"/>
                </a:ext>
              </a:extLst>
            </p:cNvPr>
            <p:cNvGrpSpPr/>
            <p:nvPr/>
          </p:nvGrpSpPr>
          <p:grpSpPr>
            <a:xfrm>
              <a:off x="10194054" y="5586615"/>
              <a:ext cx="1549360" cy="427825"/>
              <a:chOff x="6871071" y="3249703"/>
              <a:chExt cx="1549360" cy="427825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6099AE00-8E11-DFC1-C4E1-40283B7DBE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1071" y="3249703"/>
                <a:ext cx="1450439" cy="427825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10D33348-0161-E319-501B-47063D076FA1}"/>
                  </a:ext>
                </a:extLst>
              </p:cNvPr>
              <p:cNvSpPr/>
              <p:nvPr/>
            </p:nvSpPr>
            <p:spPr>
              <a:xfrm>
                <a:off x="6891613" y="3315694"/>
                <a:ext cx="1528818" cy="36183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F992404-EAAC-1622-5F11-FCDC38664174}"/>
                </a:ext>
              </a:extLst>
            </p:cNvPr>
            <p:cNvSpPr/>
            <p:nvPr/>
          </p:nvSpPr>
          <p:spPr>
            <a:xfrm>
              <a:off x="683812" y="5317892"/>
              <a:ext cx="9016779" cy="2687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58C63EC-1AF2-29BC-6120-486B2F7B5E39}"/>
                </a:ext>
              </a:extLst>
            </p:cNvPr>
            <p:cNvCxnSpPr>
              <a:stCxn id="19" idx="3"/>
              <a:endCxn id="15" idx="1"/>
            </p:cNvCxnSpPr>
            <p:nvPr/>
          </p:nvCxnSpPr>
          <p:spPr>
            <a:xfrm>
              <a:off x="9700591" y="5452254"/>
              <a:ext cx="514005" cy="3812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A01D0E3-98BC-37B0-D86D-6B0CA4E033E2}"/>
                </a:ext>
              </a:extLst>
            </p:cNvPr>
            <p:cNvSpPr txBox="1"/>
            <p:nvPr/>
          </p:nvSpPr>
          <p:spPr>
            <a:xfrm>
              <a:off x="683812" y="5907819"/>
              <a:ext cx="86669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jscode-server2</a:t>
              </a:r>
              <a:r>
                <a:rPr lang="ko-KR" altLang="en-US" sz="1400"/>
                <a:t>가 로드밸런서 대상에 추가된 걸 확인이후 보류 중인 대상에 등록 버튼 클릭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3377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F97114-0FDC-CCFA-EF9E-AFDC06EA4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82"/>
          <a:stretch>
            <a:fillRect/>
          </a:stretch>
        </p:blipFill>
        <p:spPr>
          <a:xfrm>
            <a:off x="315046" y="2177107"/>
            <a:ext cx="9833760" cy="26781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A3C2D61-1FAC-E574-C579-79FAF12FA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200" y="3735092"/>
            <a:ext cx="4004890" cy="252638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D1C7FF2B-F9E5-C308-2F9B-42C47F385898}"/>
              </a:ext>
            </a:extLst>
          </p:cNvPr>
          <p:cNvGrpSpPr/>
          <p:nvPr/>
        </p:nvGrpSpPr>
        <p:grpSpPr>
          <a:xfrm>
            <a:off x="315046" y="250128"/>
            <a:ext cx="6310583" cy="1617418"/>
            <a:chOff x="315046" y="250128"/>
            <a:chExt cx="6310583" cy="1617418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456F2F52-2105-D458-BA33-C32BF2994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046" y="250128"/>
              <a:ext cx="6310583" cy="161741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6E7C363-7AF0-328D-BC7A-2FCF153CE0E5}"/>
                </a:ext>
              </a:extLst>
            </p:cNvPr>
            <p:cNvSpPr/>
            <p:nvPr/>
          </p:nvSpPr>
          <p:spPr>
            <a:xfrm>
              <a:off x="3944319" y="1270861"/>
              <a:ext cx="2340244" cy="4881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3B4558C-B8D1-2642-A60D-21E47528E1E4}"/>
              </a:ext>
            </a:extLst>
          </p:cNvPr>
          <p:cNvGrpSpPr/>
          <p:nvPr/>
        </p:nvGrpSpPr>
        <p:grpSpPr>
          <a:xfrm>
            <a:off x="2572719" y="1759057"/>
            <a:ext cx="4145796" cy="2975675"/>
            <a:chOff x="2572719" y="1759057"/>
            <a:chExt cx="4145796" cy="297567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AFDC55E-A3C5-BE7C-F2D8-EEFC2706EC3B}"/>
                </a:ext>
              </a:extLst>
            </p:cNvPr>
            <p:cNvSpPr/>
            <p:nvPr/>
          </p:nvSpPr>
          <p:spPr>
            <a:xfrm>
              <a:off x="6183824" y="4541003"/>
              <a:ext cx="534691" cy="1937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F14B2915-DB67-FC49-3B1E-A6BEF6F75520}"/>
                </a:ext>
              </a:extLst>
            </p:cNvPr>
            <p:cNvGrpSpPr/>
            <p:nvPr/>
          </p:nvGrpSpPr>
          <p:grpSpPr>
            <a:xfrm>
              <a:off x="2572719" y="1759057"/>
              <a:ext cx="2541722" cy="1487838"/>
              <a:chOff x="2572719" y="1759057"/>
              <a:chExt cx="2541722" cy="1487838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CB6D0799-FB4A-8628-6C1E-1254133C9BA7}"/>
                  </a:ext>
                </a:extLst>
              </p:cNvPr>
              <p:cNvSpPr/>
              <p:nvPr/>
            </p:nvSpPr>
            <p:spPr>
              <a:xfrm>
                <a:off x="2572719" y="3022169"/>
                <a:ext cx="193728" cy="22472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" name="직선 화살표 연결선 9">
                <a:extLst>
                  <a:ext uri="{FF2B5EF4-FFF2-40B4-BE49-F238E27FC236}">
                    <a16:creationId xmlns:a16="http://schemas.microsoft.com/office/drawing/2014/main" id="{740F65DF-E226-CBC6-A986-A7CE1880AF2F}"/>
                  </a:ext>
                </a:extLst>
              </p:cNvPr>
              <p:cNvCxnSpPr>
                <a:stCxn id="5" idx="2"/>
                <a:endCxn id="7" idx="0"/>
              </p:cNvCxnSpPr>
              <p:nvPr/>
            </p:nvCxnSpPr>
            <p:spPr>
              <a:xfrm flipH="1">
                <a:off x="2669583" y="1759057"/>
                <a:ext cx="2444858" cy="126311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C118F3CF-E208-04AD-FC2F-93A4F8905990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2766447" y="3134532"/>
              <a:ext cx="3417377" cy="15033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32A4B24-F4A7-C6C0-DB1D-FCAF4300C10D}"/>
              </a:ext>
            </a:extLst>
          </p:cNvPr>
          <p:cNvSpPr txBox="1"/>
          <p:nvPr/>
        </p:nvSpPr>
        <p:spPr>
          <a:xfrm>
            <a:off x="6842502" y="573437"/>
            <a:ext cx="3998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CloudWatch </a:t>
            </a:r>
            <a:r>
              <a:rPr lang="ko-KR" altLang="en-US" sz="1200"/>
              <a:t>위젯에 </a:t>
            </a:r>
            <a:endParaRPr lang="en-US" altLang="ko-KR" sz="1200"/>
          </a:p>
          <a:p>
            <a:r>
              <a:rPr lang="ko-KR" altLang="en-US" sz="1200"/>
              <a:t>복제 인스턴스의 </a:t>
            </a:r>
            <a:r>
              <a:rPr lang="en-US" altLang="ko-KR" sz="1200" b="1">
                <a:solidFill>
                  <a:srgbClr val="FF0000"/>
                </a:solidFill>
              </a:rPr>
              <a:t>CPU</a:t>
            </a:r>
            <a:r>
              <a:rPr lang="ko-KR" altLang="en-US" sz="1200" b="1">
                <a:solidFill>
                  <a:srgbClr val="FF0000"/>
                </a:solidFill>
              </a:rPr>
              <a:t>와 메모리 사용률 그래프를 추가</a:t>
            </a:r>
            <a:r>
              <a:rPr lang="ko-KR" altLang="en-US" sz="1200"/>
              <a:t>하기 위해 </a:t>
            </a:r>
            <a:r>
              <a:rPr lang="en-US" altLang="ko-KR" sz="1200"/>
              <a:t>CloudWatch </a:t>
            </a:r>
            <a:r>
              <a:rPr lang="ko-KR" altLang="en-US" sz="1200"/>
              <a:t>서비스를 조회하여 들어간다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136872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1EEF1F1F-B852-482D-5B24-A8F311E6854A}"/>
              </a:ext>
            </a:extLst>
          </p:cNvPr>
          <p:cNvGrpSpPr/>
          <p:nvPr/>
        </p:nvGrpSpPr>
        <p:grpSpPr>
          <a:xfrm>
            <a:off x="105379" y="212967"/>
            <a:ext cx="11801233" cy="6175238"/>
            <a:chOff x="105379" y="212967"/>
            <a:chExt cx="11801233" cy="6175238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F0DF375-F4A1-BB1F-2313-0B80A8A3F1DA}"/>
                </a:ext>
              </a:extLst>
            </p:cNvPr>
            <p:cNvGrpSpPr/>
            <p:nvPr/>
          </p:nvGrpSpPr>
          <p:grpSpPr>
            <a:xfrm>
              <a:off x="105379" y="212967"/>
              <a:ext cx="11801233" cy="6175238"/>
              <a:chOff x="105379" y="212967"/>
              <a:chExt cx="11801233" cy="6175238"/>
            </a:xfrm>
          </p:grpSpPr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02F078AC-588E-088B-A6AF-C159D08BBA16}"/>
                  </a:ext>
                </a:extLst>
              </p:cNvPr>
              <p:cNvGrpSpPr/>
              <p:nvPr/>
            </p:nvGrpSpPr>
            <p:grpSpPr>
              <a:xfrm>
                <a:off x="105379" y="212967"/>
                <a:ext cx="11801233" cy="6175238"/>
                <a:chOff x="105379" y="212967"/>
                <a:chExt cx="11801233" cy="6175238"/>
              </a:xfrm>
            </p:grpSpPr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2616C1FA-DE89-A343-1622-114DDF5B77FA}"/>
                    </a:ext>
                  </a:extLst>
                </p:cNvPr>
                <p:cNvGrpSpPr/>
                <p:nvPr/>
              </p:nvGrpSpPr>
              <p:grpSpPr>
                <a:xfrm>
                  <a:off x="105379" y="212967"/>
                  <a:ext cx="11801233" cy="6175238"/>
                  <a:chOff x="105379" y="212967"/>
                  <a:chExt cx="11801233" cy="6175238"/>
                </a:xfrm>
              </p:grpSpPr>
              <p:pic>
                <p:nvPicPr>
                  <p:cNvPr id="2" name="그림 1">
                    <a:extLst>
                      <a:ext uri="{FF2B5EF4-FFF2-40B4-BE49-F238E27FC236}">
                        <a16:creationId xmlns:a16="http://schemas.microsoft.com/office/drawing/2014/main" id="{5206C0C2-54DF-D505-BAB9-13C735F4DF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05379" y="212967"/>
                    <a:ext cx="5303530" cy="3288621"/>
                  </a:xfrm>
                  <a:prstGeom prst="rect">
                    <a:avLst/>
                  </a:prstGeom>
                </p:spPr>
              </p:pic>
              <p:pic>
                <p:nvPicPr>
                  <p:cNvPr id="5" name="그림 4">
                    <a:extLst>
                      <a:ext uri="{FF2B5EF4-FFF2-40B4-BE49-F238E27FC236}">
                        <a16:creationId xmlns:a16="http://schemas.microsoft.com/office/drawing/2014/main" id="{0C5FB66E-BA46-C17F-4D2A-66824800FE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847100" y="329771"/>
                    <a:ext cx="5303530" cy="3572062"/>
                  </a:xfrm>
                  <a:prstGeom prst="rect">
                    <a:avLst/>
                  </a:prstGeom>
                </p:spPr>
              </p:pic>
              <p:grpSp>
                <p:nvGrpSpPr>
                  <p:cNvPr id="23" name="그룹 22">
                    <a:extLst>
                      <a:ext uri="{FF2B5EF4-FFF2-40B4-BE49-F238E27FC236}">
                        <a16:creationId xmlns:a16="http://schemas.microsoft.com/office/drawing/2014/main" id="{2424A673-5770-C1B6-D450-D9CC2D08E5D2}"/>
                      </a:ext>
                    </a:extLst>
                  </p:cNvPr>
                  <p:cNvGrpSpPr/>
                  <p:nvPr/>
                </p:nvGrpSpPr>
                <p:grpSpPr>
                  <a:xfrm>
                    <a:off x="680456" y="3355383"/>
                    <a:ext cx="11226156" cy="3032822"/>
                    <a:chOff x="680456" y="3355383"/>
                    <a:chExt cx="11226156" cy="3032822"/>
                  </a:xfrm>
                </p:grpSpPr>
                <p:grpSp>
                  <p:nvGrpSpPr>
                    <p:cNvPr id="22" name="그룹 21">
                      <a:extLst>
                        <a:ext uri="{FF2B5EF4-FFF2-40B4-BE49-F238E27FC236}">
                          <a16:creationId xmlns:a16="http://schemas.microsoft.com/office/drawing/2014/main" id="{0BC5B36A-059F-48D7-01C3-B11A6EFBE1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0456" y="3901833"/>
                      <a:ext cx="11226156" cy="2486372"/>
                      <a:chOff x="680456" y="3901833"/>
                      <a:chExt cx="11226156" cy="2486372"/>
                    </a:xfrm>
                  </p:grpSpPr>
                  <p:grpSp>
                    <p:nvGrpSpPr>
                      <p:cNvPr id="6" name="그룹 5">
                        <a:extLst>
                          <a:ext uri="{FF2B5EF4-FFF2-40B4-BE49-F238E27FC236}">
                            <a16:creationId xmlns:a16="http://schemas.microsoft.com/office/drawing/2014/main" id="{8B81ADC9-A728-9BD8-8DBA-934FE27B400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80456" y="3901833"/>
                        <a:ext cx="11226156" cy="2486372"/>
                        <a:chOff x="1447691" y="945768"/>
                        <a:chExt cx="11226156" cy="2486372"/>
                      </a:xfrm>
                    </p:grpSpPr>
                    <p:pic>
                      <p:nvPicPr>
                        <p:cNvPr id="7" name="그림 6">
                          <a:extLst>
                            <a:ext uri="{FF2B5EF4-FFF2-40B4-BE49-F238E27FC236}">
                              <a16:creationId xmlns:a16="http://schemas.microsoft.com/office/drawing/2014/main" id="{D1808F97-8F31-24DD-F3C3-8861E270AE3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47691" y="945768"/>
                          <a:ext cx="9583487" cy="2486372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8" name="그림 7">
                          <a:extLst>
                            <a:ext uri="{FF2B5EF4-FFF2-40B4-BE49-F238E27FC236}">
                              <a16:creationId xmlns:a16="http://schemas.microsoft.com/office/drawing/2014/main" id="{57A5AFA4-8727-F047-316A-A8C5B8CCEE8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1378266" y="2667892"/>
                          <a:ext cx="1295581" cy="590632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15" name="직사각형 14">
                        <a:extLst>
                          <a:ext uri="{FF2B5EF4-FFF2-40B4-BE49-F238E27FC236}">
                            <a16:creationId xmlns:a16="http://schemas.microsoft.com/office/drawing/2014/main" id="{751BA7B3-BACD-2AC6-90F1-8D5315D5CF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39146" y="4262034"/>
                        <a:ext cx="1883044" cy="38745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cxnSp>
                    <p:nvCxnSpPr>
                      <p:cNvPr id="19" name="직선 화살표 연결선 18">
                        <a:extLst>
                          <a:ext uri="{FF2B5EF4-FFF2-40B4-BE49-F238E27FC236}">
                            <a16:creationId xmlns:a16="http://schemas.microsoft.com/office/drawing/2014/main" id="{A5BEFCEF-C2B6-2BA3-982F-6F25480BFF15}"/>
                          </a:ext>
                        </a:extLst>
                      </p:cNvPr>
                      <p:cNvCxnSpPr>
                        <a:cxnSpLocks/>
                        <a:stCxn id="15" idx="3"/>
                        <a:endCxn id="29" idx="1"/>
                      </p:cNvCxnSpPr>
                      <p:nvPr/>
                    </p:nvCxnSpPr>
                    <p:spPr>
                      <a:xfrm>
                        <a:off x="5122190" y="4455763"/>
                        <a:ext cx="3342287" cy="1484961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0" name="직사각형 19">
                        <a:extLst>
                          <a:ext uri="{FF2B5EF4-FFF2-40B4-BE49-F238E27FC236}">
                            <a16:creationId xmlns:a16="http://schemas.microsoft.com/office/drawing/2014/main" id="{4AB7765E-4018-47EA-F401-763182F3D5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1580" y="5819614"/>
                        <a:ext cx="1205032" cy="3949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cxnSp>
                  <p:nvCxnSpPr>
                    <p:cNvPr id="17" name="직선 화살표 연결선 16">
                      <a:extLst>
                        <a:ext uri="{FF2B5EF4-FFF2-40B4-BE49-F238E27FC236}">
                          <a16:creationId xmlns:a16="http://schemas.microsoft.com/office/drawing/2014/main" id="{3E9BB5F3-4C8F-454E-6985-98D58FD2CEE8}"/>
                        </a:ext>
                      </a:extLst>
                    </p:cNvPr>
                    <p:cNvCxnSpPr>
                      <a:stCxn id="9" idx="2"/>
                    </p:cNvCxnSpPr>
                    <p:nvPr/>
                  </p:nvCxnSpPr>
                  <p:spPr>
                    <a:xfrm flipH="1">
                      <a:off x="4180668" y="3355383"/>
                      <a:ext cx="2541722" cy="90665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48B785D7-0CF9-62BB-7F9B-3EED5B063A2D}"/>
                    </a:ext>
                  </a:extLst>
                </p:cNvPr>
                <p:cNvGrpSpPr/>
                <p:nvPr/>
              </p:nvGrpSpPr>
              <p:grpSpPr>
                <a:xfrm>
                  <a:off x="278969" y="1131376"/>
                  <a:ext cx="7175716" cy="2224007"/>
                  <a:chOff x="278969" y="1131376"/>
                  <a:chExt cx="7175716" cy="2224007"/>
                </a:xfrm>
              </p:grpSpPr>
              <p:sp>
                <p:nvSpPr>
                  <p:cNvPr id="3" name="직사각형 2">
                    <a:extLst>
                      <a:ext uri="{FF2B5EF4-FFF2-40B4-BE49-F238E27FC236}">
                        <a16:creationId xmlns:a16="http://schemas.microsoft.com/office/drawing/2014/main" id="{6342E698-9DF4-26C8-746E-3DF5273CA60F}"/>
                      </a:ext>
                    </a:extLst>
                  </p:cNvPr>
                  <p:cNvSpPr/>
                  <p:nvPr/>
                </p:nvSpPr>
                <p:spPr>
                  <a:xfrm>
                    <a:off x="278969" y="1131376"/>
                    <a:ext cx="1208868" cy="604434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" name="직사각형 3">
                    <a:extLst>
                      <a:ext uri="{FF2B5EF4-FFF2-40B4-BE49-F238E27FC236}">
                        <a16:creationId xmlns:a16="http://schemas.microsoft.com/office/drawing/2014/main" id="{6B075E15-65EA-261D-DDB8-FAD6E0D12B93}"/>
                      </a:ext>
                    </a:extLst>
                  </p:cNvPr>
                  <p:cNvSpPr/>
                  <p:nvPr/>
                </p:nvSpPr>
                <p:spPr>
                  <a:xfrm>
                    <a:off x="2868478" y="1735810"/>
                    <a:ext cx="2478438" cy="539858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" name="직사각형 8">
                    <a:extLst>
                      <a:ext uri="{FF2B5EF4-FFF2-40B4-BE49-F238E27FC236}">
                        <a16:creationId xmlns:a16="http://schemas.microsoft.com/office/drawing/2014/main" id="{06EEBB8B-ED0D-6881-341C-DFCBCFFBCF62}"/>
                      </a:ext>
                    </a:extLst>
                  </p:cNvPr>
                  <p:cNvSpPr/>
                  <p:nvPr/>
                </p:nvSpPr>
                <p:spPr>
                  <a:xfrm>
                    <a:off x="5990095" y="3099660"/>
                    <a:ext cx="1464590" cy="255723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11" name="직선 화살표 연결선 10">
                    <a:extLst>
                      <a:ext uri="{FF2B5EF4-FFF2-40B4-BE49-F238E27FC236}">
                        <a16:creationId xmlns:a16="http://schemas.microsoft.com/office/drawing/2014/main" id="{EC26F37B-5EC0-B7C0-AAFB-AC3AD7BF9F71}"/>
                      </a:ext>
                    </a:extLst>
                  </p:cNvPr>
                  <p:cNvCxnSpPr>
                    <a:stCxn id="3" idx="3"/>
                    <a:endCxn id="4" idx="1"/>
                  </p:cNvCxnSpPr>
                  <p:nvPr/>
                </p:nvCxnSpPr>
                <p:spPr>
                  <a:xfrm>
                    <a:off x="1487837" y="1433593"/>
                    <a:ext cx="1380641" cy="572146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직선 화살표 연결선 12">
                    <a:extLst>
                      <a:ext uri="{FF2B5EF4-FFF2-40B4-BE49-F238E27FC236}">
                        <a16:creationId xmlns:a16="http://schemas.microsoft.com/office/drawing/2014/main" id="{D97F611E-DED0-DD41-1C52-8F0F2C1674BA}"/>
                      </a:ext>
                    </a:extLst>
                  </p:cNvPr>
                  <p:cNvCxnSpPr/>
                  <p:nvPr/>
                </p:nvCxnSpPr>
                <p:spPr>
                  <a:xfrm>
                    <a:off x="5346916" y="2007031"/>
                    <a:ext cx="643179" cy="1201118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3D5784-2E32-6714-BBF2-429CE4395FA0}"/>
                  </a:ext>
                </a:extLst>
              </p:cNvPr>
              <p:cNvSpPr txBox="1"/>
              <p:nvPr/>
            </p:nvSpPr>
            <p:spPr>
              <a:xfrm>
                <a:off x="1060743" y="835889"/>
                <a:ext cx="2956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/>
                  <a:t>검색에 </a:t>
                </a:r>
                <a:r>
                  <a:rPr lang="en-US" altLang="ko-KR" sz="1200"/>
                  <a:t>CPUUtilization </a:t>
                </a:r>
                <a:r>
                  <a:rPr lang="ko-KR" altLang="en-US" sz="1200"/>
                  <a:t>검색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09F9C7-E7F2-164D-7153-F94E87CA279C}"/>
                </a:ext>
              </a:extLst>
            </p:cNvPr>
            <p:cNvSpPr txBox="1"/>
            <p:nvPr/>
          </p:nvSpPr>
          <p:spPr>
            <a:xfrm>
              <a:off x="8733295" y="3797085"/>
              <a:ext cx="2983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/>
                <a:t>복제 인스턴스의 </a:t>
              </a:r>
              <a:r>
                <a:rPr lang="en-US" altLang="ko-KR" sz="1200" b="1"/>
                <a:t>CPU </a:t>
              </a:r>
              <a:r>
                <a:rPr lang="ko-KR" altLang="en-US" sz="1200" b="1"/>
                <a:t>사용률 위젯에 추가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7187447-2AC9-FCEC-6C30-77435D0DCE1F}"/>
                </a:ext>
              </a:extLst>
            </p:cNvPr>
            <p:cNvSpPr/>
            <p:nvPr/>
          </p:nvSpPr>
          <p:spPr>
            <a:xfrm>
              <a:off x="8464477" y="5558139"/>
              <a:ext cx="1035984" cy="7651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57BBA4FF-3237-734D-CAE3-77C97CE6E019}"/>
                </a:ext>
              </a:extLst>
            </p:cNvPr>
            <p:cNvCxnSpPr>
              <a:endCxn id="20" idx="1"/>
            </p:cNvCxnSpPr>
            <p:nvPr/>
          </p:nvCxnSpPr>
          <p:spPr>
            <a:xfrm>
              <a:off x="9500461" y="5912603"/>
              <a:ext cx="1201119" cy="1044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8802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C27C354F-045B-0CA5-B55C-613ECF964555}"/>
              </a:ext>
            </a:extLst>
          </p:cNvPr>
          <p:cNvGrpSpPr/>
          <p:nvPr/>
        </p:nvGrpSpPr>
        <p:grpSpPr>
          <a:xfrm>
            <a:off x="221983" y="239877"/>
            <a:ext cx="11847832" cy="6137054"/>
            <a:chOff x="221983" y="239877"/>
            <a:chExt cx="11847832" cy="6137054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F311A32-D8D5-FD25-2843-C5D9741A68A8}"/>
                </a:ext>
              </a:extLst>
            </p:cNvPr>
            <p:cNvGrpSpPr/>
            <p:nvPr/>
          </p:nvGrpSpPr>
          <p:grpSpPr>
            <a:xfrm>
              <a:off x="221983" y="239877"/>
              <a:ext cx="11847832" cy="6137054"/>
              <a:chOff x="221983" y="239877"/>
              <a:chExt cx="11847832" cy="6137054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4A9A05F6-BD74-7BED-BF33-29F44EC700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1983" y="239877"/>
                <a:ext cx="4182625" cy="226309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C1267352-3DE1-93EE-8F46-B292AD509754}"/>
                  </a:ext>
                </a:extLst>
              </p:cNvPr>
              <p:cNvSpPr/>
              <p:nvPr/>
            </p:nvSpPr>
            <p:spPr>
              <a:xfrm>
                <a:off x="3006671" y="697424"/>
                <a:ext cx="1162373" cy="2634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52862FDE-9121-17CC-2D6A-D984B70D1572}"/>
                  </a:ext>
                </a:extLst>
              </p:cNvPr>
              <p:cNvGrpSpPr/>
              <p:nvPr/>
            </p:nvGrpSpPr>
            <p:grpSpPr>
              <a:xfrm>
                <a:off x="4643544" y="294466"/>
                <a:ext cx="4620375" cy="3680963"/>
                <a:chOff x="4643544" y="294466"/>
                <a:chExt cx="4620375" cy="3680963"/>
              </a:xfrm>
            </p:grpSpPr>
            <p:grpSp>
              <p:nvGrpSpPr>
                <p:cNvPr id="6" name="그룹 5">
                  <a:extLst>
                    <a:ext uri="{FF2B5EF4-FFF2-40B4-BE49-F238E27FC236}">
                      <a16:creationId xmlns:a16="http://schemas.microsoft.com/office/drawing/2014/main" id="{4DAAA0AC-9D30-89C3-2470-3D39136C5F41}"/>
                    </a:ext>
                  </a:extLst>
                </p:cNvPr>
                <p:cNvGrpSpPr/>
                <p:nvPr/>
              </p:nvGrpSpPr>
              <p:grpSpPr>
                <a:xfrm>
                  <a:off x="4643544" y="294466"/>
                  <a:ext cx="4620375" cy="3680963"/>
                  <a:chOff x="4643544" y="294466"/>
                  <a:chExt cx="4620375" cy="3680963"/>
                </a:xfrm>
              </p:grpSpPr>
              <p:pic>
                <p:nvPicPr>
                  <p:cNvPr id="4" name="그림 3">
                    <a:extLst>
                      <a:ext uri="{FF2B5EF4-FFF2-40B4-BE49-F238E27FC236}">
                        <a16:creationId xmlns:a16="http://schemas.microsoft.com/office/drawing/2014/main" id="{E202CFBA-FC9E-C1F9-441E-5B34392C37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643544" y="294466"/>
                    <a:ext cx="4620375" cy="3680963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33580F06-7C40-E315-2E57-D4B8EDA29B8F}"/>
                      </a:ext>
                    </a:extLst>
                  </p:cNvPr>
                  <p:cNvSpPr txBox="1"/>
                  <p:nvPr/>
                </p:nvSpPr>
                <p:spPr>
                  <a:xfrm>
                    <a:off x="5470902" y="2386739"/>
                    <a:ext cx="175905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sz="1200"/>
                      <a:t>검색에 </a:t>
                    </a:r>
                    <a:r>
                      <a:rPr lang="en-US" altLang="ko-KR" sz="1200"/>
                      <a:t>mem_used</a:t>
                    </a:r>
                    <a:r>
                      <a:rPr lang="ko-KR" altLang="en-US" sz="1200"/>
                      <a:t>검색</a:t>
                    </a:r>
                  </a:p>
                </p:txBody>
              </p:sp>
            </p:grpSp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02847975-7474-77E2-E0CD-A523F796E5F4}"/>
                    </a:ext>
                  </a:extLst>
                </p:cNvPr>
                <p:cNvSpPr/>
                <p:nvPr/>
              </p:nvSpPr>
              <p:spPr>
                <a:xfrm>
                  <a:off x="4643544" y="2663738"/>
                  <a:ext cx="1028836" cy="544411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18EE6C78-E8FA-A2F2-4660-121870E26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712" y="2795441"/>
                <a:ext cx="4055895" cy="358149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8EE35547-D648-7742-CB5E-03F2D72D208A}"/>
                  </a:ext>
                </a:extLst>
              </p:cNvPr>
              <p:cNvSpPr/>
              <p:nvPr/>
            </p:nvSpPr>
            <p:spPr>
              <a:xfrm>
                <a:off x="7043198" y="3208149"/>
                <a:ext cx="2100802" cy="60443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56C3CA4-2F16-5632-843D-2078A44B79AC}"/>
                  </a:ext>
                </a:extLst>
              </p:cNvPr>
              <p:cNvSpPr/>
              <p:nvPr/>
            </p:nvSpPr>
            <p:spPr>
              <a:xfrm>
                <a:off x="488197" y="6036590"/>
                <a:ext cx="294467" cy="24022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3F96A137-6575-82B3-94E5-5EE127C073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3544" y="4174467"/>
                <a:ext cx="7426271" cy="11630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FF882D73-0B10-9729-19A3-BA11B10DC4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43544" y="5479140"/>
                <a:ext cx="1314633" cy="476316"/>
              </a:xfrm>
              <a:prstGeom prst="rect">
                <a:avLst/>
              </a:prstGeom>
            </p:spPr>
          </p:pic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EFEC4E37-F6A7-2FC7-BB6B-6C9E6C3E03A0}"/>
                  </a:ext>
                </a:extLst>
              </p:cNvPr>
              <p:cNvSpPr/>
              <p:nvPr/>
            </p:nvSpPr>
            <p:spPr>
              <a:xfrm>
                <a:off x="8919275" y="4726983"/>
                <a:ext cx="570854" cy="63346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BF65FB8D-3E07-F7AE-4E25-4522CF3B8021}"/>
                  </a:ext>
                </a:extLst>
              </p:cNvPr>
              <p:cNvSpPr/>
              <p:nvPr/>
            </p:nvSpPr>
            <p:spPr>
              <a:xfrm>
                <a:off x="4643544" y="5479140"/>
                <a:ext cx="1314632" cy="47631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61D5977A-A22D-6B28-510E-6C5DC00DD21E}"/>
                  </a:ext>
                </a:extLst>
              </p:cNvPr>
              <p:cNvSpPr/>
              <p:nvPr/>
            </p:nvSpPr>
            <p:spPr>
              <a:xfrm>
                <a:off x="6096000" y="4174467"/>
                <a:ext cx="1037464" cy="34537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8" name="연결선: 꺾임 17">
                <a:extLst>
                  <a:ext uri="{FF2B5EF4-FFF2-40B4-BE49-F238E27FC236}">
                    <a16:creationId xmlns:a16="http://schemas.microsoft.com/office/drawing/2014/main" id="{86C6B751-79D0-C84A-00B3-0AFCC983637F}"/>
                  </a:ext>
                </a:extLst>
              </p:cNvPr>
              <p:cNvCxnSpPr>
                <a:stCxn id="3" idx="3"/>
                <a:endCxn id="7" idx="0"/>
              </p:cNvCxnSpPr>
              <p:nvPr/>
            </p:nvCxnSpPr>
            <p:spPr>
              <a:xfrm>
                <a:off x="4169044" y="829160"/>
                <a:ext cx="988918" cy="1834578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A29EC69C-221F-26D5-6DC2-CB41FC93ECE7}"/>
                  </a:ext>
                </a:extLst>
              </p:cNvPr>
              <p:cNvCxnSpPr>
                <a:cxnSpLocks/>
                <a:stCxn id="7" idx="3"/>
                <a:endCxn id="10" idx="1"/>
              </p:cNvCxnSpPr>
              <p:nvPr/>
            </p:nvCxnSpPr>
            <p:spPr>
              <a:xfrm>
                <a:off x="5672380" y="2935944"/>
                <a:ext cx="1370818" cy="5744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연결선: 꺾임 24">
                <a:extLst>
                  <a:ext uri="{FF2B5EF4-FFF2-40B4-BE49-F238E27FC236}">
                    <a16:creationId xmlns:a16="http://schemas.microsoft.com/office/drawing/2014/main" id="{20D4DB3C-1E45-74FD-086D-D2243134A6B3}"/>
                  </a:ext>
                </a:extLst>
              </p:cNvPr>
              <p:cNvCxnSpPr>
                <a:stCxn id="10" idx="2"/>
                <a:endCxn id="11" idx="0"/>
              </p:cNvCxnSpPr>
              <p:nvPr/>
            </p:nvCxnSpPr>
            <p:spPr>
              <a:xfrm rot="5400000">
                <a:off x="3252512" y="1195502"/>
                <a:ext cx="2224007" cy="7458168"/>
              </a:xfrm>
              <a:prstGeom prst="bentConnector3">
                <a:avLst>
                  <a:gd name="adj1" fmla="val 12021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연결선: 꺾임 30">
                <a:extLst>
                  <a:ext uri="{FF2B5EF4-FFF2-40B4-BE49-F238E27FC236}">
                    <a16:creationId xmlns:a16="http://schemas.microsoft.com/office/drawing/2014/main" id="{5B57832C-FB19-1143-D0DB-6BF08E228F52}"/>
                  </a:ext>
                </a:extLst>
              </p:cNvPr>
              <p:cNvCxnSpPr>
                <a:cxnSpLocks/>
                <a:stCxn id="11" idx="3"/>
                <a:endCxn id="16" idx="1"/>
              </p:cNvCxnSpPr>
              <p:nvPr/>
            </p:nvCxnSpPr>
            <p:spPr>
              <a:xfrm flipV="1">
                <a:off x="782664" y="4347154"/>
                <a:ext cx="5313336" cy="1809548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B4A86A57-25F6-FA84-EFA8-FDA7324E70BC}"/>
                  </a:ext>
                </a:extLst>
              </p:cNvPr>
              <p:cNvCxnSpPr>
                <a:stCxn id="14" idx="2"/>
                <a:endCxn id="15" idx="3"/>
              </p:cNvCxnSpPr>
              <p:nvPr/>
            </p:nvCxnSpPr>
            <p:spPr>
              <a:xfrm flipH="1">
                <a:off x="5958176" y="5360445"/>
                <a:ext cx="3246526" cy="35685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329B938E-B2DC-C62B-47C7-C48D3765A557}"/>
                </a:ext>
              </a:extLst>
            </p:cNvPr>
            <p:cNvCxnSpPr>
              <a:stCxn id="16" idx="3"/>
              <a:endCxn id="14" idx="1"/>
            </p:cNvCxnSpPr>
            <p:nvPr/>
          </p:nvCxnSpPr>
          <p:spPr>
            <a:xfrm>
              <a:off x="7133464" y="4347154"/>
              <a:ext cx="1785811" cy="6965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D80E057-AE95-D8A3-71F5-9B359707D27F}"/>
              </a:ext>
            </a:extLst>
          </p:cNvPr>
          <p:cNvSpPr txBox="1"/>
          <p:nvPr/>
        </p:nvSpPr>
        <p:spPr>
          <a:xfrm>
            <a:off x="9353227" y="294466"/>
            <a:ext cx="2687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복제 인스턴스 메모리 사용률 그래프 추가하기</a:t>
            </a:r>
          </a:p>
        </p:txBody>
      </p:sp>
    </p:spTree>
    <p:extLst>
      <p:ext uri="{BB962C8B-B14F-4D97-AF65-F5344CB8AC3E}">
        <p14:creationId xmlns:p14="http://schemas.microsoft.com/office/powerpoint/2010/main" val="219955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265D1CB-6A70-81F2-013D-F79029A1D1AC}"/>
              </a:ext>
            </a:extLst>
          </p:cNvPr>
          <p:cNvGrpSpPr/>
          <p:nvPr/>
        </p:nvGrpSpPr>
        <p:grpSpPr>
          <a:xfrm>
            <a:off x="457200" y="384908"/>
            <a:ext cx="10972800" cy="2594919"/>
            <a:chOff x="457200" y="384908"/>
            <a:chExt cx="10972800" cy="259491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96FACDF-D2CB-FC15-CF83-CC4578319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384908"/>
              <a:ext cx="10972800" cy="25949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6B81C3D-D468-88A4-3EE8-2FCD5C278B1F}"/>
                </a:ext>
              </a:extLst>
            </p:cNvPr>
            <p:cNvSpPr/>
            <p:nvPr/>
          </p:nvSpPr>
          <p:spPr>
            <a:xfrm>
              <a:off x="10585342" y="588936"/>
              <a:ext cx="511444" cy="2634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6370A03-7EE1-80A0-954B-88887BC5F460}"/>
              </a:ext>
            </a:extLst>
          </p:cNvPr>
          <p:cNvSpPr txBox="1"/>
          <p:nvPr/>
        </p:nvSpPr>
        <p:spPr>
          <a:xfrm>
            <a:off x="457200" y="3192651"/>
            <a:ext cx="1044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위젯 업데이트 후에는 사용자 지정 위젯 화면에서 저장버튼을 클릭하여 최종 저장을 잊지않도록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271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4CBF4-4623-4E88-980D-0FF158E22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K6-Server</a:t>
            </a:r>
            <a:r>
              <a:rPr lang="ko-KR" altLang="en-US" sz="4000"/>
              <a:t>에서 부하테스트 스크립트 실행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99D484-1EC3-D349-B7D9-A3A825886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14" y="2606677"/>
            <a:ext cx="9716856" cy="355332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A491D6-469A-11DE-F1C0-D4D2B35AD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14" y="1843360"/>
            <a:ext cx="3315163" cy="6573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6701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8F3A9-7007-D0D8-6881-9127C22D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</a:t>
            </a:r>
            <a:r>
              <a:rPr lang="ko-KR" altLang="en-US"/>
              <a:t> 대시보드 확인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B4A4075-19AC-5A80-D07E-70C6C364D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14" y="4251626"/>
            <a:ext cx="5271785" cy="25603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BDA195D-AD05-7A64-3B9D-CD30AAB1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14" y="2685260"/>
            <a:ext cx="5520611" cy="13766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63D3B2E-8512-DBE5-0D83-7D793F6CE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14" y="1843360"/>
            <a:ext cx="3315163" cy="6573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4E2DBB-D447-1A48-3A3C-71604FC66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48" y="1831736"/>
            <a:ext cx="1667108" cy="419158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A620ECB-38B3-9062-6969-5D514F36917F}"/>
              </a:ext>
            </a:extLst>
          </p:cNvPr>
          <p:cNvCxnSpPr>
            <a:cxnSpLocks/>
          </p:cNvCxnSpPr>
          <p:nvPr/>
        </p:nvCxnSpPr>
        <p:spPr>
          <a:xfrm>
            <a:off x="426203" y="4912963"/>
            <a:ext cx="59590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D95B90-D99C-AE2C-8270-D560338D87DB}"/>
              </a:ext>
            </a:extLst>
          </p:cNvPr>
          <p:cNvSpPr txBox="1"/>
          <p:nvPr/>
        </p:nvSpPr>
        <p:spPr>
          <a:xfrm>
            <a:off x="6517037" y="4362773"/>
            <a:ext cx="505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Throughput(</a:t>
            </a:r>
            <a:r>
              <a:rPr lang="ko-KR" altLang="en-US" sz="1600"/>
              <a:t>처리량</a:t>
            </a:r>
            <a:r>
              <a:rPr lang="en-US" altLang="ko-KR" sz="1600"/>
              <a:t>)</a:t>
            </a:r>
            <a:r>
              <a:rPr lang="ko-KR" altLang="en-US" sz="1600"/>
              <a:t>이 </a:t>
            </a:r>
            <a:r>
              <a:rPr lang="en-US" altLang="ko-KR" sz="1600"/>
              <a:t>4 TPS</a:t>
            </a:r>
            <a:r>
              <a:rPr lang="ko-KR" altLang="en-US" sz="1600"/>
              <a:t>에서  </a:t>
            </a:r>
            <a:r>
              <a:rPr lang="en-US" altLang="ko-KR" sz="1600"/>
              <a:t>7TPS </a:t>
            </a:r>
            <a:r>
              <a:rPr lang="ko-KR" altLang="en-US" sz="1600"/>
              <a:t>까지 성능이 개선된 걸 확인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123481A-F9EF-CE48-6883-33F8EA0C4D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307" y="1831736"/>
            <a:ext cx="5543152" cy="204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15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BE449-BDC1-045B-4288-5C48B023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실시간 </a:t>
            </a:r>
            <a:r>
              <a:rPr lang="en-US" altLang="ko-KR"/>
              <a:t>CPU, MEM </a:t>
            </a:r>
            <a:r>
              <a:rPr lang="ko-KR" altLang="en-US"/>
              <a:t>사용률 확인</a:t>
            </a:r>
            <a:r>
              <a:rPr lang="en-US" altLang="ko-KR"/>
              <a:t>(top)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A688B92-1E04-8F50-6327-7C204E1ABC57}"/>
              </a:ext>
            </a:extLst>
          </p:cNvPr>
          <p:cNvGrpSpPr/>
          <p:nvPr/>
        </p:nvGrpSpPr>
        <p:grpSpPr>
          <a:xfrm>
            <a:off x="850490" y="1895261"/>
            <a:ext cx="6201240" cy="2087803"/>
            <a:chOff x="850489" y="1895261"/>
            <a:chExt cx="6982799" cy="242921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E685C76-F165-8A8D-7D3D-67A45A907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489" y="2533526"/>
              <a:ext cx="6982799" cy="179095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7AD3C94-818C-2A4A-144B-BB852E6E3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489" y="1895261"/>
              <a:ext cx="3191320" cy="638264"/>
            </a:xfrm>
            <a:prstGeom prst="rect">
              <a:avLst/>
            </a:prstGeom>
          </p:spPr>
        </p:pic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BCAD6A-1342-1E6E-D955-3C27924CDEFF}"/>
              </a:ext>
            </a:extLst>
          </p:cNvPr>
          <p:cNvSpPr/>
          <p:nvPr/>
        </p:nvSpPr>
        <p:spPr>
          <a:xfrm>
            <a:off x="910563" y="3429000"/>
            <a:ext cx="1243701" cy="158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398ADC2-5536-A811-DFC9-64CB4FE05D84}"/>
              </a:ext>
            </a:extLst>
          </p:cNvPr>
          <p:cNvGrpSpPr/>
          <p:nvPr/>
        </p:nvGrpSpPr>
        <p:grpSpPr>
          <a:xfrm>
            <a:off x="850490" y="4316479"/>
            <a:ext cx="5804112" cy="1945036"/>
            <a:chOff x="850490" y="4316479"/>
            <a:chExt cx="5804112" cy="1945036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3EF13C0-C44A-41E4-C4EE-BA6D1B65151B}"/>
                </a:ext>
              </a:extLst>
            </p:cNvPr>
            <p:cNvGrpSpPr/>
            <p:nvPr/>
          </p:nvGrpSpPr>
          <p:grpSpPr>
            <a:xfrm>
              <a:off x="850490" y="4316479"/>
              <a:ext cx="5804112" cy="1945036"/>
              <a:chOff x="790417" y="4316479"/>
              <a:chExt cx="5804112" cy="1945036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C30E458E-8A2E-DAB0-9D0F-642479F30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0490" y="4837439"/>
                <a:ext cx="5744039" cy="1424076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CCAFE6E7-460B-75F9-C1DF-80BDD3FA2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417" y="4316479"/>
                <a:ext cx="3117076" cy="520960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AF3249F-9BF5-8E1E-CFE9-5651A8C85637}"/>
                </a:ext>
              </a:extLst>
            </p:cNvPr>
            <p:cNvSpPr/>
            <p:nvPr/>
          </p:nvSpPr>
          <p:spPr>
            <a:xfrm>
              <a:off x="910562" y="5691813"/>
              <a:ext cx="1243702" cy="2052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680DA68-CE47-1CED-6A0E-FFBF9C537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803" y="2074745"/>
            <a:ext cx="4884656" cy="18026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FEA00B-2F4E-F20D-B640-092098CDF506}"/>
              </a:ext>
            </a:extLst>
          </p:cNvPr>
          <p:cNvSpPr txBox="1"/>
          <p:nvPr/>
        </p:nvSpPr>
        <p:spPr>
          <a:xfrm>
            <a:off x="6850251" y="4192292"/>
            <a:ext cx="51462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K6</a:t>
            </a:r>
            <a:r>
              <a:rPr lang="ko-KR" altLang="en-US" sz="1100"/>
              <a:t>대시보드에서 처리량이 개선된 걸 확인할 수 있었으나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부하테스트가 계속 지속됨에 따라 요청에 따른 지연시간이 늘어나 결국 </a:t>
            </a:r>
            <a:r>
              <a:rPr lang="en-US" altLang="ko-KR" sz="1100"/>
              <a:t>CPU</a:t>
            </a:r>
            <a:r>
              <a:rPr lang="ko-KR" altLang="en-US" sz="1100"/>
              <a:t>가 </a:t>
            </a:r>
            <a:r>
              <a:rPr lang="en-US" altLang="ko-KR" sz="1100"/>
              <a:t>100</a:t>
            </a:r>
            <a:r>
              <a:rPr lang="ko-KR" altLang="en-US" sz="1100"/>
              <a:t>프로에 다 달은것을 확인할 수 있었다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이를 더욱 개선하려면 </a:t>
            </a:r>
            <a:r>
              <a:rPr lang="en-US" altLang="ko-KR" sz="1100"/>
              <a:t>EC2 </a:t>
            </a:r>
            <a:r>
              <a:rPr lang="ko-KR" altLang="en-US" sz="1100"/>
              <a:t>서버의 수평적 확장 수를 더 늘리는 것으로 성능을 개선할 수 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이제 </a:t>
            </a:r>
            <a:r>
              <a:rPr lang="en-US" altLang="ko-KR" sz="1100"/>
              <a:t>cloud watch</a:t>
            </a:r>
            <a:r>
              <a:rPr lang="ko-KR" altLang="en-US" sz="1100"/>
              <a:t>에 설정한 위젯을 보고 성능분석을 마무리해보자</a:t>
            </a:r>
            <a:r>
              <a:rPr lang="en-US" altLang="ko-KR" sz="11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5980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7097E-E0DF-3F25-DDBA-404D2B338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CloudWatch </a:t>
            </a:r>
            <a:r>
              <a:rPr lang="ko-KR" altLang="en-US"/>
              <a:t>위젯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AF6F7E-6990-72E5-8A87-514F6B63E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72" y="3930876"/>
            <a:ext cx="10660184" cy="27142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46C416-4CF6-3948-5667-DB5D4BD0A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72" y="1797577"/>
            <a:ext cx="5379977" cy="1985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0B996A-945B-80FB-D53E-255CDCCE113E}"/>
              </a:ext>
            </a:extLst>
          </p:cNvPr>
          <p:cNvSpPr txBox="1"/>
          <p:nvPr/>
        </p:nvSpPr>
        <p:spPr>
          <a:xfrm>
            <a:off x="6021092" y="1797577"/>
            <a:ext cx="59126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실시간 사용률 확인 명령어</a:t>
            </a:r>
            <a:r>
              <a:rPr lang="en-US" altLang="ko-KR" sz="1400"/>
              <a:t>(top) </a:t>
            </a:r>
            <a:r>
              <a:rPr lang="ko-KR" altLang="en-US" sz="1400"/>
              <a:t>으로 확인해 본 결과 양 컴퓨터에 부하가 분산됨으로 각 </a:t>
            </a:r>
            <a:r>
              <a:rPr lang="en-US" altLang="ko-KR" sz="1400"/>
              <a:t>EC2</a:t>
            </a:r>
            <a:r>
              <a:rPr lang="ko-KR" altLang="en-US" sz="1400"/>
              <a:t>서버의 </a:t>
            </a:r>
            <a:r>
              <a:rPr lang="en-US" altLang="ko-KR" sz="1400"/>
              <a:t>CPU</a:t>
            </a:r>
            <a:r>
              <a:rPr lang="ko-KR" altLang="en-US" sz="1400"/>
              <a:t>의 사용률이 이전보다 올라가는 속도가 느린걸 확인했으나</a:t>
            </a:r>
            <a:r>
              <a:rPr lang="en-US" altLang="ko-KR" sz="1400"/>
              <a:t>, </a:t>
            </a:r>
            <a:r>
              <a:rPr lang="ko-KR" altLang="en-US" sz="1400"/>
              <a:t>계속되는 부하를 더 길게 줄 경우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결국 </a:t>
            </a:r>
            <a:r>
              <a:rPr lang="en-US" altLang="ko-KR" sz="1400"/>
              <a:t>EC2 </a:t>
            </a:r>
            <a:r>
              <a:rPr lang="ko-KR" altLang="en-US" sz="1400"/>
              <a:t>서버 </a:t>
            </a:r>
            <a:r>
              <a:rPr lang="en-US" altLang="ko-KR" sz="1400"/>
              <a:t>1</a:t>
            </a:r>
            <a:r>
              <a:rPr lang="ko-KR" altLang="en-US" sz="1400"/>
              <a:t>에서 </a:t>
            </a:r>
            <a:r>
              <a:rPr lang="en-US" altLang="ko-KR" sz="1400"/>
              <a:t>CPU</a:t>
            </a:r>
            <a:r>
              <a:rPr lang="ko-KR" altLang="en-US" sz="1400"/>
              <a:t>사용율이 </a:t>
            </a:r>
            <a:r>
              <a:rPr lang="en-US" altLang="ko-KR" sz="1400"/>
              <a:t>100%</a:t>
            </a:r>
            <a:r>
              <a:rPr lang="ko-KR" altLang="en-US" sz="1400"/>
              <a:t>를 찍는 것을 확인하였다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목표하려는 </a:t>
            </a:r>
            <a:r>
              <a:rPr lang="en-US" altLang="ko-KR" sz="1400"/>
              <a:t>TPS</a:t>
            </a:r>
            <a:r>
              <a:rPr lang="ko-KR" altLang="en-US" sz="1400"/>
              <a:t>와 </a:t>
            </a:r>
            <a:r>
              <a:rPr lang="en-US" altLang="ko-KR" sz="1400"/>
              <a:t>Latency</a:t>
            </a:r>
            <a:r>
              <a:rPr lang="ko-KR" altLang="en-US" sz="1400"/>
              <a:t>에 도달하였다면 그대로 서비스해도 되지만 도달하지 못했다고 한다면</a:t>
            </a:r>
            <a:r>
              <a:rPr lang="en-US" altLang="ko-KR" sz="1400"/>
              <a:t>, CPU</a:t>
            </a:r>
            <a:r>
              <a:rPr lang="ko-KR" altLang="en-US" sz="1400"/>
              <a:t>병목을 해소하기 위해 추가적인 수평적 확장이 필요하다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  <a:endParaRPr lang="en-US" altLang="ko-KR" sz="140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C16937F-C94E-E695-3A40-BA5C9538F612}"/>
              </a:ext>
            </a:extLst>
          </p:cNvPr>
          <p:cNvGrpSpPr/>
          <p:nvPr/>
        </p:nvGrpSpPr>
        <p:grpSpPr>
          <a:xfrm>
            <a:off x="9396408" y="4409268"/>
            <a:ext cx="2729767" cy="2383717"/>
            <a:chOff x="9396408" y="4409268"/>
            <a:chExt cx="2729767" cy="238371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ADDBFFE-14DA-0A6D-EE22-CE6989E32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4491" y="4413995"/>
              <a:ext cx="2721684" cy="23789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3C7F4B2-666F-7AC0-BD4D-2512C55BC9FD}"/>
                </a:ext>
              </a:extLst>
            </p:cNvPr>
            <p:cNvSpPr/>
            <p:nvPr/>
          </p:nvSpPr>
          <p:spPr>
            <a:xfrm>
              <a:off x="10872061" y="4409268"/>
              <a:ext cx="534692" cy="1704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B0C2199-DDFE-7A48-89DC-114F1B559866}"/>
                </a:ext>
              </a:extLst>
            </p:cNvPr>
            <p:cNvSpPr/>
            <p:nvPr/>
          </p:nvSpPr>
          <p:spPr>
            <a:xfrm rot="10800000" flipV="1">
              <a:off x="10624086" y="4893124"/>
              <a:ext cx="309967" cy="2368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F3E1CCD-6C61-FC59-26D2-3461506BB95E}"/>
                </a:ext>
              </a:extLst>
            </p:cNvPr>
            <p:cNvSpPr/>
            <p:nvPr/>
          </p:nvSpPr>
          <p:spPr>
            <a:xfrm rot="10800000" flipV="1">
              <a:off x="11690885" y="6556170"/>
              <a:ext cx="435289" cy="2368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D7619524-2DF6-BF14-404D-C5CCC08CD418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flipH="1">
              <a:off x="10779069" y="4579749"/>
              <a:ext cx="360338" cy="3133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E5FC62E-F16B-8FC1-98E1-534FB7EC13D0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>
              <a:off x="10779069" y="5129939"/>
              <a:ext cx="1129460" cy="142623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CD00433-A13B-E842-F92B-A53C922CE743}"/>
                </a:ext>
              </a:extLst>
            </p:cNvPr>
            <p:cNvSpPr/>
            <p:nvPr/>
          </p:nvSpPr>
          <p:spPr>
            <a:xfrm>
              <a:off x="9396408" y="5315646"/>
              <a:ext cx="1449090" cy="10548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세부적인 타임라인을 보기위해 최근 </a:t>
              </a:r>
              <a:r>
                <a:rPr lang="en-US" altLang="ko-KR" sz="1200"/>
                <a:t>5</a:t>
              </a:r>
              <a:r>
                <a:rPr lang="ko-KR" altLang="en-US" sz="1200"/>
                <a:t>분 내 그래프 탐색 설정을 잊지말자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8428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85E85-4DA5-8F7A-D8EE-98B8EAC3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인스턴스 삭제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0451FC5-1B75-8979-A82A-1356C065A5DB}"/>
              </a:ext>
            </a:extLst>
          </p:cNvPr>
          <p:cNvGrpSpPr/>
          <p:nvPr/>
        </p:nvGrpSpPr>
        <p:grpSpPr>
          <a:xfrm>
            <a:off x="1291470" y="2033600"/>
            <a:ext cx="1952898" cy="2124371"/>
            <a:chOff x="1291470" y="2033600"/>
            <a:chExt cx="1952898" cy="212437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705FCEE-E625-65E0-9269-E150F6D8A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1470" y="2033600"/>
              <a:ext cx="1952898" cy="212437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E34DEEB-F3CB-6B72-2C89-0DB2C36289C1}"/>
                </a:ext>
              </a:extLst>
            </p:cNvPr>
            <p:cNvSpPr/>
            <p:nvPr/>
          </p:nvSpPr>
          <p:spPr>
            <a:xfrm>
              <a:off x="1418095" y="3897824"/>
              <a:ext cx="1689315" cy="2601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A2FF0AB-4806-A129-2CFF-BA0B2267EC05}"/>
              </a:ext>
            </a:extLst>
          </p:cNvPr>
          <p:cNvSpPr txBox="1"/>
          <p:nvPr/>
        </p:nvSpPr>
        <p:spPr>
          <a:xfrm>
            <a:off x="1208868" y="4246536"/>
            <a:ext cx="2688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삭제 중이라 비활성화 상태로 표시 인스턴스 강제 종료</a:t>
            </a:r>
            <a:r>
              <a:rPr lang="en-US" altLang="ko-KR" sz="1200"/>
              <a:t>(</a:t>
            </a:r>
            <a:r>
              <a:rPr lang="ko-KR" altLang="en-US" sz="1200"/>
              <a:t>삭제 클릭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996052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EE83F-B2A5-D3FA-25B3-03CB8E08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AMI </a:t>
            </a:r>
            <a:r>
              <a:rPr lang="ko-KR" altLang="en-US"/>
              <a:t>삭제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F6F3E59-8567-BC56-7F3D-19C10A493645}"/>
              </a:ext>
            </a:extLst>
          </p:cNvPr>
          <p:cNvGrpSpPr/>
          <p:nvPr/>
        </p:nvGrpSpPr>
        <p:grpSpPr>
          <a:xfrm>
            <a:off x="970979" y="1780214"/>
            <a:ext cx="4712555" cy="4207088"/>
            <a:chOff x="978728" y="1772465"/>
            <a:chExt cx="4712555" cy="420708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9BBE9DD-32D5-9E8D-8D05-C423F02EA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6332" y="1772465"/>
              <a:ext cx="2514951" cy="1733792"/>
            </a:xfrm>
            <a:prstGeom prst="rect">
              <a:avLst/>
            </a:prstGeom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1898460-F3E1-6176-8367-31AD593B490B}"/>
                </a:ext>
              </a:extLst>
            </p:cNvPr>
            <p:cNvGrpSpPr/>
            <p:nvPr/>
          </p:nvGrpSpPr>
          <p:grpSpPr>
            <a:xfrm>
              <a:off x="978728" y="1908532"/>
              <a:ext cx="1868264" cy="4071021"/>
              <a:chOff x="978728" y="1908532"/>
              <a:chExt cx="1868264" cy="4071021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D4450980-59DE-1E68-C98F-BAAB907135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8728" y="1908532"/>
                <a:ext cx="1868264" cy="4071021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A9A5BAF-BD74-B867-E7D5-41C2E12B7ECF}"/>
                  </a:ext>
                </a:extLst>
              </p:cNvPr>
              <p:cNvSpPr/>
              <p:nvPr/>
            </p:nvSpPr>
            <p:spPr>
              <a:xfrm>
                <a:off x="1097280" y="5501898"/>
                <a:ext cx="468049" cy="21697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411695C-C9E9-11D6-C292-9BE3F9B176C4}"/>
                </a:ext>
              </a:extLst>
            </p:cNvPr>
            <p:cNvSpPr/>
            <p:nvPr/>
          </p:nvSpPr>
          <p:spPr>
            <a:xfrm>
              <a:off x="3250769" y="3107413"/>
              <a:ext cx="1340603" cy="30221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D2181CF1-A8F6-EFFA-EB01-5512A75E6ADE}"/>
                </a:ext>
              </a:extLst>
            </p:cNvPr>
            <p:cNvCxnSpPr>
              <a:cxnSpLocks/>
              <a:stCxn id="7" idx="3"/>
              <a:endCxn id="9" idx="2"/>
            </p:cNvCxnSpPr>
            <p:nvPr/>
          </p:nvCxnSpPr>
          <p:spPr>
            <a:xfrm flipV="1">
              <a:off x="1565329" y="3409630"/>
              <a:ext cx="2355742" cy="22007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22049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12EEA-F9A9-1D93-D8D0-D9A2892B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스냅샷 삭제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EC361E-C241-07ED-DDF0-0967D10D7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248" y="1952785"/>
            <a:ext cx="4277537" cy="124761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B532BC1-4876-6D1F-8BCE-6F659EA71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713" y="1956660"/>
            <a:ext cx="1810003" cy="252447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87FE8DA-B234-ACF2-F9A2-2482296B04BA}"/>
              </a:ext>
            </a:extLst>
          </p:cNvPr>
          <p:cNvSpPr/>
          <p:nvPr/>
        </p:nvSpPr>
        <p:spPr>
          <a:xfrm>
            <a:off x="7834393" y="3429000"/>
            <a:ext cx="844658" cy="251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F836D78-674C-5E2B-632C-7FB5D152256D}"/>
              </a:ext>
            </a:extLst>
          </p:cNvPr>
          <p:cNvGrpSpPr/>
          <p:nvPr/>
        </p:nvGrpSpPr>
        <p:grpSpPr>
          <a:xfrm>
            <a:off x="1097280" y="1952785"/>
            <a:ext cx="1682907" cy="3979077"/>
            <a:chOff x="1097280" y="1952785"/>
            <a:chExt cx="1682907" cy="39790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6F75436-5038-EC09-DE40-619B882D8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0" y="1952785"/>
              <a:ext cx="1682907" cy="3979077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897F913-965F-90BA-B52B-0AA336AEDB4B}"/>
                </a:ext>
              </a:extLst>
            </p:cNvPr>
            <p:cNvSpPr/>
            <p:nvPr/>
          </p:nvSpPr>
          <p:spPr>
            <a:xfrm>
              <a:off x="1167539" y="5556142"/>
              <a:ext cx="514027" cy="2066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62310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8F9B1-BE84-A3E4-EA0B-39D0EC22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볼륨 삭제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BA32027-97C1-AF0A-AAA2-60D2E971A18D}"/>
              </a:ext>
            </a:extLst>
          </p:cNvPr>
          <p:cNvGrpSpPr/>
          <p:nvPr/>
        </p:nvGrpSpPr>
        <p:grpSpPr>
          <a:xfrm>
            <a:off x="1097280" y="1866593"/>
            <a:ext cx="1724266" cy="924054"/>
            <a:chOff x="1097280" y="1866593"/>
            <a:chExt cx="1724266" cy="9240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5F943B0-BE78-7BDD-4032-A3C9F5F22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66593"/>
              <a:ext cx="1724266" cy="92405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8A72B43-82BE-7A8A-F391-52C7C8E25828}"/>
                </a:ext>
              </a:extLst>
            </p:cNvPr>
            <p:cNvSpPr/>
            <p:nvPr/>
          </p:nvSpPr>
          <p:spPr>
            <a:xfrm>
              <a:off x="1232115" y="2084522"/>
              <a:ext cx="441702" cy="271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9700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A8ED1-B785-AF18-95A8-4560AA19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RDS </a:t>
            </a:r>
            <a:r>
              <a:rPr lang="ko-KR" altLang="en-US"/>
              <a:t>삭제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52B162-D797-ECF2-CD47-3C357A80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05" y="1858709"/>
            <a:ext cx="5548366" cy="15702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0A8D998-2A2F-C8E2-27A3-6A0B8A6AF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6" y="3762302"/>
            <a:ext cx="5548366" cy="165590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44756C55-1993-A7E0-8C42-7A1F598A6376}"/>
              </a:ext>
            </a:extLst>
          </p:cNvPr>
          <p:cNvGrpSpPr/>
          <p:nvPr/>
        </p:nvGrpSpPr>
        <p:grpSpPr>
          <a:xfrm>
            <a:off x="6280083" y="1858709"/>
            <a:ext cx="2886478" cy="2019582"/>
            <a:chOff x="6280083" y="1858709"/>
            <a:chExt cx="2886478" cy="201958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C5F3FFF-178D-662D-8E1D-00DA0DB4A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0083" y="1858709"/>
              <a:ext cx="2886478" cy="20195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F593960-6329-856F-1C12-F8D297732934}"/>
                </a:ext>
              </a:extLst>
            </p:cNvPr>
            <p:cNvSpPr/>
            <p:nvPr/>
          </p:nvSpPr>
          <p:spPr>
            <a:xfrm>
              <a:off x="6354305" y="2820692"/>
              <a:ext cx="844658" cy="3177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4D397B0D-9256-F0FE-91D0-E6E3F2325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083" y="3277891"/>
            <a:ext cx="3194753" cy="348568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F6893-04D7-9F0F-D753-E7AF584F294A}"/>
              </a:ext>
            </a:extLst>
          </p:cNvPr>
          <p:cNvSpPr/>
          <p:nvPr/>
        </p:nvSpPr>
        <p:spPr>
          <a:xfrm>
            <a:off x="6280083" y="4345724"/>
            <a:ext cx="2375720" cy="6679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6C151F-6150-2974-01B0-62C9EC1B8347}"/>
              </a:ext>
            </a:extLst>
          </p:cNvPr>
          <p:cNvSpPr txBox="1"/>
          <p:nvPr/>
        </p:nvSpPr>
        <p:spPr>
          <a:xfrm>
            <a:off x="8702298" y="4339525"/>
            <a:ext cx="2193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활성화 되어있으면 돈 나감 체크 박스 취소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D20668-BEE1-E152-76D1-8D8AC7B074D2}"/>
              </a:ext>
            </a:extLst>
          </p:cNvPr>
          <p:cNvSpPr/>
          <p:nvPr/>
        </p:nvSpPr>
        <p:spPr>
          <a:xfrm>
            <a:off x="6283318" y="5018150"/>
            <a:ext cx="272465" cy="27932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5FFB7F-80E3-4CBE-B462-464700D91FC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563532" y="5137688"/>
            <a:ext cx="3254644" cy="1597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0FA2FB-70B4-E7F5-B0EE-C57C420AD994}"/>
              </a:ext>
            </a:extLst>
          </p:cNvPr>
          <p:cNvSpPr txBox="1"/>
          <p:nvPr/>
        </p:nvSpPr>
        <p:spPr>
          <a:xfrm>
            <a:off x="9818176" y="5066640"/>
            <a:ext cx="1983783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/>
              <a:t>초록 박스는 활성화 해야 삭제버튼이 활성화 됨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B8AE586-46EC-84CA-543B-6E667FD7F294}"/>
              </a:ext>
            </a:extLst>
          </p:cNvPr>
          <p:cNvGrpSpPr/>
          <p:nvPr/>
        </p:nvGrpSpPr>
        <p:grpSpPr>
          <a:xfrm>
            <a:off x="9838276" y="1823944"/>
            <a:ext cx="2219405" cy="2292010"/>
            <a:chOff x="9838276" y="1823944"/>
            <a:chExt cx="2219405" cy="229201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93FDBA0-5535-E9F4-F447-19F3DE063BC0}"/>
                </a:ext>
              </a:extLst>
            </p:cNvPr>
            <p:cNvGrpSpPr/>
            <p:nvPr/>
          </p:nvGrpSpPr>
          <p:grpSpPr>
            <a:xfrm>
              <a:off x="9838276" y="1823944"/>
              <a:ext cx="1828818" cy="1984764"/>
              <a:chOff x="9838276" y="1823944"/>
              <a:chExt cx="1828818" cy="1984764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79D7D11C-EDB6-A7E2-3C6B-6D974BF1AF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38276" y="1823944"/>
                <a:ext cx="1828818" cy="1984764"/>
              </a:xfrm>
              <a:prstGeom prst="rect">
                <a:avLst/>
              </a:prstGeom>
            </p:spPr>
          </p:pic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92F85DC-AC7C-69B4-725C-9D6104789668}"/>
                  </a:ext>
                </a:extLst>
              </p:cNvPr>
              <p:cNvSpPr/>
              <p:nvPr/>
            </p:nvSpPr>
            <p:spPr>
              <a:xfrm>
                <a:off x="9918915" y="2798994"/>
                <a:ext cx="643180" cy="18597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B18DFD6-3FE5-57AD-E143-5F0952C3F6FD}"/>
                  </a:ext>
                </a:extLst>
              </p:cNvPr>
              <p:cNvSpPr/>
              <p:nvPr/>
            </p:nvSpPr>
            <p:spPr>
              <a:xfrm flipV="1">
                <a:off x="9918915" y="3210861"/>
                <a:ext cx="643180" cy="18597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2012F7-6CF4-9FD1-5D1E-65A380573AF9}"/>
                </a:ext>
              </a:extLst>
            </p:cNvPr>
            <p:cNvSpPr txBox="1"/>
            <p:nvPr/>
          </p:nvSpPr>
          <p:spPr>
            <a:xfrm>
              <a:off x="10383864" y="3515790"/>
              <a:ext cx="167381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/>
                <a:t>체크박스 해제 안하고 삭제할시 해당 메뉴에서 삭제 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99667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8B3E1-AE07-F929-2B47-C7A6E60FE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로드밸런서 삭제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F6C544A-D474-517D-86DB-04BFCCCB31DC}"/>
              </a:ext>
            </a:extLst>
          </p:cNvPr>
          <p:cNvGrpSpPr/>
          <p:nvPr/>
        </p:nvGrpSpPr>
        <p:grpSpPr>
          <a:xfrm>
            <a:off x="1097280" y="2030814"/>
            <a:ext cx="1423790" cy="1566881"/>
            <a:chOff x="1097280" y="2030814"/>
            <a:chExt cx="1423790" cy="156688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3FC4651-A62D-FA56-6D78-1F2307000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030814"/>
              <a:ext cx="1066949" cy="40963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EFDA9C9-6233-58A5-21F3-9F6D56214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7858" y="2578378"/>
              <a:ext cx="1343212" cy="101931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C2AFA03-FC54-4D4B-0FAB-A751B4673DEC}"/>
                </a:ext>
              </a:extLst>
            </p:cNvPr>
            <p:cNvSpPr/>
            <p:nvPr/>
          </p:nvSpPr>
          <p:spPr>
            <a:xfrm>
              <a:off x="1317356" y="2867186"/>
              <a:ext cx="846873" cy="2944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374F9547-3CCB-D015-240C-4434BB621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988" y="1981237"/>
            <a:ext cx="4601217" cy="177189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DDB3F8E5-742E-DA81-6016-647CBA01823F}"/>
              </a:ext>
            </a:extLst>
          </p:cNvPr>
          <p:cNvGrpSpPr/>
          <p:nvPr/>
        </p:nvGrpSpPr>
        <p:grpSpPr>
          <a:xfrm>
            <a:off x="7904123" y="1966708"/>
            <a:ext cx="1943371" cy="2930756"/>
            <a:chOff x="7904123" y="1966708"/>
            <a:chExt cx="1943371" cy="293075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3E63EF8-910E-92B0-4102-7B587D553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04123" y="1966708"/>
              <a:ext cx="1943371" cy="2924583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2B5D4A6-51A7-DB11-2A79-980DF6164DF6}"/>
                </a:ext>
              </a:extLst>
            </p:cNvPr>
            <p:cNvSpPr/>
            <p:nvPr/>
          </p:nvSpPr>
          <p:spPr>
            <a:xfrm>
              <a:off x="8051369" y="4649492"/>
              <a:ext cx="1053885" cy="2479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61161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F040D-4F1C-43C7-0104-B0115650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Cloud Watch </a:t>
            </a:r>
            <a:r>
              <a:rPr lang="ko-KR" altLang="en-US"/>
              <a:t>삭제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D5EDA4-D1F2-2EAA-9DB5-97BBBEC51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26" y="1941436"/>
            <a:ext cx="5097421" cy="11814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F2B5BA-C1C2-825C-4192-FCD95345F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26" y="3429000"/>
            <a:ext cx="4657365" cy="19525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89C942-1571-A99B-63DC-B71C7ACD2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68" y="1951066"/>
            <a:ext cx="762106" cy="5811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D2841AB-892F-1624-65BB-FD23FD728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168" y="2630142"/>
            <a:ext cx="5868219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1881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483</TotalTime>
  <Words>1110</Words>
  <Application>Microsoft Office PowerPoint</Application>
  <PresentationFormat>와이드스크린</PresentationFormat>
  <Paragraphs>149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8" baseType="lpstr">
      <vt:lpstr>Calibri</vt:lpstr>
      <vt:lpstr>Calibri Light</vt:lpstr>
      <vt:lpstr>Wingdings</vt:lpstr>
      <vt:lpstr>추억</vt:lpstr>
      <vt:lpstr>병목지점의 성능개선</vt:lpstr>
      <vt:lpstr>가용성(Availability)과 이중화</vt:lpstr>
      <vt:lpstr>수평적 확장</vt:lpstr>
      <vt:lpstr>수직적 확장</vt:lpstr>
      <vt:lpstr>캐싱</vt:lpstr>
      <vt:lpstr>서비스 규모에 따른 시스템 설계의 변화 과정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병목지점 성능 개선 판단</vt:lpstr>
      <vt:lpstr>RDS CPU 병목 해결 실습(1)</vt:lpstr>
      <vt:lpstr>RDS CPU 병목 해결 실습(2)</vt:lpstr>
      <vt:lpstr>RDS 성능 개선 확인하기(1)</vt:lpstr>
      <vt:lpstr>RDS 성능 개선 확인하기(2)</vt:lpstr>
      <vt:lpstr>RDS 성능 개선 확인하기(3)</vt:lpstr>
      <vt:lpstr>결과 해석</vt:lpstr>
      <vt:lpstr>결과 해석</vt:lpstr>
      <vt:lpstr>EC2 병목에 대한 해결방안 모색하기</vt:lpstr>
      <vt:lpstr>생성된 EC2 인스턴스의 이미지 생성</vt:lpstr>
      <vt:lpstr>생성 이미지로 복제 인스턴스 생성(1)</vt:lpstr>
      <vt:lpstr>생성 이미지로 복제 인스턴스 생성(2)</vt:lpstr>
      <vt:lpstr>생성 이미지로 복제 인스턴스 생성(3)</vt:lpstr>
      <vt:lpstr>복제 인스턴스 설정(프로그램 실행) </vt:lpstr>
      <vt:lpstr>복제 인스턴스 CLI설정 (프로그램 실행) </vt:lpstr>
      <vt:lpstr>복제 인스턴스 역할 설정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K6-Server에서 부하테스트 스크립트 실행</vt:lpstr>
      <vt:lpstr>K6 대시보드 확인</vt:lpstr>
      <vt:lpstr>실시간 CPU, MEM 사용률 확인(top)</vt:lpstr>
      <vt:lpstr>CloudWatch 위젯 확인</vt:lpstr>
      <vt:lpstr>인스턴스 삭제</vt:lpstr>
      <vt:lpstr>AMI 삭제</vt:lpstr>
      <vt:lpstr>스냅샷 삭제</vt:lpstr>
      <vt:lpstr>볼륨 삭제</vt:lpstr>
      <vt:lpstr>RDS 삭제</vt:lpstr>
      <vt:lpstr>로드밸런서 삭제</vt:lpstr>
      <vt:lpstr>Cloud Watch 삭제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73</cp:revision>
  <dcterms:created xsi:type="dcterms:W3CDTF">2026-08-21T08:49:16Z</dcterms:created>
  <dcterms:modified xsi:type="dcterms:W3CDTF">2026-08-22T05:56:27Z</dcterms:modified>
</cp:coreProperties>
</file>