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026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108" y="4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32A172-0373-4156-B018-F6E29B938800}" type="datetimeFigureOut">
              <a:rPr lang="ko-KR" altLang="en-US" smtClean="0"/>
              <a:t>2026-08-19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1071C-D32E-416D-BB5E-1B8B6623E17E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431047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32A172-0373-4156-B018-F6E29B938800}" type="datetimeFigureOut">
              <a:rPr lang="ko-KR" altLang="en-US" smtClean="0"/>
              <a:t>2026-08-19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1071C-D32E-416D-BB5E-1B8B6623E17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62629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32A172-0373-4156-B018-F6E29B938800}" type="datetimeFigureOut">
              <a:rPr lang="ko-KR" altLang="en-US" smtClean="0"/>
              <a:t>2026-08-19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1071C-D32E-416D-BB5E-1B8B6623E17E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53192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32A172-0373-4156-B018-F6E29B938800}" type="datetimeFigureOut">
              <a:rPr lang="ko-KR" altLang="en-US" smtClean="0"/>
              <a:t>2026-08-19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1071C-D32E-416D-BB5E-1B8B6623E17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23860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32A172-0373-4156-B018-F6E29B938800}" type="datetimeFigureOut">
              <a:rPr lang="ko-KR" altLang="en-US" smtClean="0"/>
              <a:t>2026-08-19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1071C-D32E-416D-BB5E-1B8B6623E17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54294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32A172-0373-4156-B018-F6E29B938800}" type="datetimeFigureOut">
              <a:rPr lang="ko-KR" altLang="en-US" smtClean="0"/>
              <a:t>2026-08-19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1071C-D32E-416D-BB5E-1B8B6623E17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18732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32A172-0373-4156-B018-F6E29B938800}" type="datetimeFigureOut">
              <a:rPr lang="ko-KR" altLang="en-US" smtClean="0"/>
              <a:t>2026-08-19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1071C-D32E-416D-BB5E-1B8B6623E17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529923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F432A172-0373-4156-B018-F6E29B938800}" type="datetimeFigureOut">
              <a:rPr lang="ko-KR" altLang="en-US" smtClean="0"/>
              <a:t>2026-08-19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741071C-D32E-416D-BB5E-1B8B6623E17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53148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32A172-0373-4156-B018-F6E29B938800}" type="datetimeFigureOut">
              <a:rPr lang="ko-KR" altLang="en-US" smtClean="0"/>
              <a:t>2026-08-19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1071C-D32E-416D-BB5E-1B8B6623E17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27691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32A172-0373-4156-B018-F6E29B938800}" type="datetimeFigureOut">
              <a:rPr lang="ko-KR" altLang="en-US" smtClean="0"/>
              <a:t>2026-08-19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1071C-D32E-416D-BB5E-1B8B6623E17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65440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32A172-0373-4156-B018-F6E29B938800}" type="datetimeFigureOut">
              <a:rPr lang="ko-KR" altLang="en-US" smtClean="0"/>
              <a:t>2026-08-19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1071C-D32E-416D-BB5E-1B8B6623E17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11566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F432A172-0373-4156-B018-F6E29B938800}" type="datetimeFigureOut">
              <a:rPr lang="ko-KR" altLang="en-US" smtClean="0"/>
              <a:t>2026-08-19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6741071C-D32E-416D-BB5E-1B8B6623E17E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70553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1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9F4C32-18AB-1465-7876-9F802C64040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/>
              <a:t>부하테스트 모니터 링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9C1D6BB-8217-8C10-AE18-5ACE282A33C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44119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0A3C81-AE35-A06E-F7AB-63E9A2809B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200"/>
              <a:t>DB Production </a:t>
            </a:r>
            <a:r>
              <a:rPr lang="ko-KR" altLang="en-US" sz="3200"/>
              <a:t>환경 동기화</a:t>
            </a:r>
            <a:r>
              <a:rPr lang="en-US" altLang="ko-KR" sz="3200"/>
              <a:t>(</a:t>
            </a:r>
            <a:r>
              <a:rPr lang="ko-KR" altLang="en-US" sz="3200"/>
              <a:t>더미 데이터 </a:t>
            </a:r>
            <a:r>
              <a:rPr lang="en-US" altLang="ko-KR" sz="3200"/>
              <a:t>100</a:t>
            </a:r>
            <a:r>
              <a:rPr lang="ko-KR" altLang="en-US" sz="3200"/>
              <a:t>만개 입력</a:t>
            </a:r>
            <a:r>
              <a:rPr lang="en-US" altLang="ko-KR" sz="3200"/>
              <a:t>)</a:t>
            </a:r>
            <a:endParaRPr lang="ko-KR" altLang="en-US" sz="32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E5FDFF-14C5-2736-2EB7-358465F0B347}"/>
              </a:ext>
            </a:extLst>
          </p:cNvPr>
          <p:cNvSpPr txBox="1"/>
          <p:nvPr/>
        </p:nvSpPr>
        <p:spPr>
          <a:xfrm>
            <a:off x="1192306" y="1856723"/>
            <a:ext cx="6096000" cy="3647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/>
              <a:t>-- 높은 재귀(반복) 횟수를 허용하도록 설정</a:t>
            </a:r>
          </a:p>
          <a:p>
            <a:r>
              <a:rPr lang="ko-KR" altLang="en-US" sz="1100"/>
              <a:t>-- (아래에서 생성할 더미 데이터의 개수와 맞춰서 작성하면 된다.)</a:t>
            </a:r>
          </a:p>
          <a:p>
            <a:r>
              <a:rPr lang="ko-KR" altLang="en-US" sz="1100"/>
              <a:t>SET SESSION cte_max_recursion_depth = 1000000;</a:t>
            </a:r>
          </a:p>
          <a:p>
            <a:endParaRPr lang="ko-KR" altLang="en-US" sz="1100"/>
          </a:p>
          <a:p>
            <a:r>
              <a:rPr lang="ko-KR" altLang="en-US" sz="1100"/>
              <a:t>-- 더미 데이터 삽입 쿼리</a:t>
            </a:r>
          </a:p>
          <a:p>
            <a:r>
              <a:rPr lang="ko-KR" altLang="en-US" sz="1100"/>
              <a:t>INSERT INTO boards (content, title, created_at)</a:t>
            </a:r>
          </a:p>
          <a:p>
            <a:r>
              <a:rPr lang="ko-KR" altLang="en-US" sz="1100"/>
              <a:t>WITH RECURSIVE cte (n) AS</a:t>
            </a:r>
          </a:p>
          <a:p>
            <a:r>
              <a:rPr lang="ko-KR" altLang="en-US" sz="1100"/>
              <a:t>(</a:t>
            </a:r>
          </a:p>
          <a:p>
            <a:r>
              <a:rPr lang="ko-KR" altLang="en-US" sz="1100"/>
              <a:t>  SELECT 1</a:t>
            </a:r>
          </a:p>
          <a:p>
            <a:r>
              <a:rPr lang="ko-KR" altLang="en-US" sz="1100"/>
              <a:t>  UNION ALL</a:t>
            </a:r>
          </a:p>
          <a:p>
            <a:r>
              <a:rPr lang="ko-KR" altLang="en-US" sz="1100"/>
              <a:t>  SELECT n + 1 FROM cte WHERE n &lt; 1000000 -- 생성하고 싶은 더미 데이터의 개수</a:t>
            </a:r>
          </a:p>
          <a:p>
            <a:r>
              <a:rPr lang="ko-KR" altLang="en-US" sz="1100"/>
              <a:t>)</a:t>
            </a:r>
          </a:p>
          <a:p>
            <a:r>
              <a:rPr lang="ko-KR" altLang="en-US" sz="1100"/>
              <a:t>SELECT</a:t>
            </a:r>
          </a:p>
          <a:p>
            <a:r>
              <a:rPr lang="ko-KR" altLang="en-US" sz="1100"/>
              <a:t>  CONCAT('Content', LPAD(n, 7, '0')), -- 'Content' 다음에 7자리 숫자로 구성된 이름 생성</a:t>
            </a:r>
          </a:p>
          <a:p>
            <a:r>
              <a:rPr lang="ko-KR" altLang="en-US" sz="1100"/>
              <a:t>  CONCAT('Title', LPAD(n, 7, '0')),   -- 'Title' 다음에 7자리 숫자로 구성된 이름 생성</a:t>
            </a:r>
          </a:p>
          <a:p>
            <a:r>
              <a:rPr lang="ko-KR" altLang="en-US" sz="1100"/>
              <a:t>  TIMESTAMP(DATE_SUB(NOW(), INTERVAL FLOOR(RAND() * 3650) DAY) + INTERVAL FLOOR(RAND() * 86400) SECOND) </a:t>
            </a:r>
            <a:r>
              <a:rPr lang="en-US" altLang="ko-KR" sz="1100"/>
              <a:t>AS created_at</a:t>
            </a:r>
            <a:endParaRPr lang="ko-KR" altLang="en-US" sz="1100"/>
          </a:p>
          <a:p>
            <a:r>
              <a:rPr lang="ko-KR" altLang="en-US" sz="1100"/>
              <a:t>FROM cte;</a:t>
            </a:r>
          </a:p>
          <a:p>
            <a:endParaRPr lang="ko-KR" altLang="en-US" sz="1100"/>
          </a:p>
          <a:p>
            <a:r>
              <a:rPr lang="ko-KR" altLang="en-US" sz="1100"/>
              <a:t>-- 잘 생성됐는지 확인</a:t>
            </a:r>
          </a:p>
          <a:p>
            <a:r>
              <a:rPr lang="ko-KR" altLang="en-US" sz="1100"/>
              <a:t>SELECT COUNT(*) FROM boards;</a:t>
            </a:r>
          </a:p>
        </p:txBody>
      </p:sp>
    </p:spTree>
    <p:extLst>
      <p:ext uri="{BB962C8B-B14F-4D97-AF65-F5344CB8AC3E}">
        <p14:creationId xmlns:p14="http://schemas.microsoft.com/office/powerpoint/2010/main" val="28459442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58A064-F533-5E3F-F22C-9F19A8CD6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3200"/>
              <a:t>실제 프로덕션 환경에 맞는 시나리오 </a:t>
            </a:r>
            <a:r>
              <a:rPr lang="en-US" altLang="ko-KR" sz="3200"/>
              <a:t>K6</a:t>
            </a:r>
            <a:r>
              <a:rPr lang="ko-KR" altLang="en-US" sz="3200"/>
              <a:t>스크립트 작성</a:t>
            </a:r>
            <a:r>
              <a:rPr lang="en-US" altLang="ko-KR" sz="3200"/>
              <a:t>(1)</a:t>
            </a:r>
            <a:endParaRPr lang="ko-KR" altLang="en-US" sz="3200"/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9AD00FF3-E54B-C359-72E8-4161D482F0E3}"/>
              </a:ext>
            </a:extLst>
          </p:cNvPr>
          <p:cNvGrpSpPr/>
          <p:nvPr/>
        </p:nvGrpSpPr>
        <p:grpSpPr>
          <a:xfrm>
            <a:off x="1732941" y="1761233"/>
            <a:ext cx="8726118" cy="2773808"/>
            <a:chOff x="1831553" y="1825086"/>
            <a:chExt cx="8726118" cy="2773808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D5FD4C42-FB61-692B-FCCC-7F07C2894B3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831553" y="1825086"/>
              <a:ext cx="8726118" cy="1038370"/>
            </a:xfrm>
            <a:prstGeom prst="rect">
              <a:avLst/>
            </a:prstGeom>
          </p:spPr>
        </p:pic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F78E108D-6EB5-417C-72FF-9613F20745F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671528" y="2758184"/>
              <a:ext cx="4568000" cy="1840710"/>
            </a:xfrm>
            <a:prstGeom prst="rect">
              <a:avLst/>
            </a:prstGeom>
          </p:spPr>
        </p:pic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E974698C-1D45-A9E2-2A16-6D63B7178F39}"/>
              </a:ext>
            </a:extLst>
          </p:cNvPr>
          <p:cNvGrpSpPr/>
          <p:nvPr/>
        </p:nvGrpSpPr>
        <p:grpSpPr>
          <a:xfrm>
            <a:off x="2009205" y="4953717"/>
            <a:ext cx="8449854" cy="1028844"/>
            <a:chOff x="2009205" y="4953717"/>
            <a:chExt cx="8449854" cy="1028844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E82EC7CD-0136-383C-4D80-053E09E9E47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009205" y="4953717"/>
              <a:ext cx="8449854" cy="1028844"/>
            </a:xfrm>
            <a:prstGeom prst="rect">
              <a:avLst/>
            </a:prstGeom>
          </p:spPr>
        </p:pic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EED7CA93-3E0B-4C08-8646-27D3C02A7D31}"/>
                </a:ext>
              </a:extLst>
            </p:cNvPr>
            <p:cNvSpPr/>
            <p:nvPr/>
          </p:nvSpPr>
          <p:spPr>
            <a:xfrm>
              <a:off x="2384612" y="5316071"/>
              <a:ext cx="8074447" cy="30480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8606F178-2084-982B-F9D3-AF6CA739CDF5}"/>
                </a:ext>
              </a:extLst>
            </p:cNvPr>
            <p:cNvSpPr/>
            <p:nvPr/>
          </p:nvSpPr>
          <p:spPr>
            <a:xfrm>
              <a:off x="2009206" y="5620871"/>
              <a:ext cx="1029830" cy="30480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9809137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86BAFB-A817-E052-64DE-24E128C1C6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30137C-80AD-BDA3-A750-7206968505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3200"/>
              <a:t>실제 프로덕션 환경에 맞는 시나리오 </a:t>
            </a:r>
            <a:r>
              <a:rPr lang="en-US" altLang="ko-KR" sz="3200"/>
              <a:t>K6</a:t>
            </a:r>
            <a:r>
              <a:rPr lang="ko-KR" altLang="en-US" sz="3200"/>
              <a:t>스크립트 작성</a:t>
            </a:r>
            <a:r>
              <a:rPr lang="en-US" altLang="ko-KR" sz="3200"/>
              <a:t>(2)</a:t>
            </a:r>
            <a:endParaRPr lang="ko-KR" altLang="en-US" sz="320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82346A0-11F6-6D30-BB87-7420BC1457C7}"/>
              </a:ext>
            </a:extLst>
          </p:cNvPr>
          <p:cNvSpPr txBox="1"/>
          <p:nvPr/>
        </p:nvSpPr>
        <p:spPr>
          <a:xfrm>
            <a:off x="1097280" y="1739305"/>
            <a:ext cx="4747708" cy="4616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50"/>
              <a:t>import http from 'k6/http';</a:t>
            </a:r>
          </a:p>
          <a:p>
            <a:r>
              <a:rPr lang="ko-KR" altLang="en-US" sz="1050"/>
              <a:t>import { sleep } from 'k6';</a:t>
            </a:r>
          </a:p>
          <a:p>
            <a:endParaRPr lang="ko-KR" altLang="en-US" sz="1050"/>
          </a:p>
          <a:p>
            <a:r>
              <a:rPr lang="ko-KR" altLang="en-US" sz="1050"/>
              <a:t>export const options = {</a:t>
            </a:r>
          </a:p>
          <a:p>
            <a:r>
              <a:rPr lang="ko-KR" altLang="en-US" sz="1050"/>
              <a:t>  // 부하를 생성하는 단계(stages)를 설정</a:t>
            </a:r>
          </a:p>
          <a:p>
            <a:r>
              <a:rPr lang="ko-KR" altLang="en-US" sz="1050"/>
              <a:t>  stages: [</a:t>
            </a:r>
          </a:p>
          <a:p>
            <a:r>
              <a:rPr lang="ko-KR" altLang="en-US" sz="1050"/>
              <a:t>    // 10분에 걸쳐 vus(virtual users, 가상 유저수)가 50에 도달하도록 설정</a:t>
            </a:r>
          </a:p>
          <a:p>
            <a:r>
              <a:rPr lang="ko-KR" altLang="en-US" sz="1050"/>
              <a:t>    { duration: '10m', target: 50 }</a:t>
            </a:r>
          </a:p>
          <a:p>
            <a:r>
              <a:rPr lang="ko-KR" altLang="en-US" sz="1050"/>
              <a:t>  ],</a:t>
            </a:r>
          </a:p>
          <a:p>
            <a:r>
              <a:rPr lang="ko-KR" altLang="en-US" sz="1050"/>
              <a:t>};</a:t>
            </a:r>
          </a:p>
          <a:p>
            <a:endParaRPr lang="ko-KR" altLang="en-US" sz="1050"/>
          </a:p>
          <a:p>
            <a:r>
              <a:rPr lang="ko-KR" altLang="en-US" sz="1050"/>
              <a:t>export default function () {</a:t>
            </a:r>
          </a:p>
          <a:p>
            <a:r>
              <a:rPr lang="ko-KR" altLang="en-US" sz="1050"/>
              <a:t>  let random = Math.random();</a:t>
            </a:r>
          </a:p>
          <a:p>
            <a:r>
              <a:rPr lang="ko-KR" altLang="en-US" sz="1050"/>
              <a:t>  // 100명 중 5명의 비율로 게시글을 작성</a:t>
            </a:r>
          </a:p>
          <a:p>
            <a:r>
              <a:rPr lang="ko-KR" altLang="en-US" sz="1050"/>
              <a:t>  if (random &lt; 0.05) {</a:t>
            </a:r>
          </a:p>
          <a:p>
            <a:r>
              <a:rPr lang="ko-KR" altLang="en-US" sz="1050"/>
              <a:t>    const data = { title: '제목', content: '내용' };</a:t>
            </a:r>
          </a:p>
          <a:p>
            <a:r>
              <a:rPr lang="ko-KR" altLang="en-US" sz="1050"/>
              <a:t>    http.post('http://</a:t>
            </a:r>
            <a:r>
              <a:rPr lang="ko-KR" altLang="en-US" sz="1050" b="1">
                <a:solidFill>
                  <a:srgbClr val="FF0000"/>
                </a:solidFill>
              </a:rPr>
              <a:t>{ELB 주소}</a:t>
            </a:r>
            <a:r>
              <a:rPr lang="ko-KR" altLang="en-US" sz="1050"/>
              <a:t>/boards', JSON.stringify(data), {</a:t>
            </a:r>
          </a:p>
          <a:p>
            <a:r>
              <a:rPr lang="ko-KR" altLang="en-US" sz="1050"/>
              <a:t>      headers: { 'Content-Type': 'application/json' },</a:t>
            </a:r>
          </a:p>
          <a:p>
            <a:r>
              <a:rPr lang="ko-KR" altLang="en-US" sz="1050"/>
              <a:t>    });</a:t>
            </a:r>
          </a:p>
          <a:p>
            <a:endParaRPr lang="ko-KR" altLang="en-US" sz="1050"/>
          </a:p>
          <a:p>
            <a:r>
              <a:rPr lang="ko-KR" altLang="en-US" sz="1050"/>
              <a:t>  // 100명 중 95명의 비율로 게시글을 조회</a:t>
            </a:r>
          </a:p>
          <a:p>
            <a:r>
              <a:rPr lang="ko-KR" altLang="en-US" sz="1050"/>
              <a:t>  } else {</a:t>
            </a:r>
          </a:p>
          <a:p>
            <a:r>
              <a:rPr lang="ko-KR" altLang="en-US" sz="1050"/>
              <a:t>    http.get('http://</a:t>
            </a:r>
            <a:r>
              <a:rPr lang="ko-KR" altLang="en-US" sz="1050" b="1">
                <a:solidFill>
                  <a:srgbClr val="FF0000"/>
                </a:solidFill>
              </a:rPr>
              <a:t>{ELB 주소}</a:t>
            </a:r>
            <a:r>
              <a:rPr lang="ko-KR" altLang="en-US" sz="1050"/>
              <a:t>/boards');</a:t>
            </a:r>
          </a:p>
          <a:p>
            <a:r>
              <a:rPr lang="ko-KR" altLang="en-US" sz="1050"/>
              <a:t>  }</a:t>
            </a:r>
          </a:p>
          <a:p>
            <a:endParaRPr lang="ko-KR" altLang="en-US" sz="1050"/>
          </a:p>
          <a:p>
            <a:r>
              <a:rPr lang="ko-KR" altLang="en-US" sz="1050"/>
              <a:t>  // 1초 휴식</a:t>
            </a:r>
          </a:p>
          <a:p>
            <a:r>
              <a:rPr lang="ko-KR" altLang="en-US" sz="1050"/>
              <a:t>  sleep(1);</a:t>
            </a:r>
          </a:p>
          <a:p>
            <a:r>
              <a:rPr lang="ko-KR" altLang="en-US" sz="1050"/>
              <a:t>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150E822-35BB-A247-E995-98F791494A24}"/>
              </a:ext>
            </a:extLst>
          </p:cNvPr>
          <p:cNvSpPr txBox="1"/>
          <p:nvPr/>
        </p:nvSpPr>
        <p:spPr>
          <a:xfrm>
            <a:off x="6038626" y="4360894"/>
            <a:ext cx="5056094" cy="27699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200" b="1" i="0">
                <a:solidFill>
                  <a:srgbClr val="FF0000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ELB </a:t>
            </a:r>
            <a:r>
              <a:rPr lang="ko-KR" altLang="en-US" sz="1200" b="1" i="0">
                <a:solidFill>
                  <a:srgbClr val="FF0000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주소</a:t>
            </a:r>
            <a:r>
              <a:rPr lang="ko-KR" altLang="en-US" sz="1200" b="0" i="0">
                <a:solidFill>
                  <a:srgbClr val="000000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en-US" altLang="ko-KR" sz="1200" b="0" i="0">
                <a:solidFill>
                  <a:srgbClr val="000000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: jscode-alb-546712230.ap-northeast-2.elb.amazonaws.com</a:t>
            </a:r>
            <a:endParaRPr lang="ko-KR" altLang="en-US" sz="1200"/>
          </a:p>
        </p:txBody>
      </p:sp>
    </p:spTree>
    <p:extLst>
      <p:ext uri="{BB962C8B-B14F-4D97-AF65-F5344CB8AC3E}">
        <p14:creationId xmlns:p14="http://schemas.microsoft.com/office/powerpoint/2010/main" val="14621271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FA035F5-E2D9-6854-2019-DB146628AA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K6</a:t>
            </a:r>
            <a:r>
              <a:rPr lang="ko-KR" altLang="en-US"/>
              <a:t> 부하테스트 스크립트 실행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5F4BC0-7975-A7F0-EA0E-6BE090BE0ECE}"/>
              </a:ext>
            </a:extLst>
          </p:cNvPr>
          <p:cNvSpPr txBox="1"/>
          <p:nvPr/>
        </p:nvSpPr>
        <p:spPr>
          <a:xfrm>
            <a:off x="1237129" y="181491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/>
              <a:t>K6_WEB_DASHBOARD=true k6 run script.js</a:t>
            </a:r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D8073E7-EB00-2855-7F90-EA2058670B8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564"/>
          <a:stretch>
            <a:fillRect/>
          </a:stretch>
        </p:blipFill>
        <p:spPr>
          <a:xfrm>
            <a:off x="1237129" y="2261807"/>
            <a:ext cx="4858871" cy="2507626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D0E81469-412D-09C5-2BC1-E36DCB243B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0153" y="1999583"/>
            <a:ext cx="3343742" cy="57158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530980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AFEAEAD-9463-1E49-BFA8-13F94A2184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K6 </a:t>
            </a:r>
            <a:r>
              <a:rPr lang="ko-KR" altLang="en-US"/>
              <a:t>모니터링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7BFB59-8473-4A63-19E8-57EDF611587A}"/>
              </a:ext>
            </a:extLst>
          </p:cNvPr>
          <p:cNvSpPr txBox="1"/>
          <p:nvPr/>
        </p:nvSpPr>
        <p:spPr>
          <a:xfrm>
            <a:off x="1219200" y="1737360"/>
            <a:ext cx="101390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브라우저 접속 </a:t>
            </a:r>
            <a:r>
              <a:rPr lang="en-US" altLang="ko-KR"/>
              <a:t>: 43.301.67.79:5665 </a:t>
            </a:r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24358CF-7A82-BB9A-E884-8F1872A956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2256634"/>
            <a:ext cx="7297271" cy="4081681"/>
          </a:xfrm>
          <a:prstGeom prst="rect">
            <a:avLst/>
          </a:prstGeom>
        </p:spPr>
      </p:pic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3E5BFDB3-5AEB-BF95-089A-D8C316D44473}"/>
              </a:ext>
            </a:extLst>
          </p:cNvPr>
          <p:cNvCxnSpPr>
            <a:cxnSpLocks/>
          </p:cNvCxnSpPr>
          <p:nvPr/>
        </p:nvCxnSpPr>
        <p:spPr>
          <a:xfrm>
            <a:off x="1219200" y="5271247"/>
            <a:ext cx="3245224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56F70BFB-8112-21C7-5777-AD0DB7099E35}"/>
              </a:ext>
            </a:extLst>
          </p:cNvPr>
          <p:cNvSpPr txBox="1"/>
          <p:nvPr/>
        </p:nvSpPr>
        <p:spPr>
          <a:xfrm>
            <a:off x="8677835" y="2106692"/>
            <a:ext cx="3424518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>
                <a:solidFill>
                  <a:srgbClr val="FF0000"/>
                </a:solidFill>
              </a:rPr>
              <a:t>throughput (</a:t>
            </a:r>
            <a:r>
              <a:rPr lang="ko-KR" altLang="en-US" sz="1200" b="1">
                <a:solidFill>
                  <a:srgbClr val="FF0000"/>
                </a:solidFill>
              </a:rPr>
              <a:t>처리량</a:t>
            </a:r>
            <a:r>
              <a:rPr lang="en-US" altLang="ko-KR" sz="1200" b="1">
                <a:solidFill>
                  <a:srgbClr val="FF0000"/>
                </a:solidFill>
              </a:rPr>
              <a:t>)</a:t>
            </a:r>
            <a:br>
              <a:rPr lang="en-US" altLang="ko-KR" sz="1200"/>
            </a:br>
            <a:r>
              <a:rPr lang="ko-KR" altLang="en-US" sz="1200"/>
              <a:t>더이상 </a:t>
            </a:r>
            <a:r>
              <a:rPr lang="en-US" altLang="ko-KR" sz="1200"/>
              <a:t>http_reqs</a:t>
            </a:r>
            <a:r>
              <a:rPr lang="ko-KR" altLang="en-US" sz="1200"/>
              <a:t>가 올라가지 않는 구간 </a:t>
            </a:r>
            <a:endParaRPr lang="en-US" altLang="ko-KR" sz="1200"/>
          </a:p>
          <a:p>
            <a:r>
              <a:rPr lang="en-US" altLang="ko-KR" sz="1200"/>
              <a:t>( </a:t>
            </a:r>
            <a:r>
              <a:rPr lang="ko-KR" altLang="en-US" sz="1200"/>
              <a:t>그래프상 </a:t>
            </a:r>
            <a:r>
              <a:rPr lang="en-US" altLang="ko-KR" sz="1200"/>
              <a:t>3 TPS )</a:t>
            </a:r>
          </a:p>
          <a:p>
            <a:endParaRPr lang="en-US" altLang="ko-KR" sz="1200"/>
          </a:p>
          <a:p>
            <a:r>
              <a:rPr lang="en-US" altLang="ko-KR" sz="1200" b="1">
                <a:solidFill>
                  <a:srgbClr val="0070C0"/>
                </a:solidFill>
              </a:rPr>
              <a:t>latency(</a:t>
            </a:r>
            <a:r>
              <a:rPr lang="ko-KR" altLang="en-US" sz="1200" b="1">
                <a:solidFill>
                  <a:srgbClr val="0070C0"/>
                </a:solidFill>
              </a:rPr>
              <a:t>지연시간</a:t>
            </a:r>
            <a:r>
              <a:rPr lang="en-US" altLang="ko-KR" sz="1200" b="1">
                <a:solidFill>
                  <a:srgbClr val="0070C0"/>
                </a:solidFill>
              </a:rPr>
              <a:t>)</a:t>
            </a:r>
          </a:p>
          <a:p>
            <a:r>
              <a:rPr lang="ko-KR" altLang="en-US" sz="1200"/>
              <a:t>최대 처리량의 한계로인해 대기하는 시간에 의하여 </a:t>
            </a:r>
            <a:r>
              <a:rPr lang="en-US" altLang="ko-KR" sz="1200"/>
              <a:t>Latency</a:t>
            </a:r>
            <a:r>
              <a:rPr lang="ko-KR" altLang="en-US" sz="1200"/>
              <a:t>가 증가하는 추세를 보임</a:t>
            </a:r>
            <a:br>
              <a:rPr lang="en-US" altLang="ko-KR" sz="1200"/>
            </a:br>
            <a:br>
              <a:rPr lang="en-US" altLang="ko-KR" sz="1200"/>
            </a:br>
            <a:r>
              <a:rPr lang="ko-KR" altLang="en-US" sz="1200"/>
              <a:t>응답시간이 </a:t>
            </a:r>
            <a:r>
              <a:rPr lang="en-US" altLang="ko-KR" sz="1200"/>
              <a:t>4</a:t>
            </a:r>
            <a:r>
              <a:rPr lang="ko-KR" altLang="en-US" sz="1200"/>
              <a:t>초까지 증가하는걸 확인했고</a:t>
            </a:r>
            <a:r>
              <a:rPr lang="en-US" altLang="ko-KR" sz="1200"/>
              <a:t>, </a:t>
            </a:r>
            <a:r>
              <a:rPr lang="ko-KR" altLang="en-US" sz="1200"/>
              <a:t>목표 지연시간이 </a:t>
            </a:r>
            <a:r>
              <a:rPr lang="en-US" altLang="ko-KR" sz="1200"/>
              <a:t>1s</a:t>
            </a:r>
            <a:r>
              <a:rPr lang="ko-KR" altLang="en-US" sz="1200"/>
              <a:t>라면 개선이 들어가야함</a:t>
            </a:r>
            <a:r>
              <a:rPr lang="en-US" altLang="ko-KR" sz="1200"/>
              <a:t>.</a:t>
            </a:r>
          </a:p>
          <a:p>
            <a:endParaRPr lang="en-US" altLang="ko-KR" sz="1200"/>
          </a:p>
          <a:p>
            <a:r>
              <a:rPr lang="en-US" altLang="ko-KR" sz="1200" b="1">
                <a:solidFill>
                  <a:srgbClr val="7030A0"/>
                </a:solidFill>
              </a:rPr>
              <a:t>Http Request Faile(</a:t>
            </a:r>
            <a:r>
              <a:rPr lang="ko-KR" altLang="en-US" sz="1200" b="1">
                <a:solidFill>
                  <a:srgbClr val="7030A0"/>
                </a:solidFill>
              </a:rPr>
              <a:t>요청 실패</a:t>
            </a:r>
            <a:r>
              <a:rPr lang="en-US" altLang="ko-KR" sz="1200" b="1">
                <a:solidFill>
                  <a:srgbClr val="7030A0"/>
                </a:solidFill>
              </a:rPr>
              <a:t>)</a:t>
            </a:r>
          </a:p>
          <a:p>
            <a:r>
              <a:rPr lang="ko-KR" altLang="en-US" sz="1200"/>
              <a:t>요청 실패는 크리티컬한 이슈이기에 원인 분석</a:t>
            </a:r>
            <a:r>
              <a:rPr lang="en-US" altLang="ko-KR" sz="1200"/>
              <a:t>(</a:t>
            </a:r>
            <a:r>
              <a:rPr lang="ko-KR" altLang="en-US" sz="1200"/>
              <a:t>디버깅</a:t>
            </a:r>
            <a:r>
              <a:rPr lang="en-US" altLang="ko-KR" sz="1200"/>
              <a:t>)</a:t>
            </a:r>
            <a:r>
              <a:rPr lang="ko-KR" altLang="en-US" sz="1200"/>
              <a:t>에 바로 들어가야한다</a:t>
            </a:r>
            <a:r>
              <a:rPr lang="en-US" altLang="ko-KR" sz="1200"/>
              <a:t>.</a:t>
            </a:r>
            <a:endParaRPr lang="ko-KR" altLang="en-US" sz="1200" b="1">
              <a:solidFill>
                <a:srgbClr val="7030A0"/>
              </a:solidFill>
            </a:endParaRPr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3C759B04-3622-A4EE-4DFC-47ACAEBACBD7}"/>
              </a:ext>
            </a:extLst>
          </p:cNvPr>
          <p:cNvCxnSpPr>
            <a:cxnSpLocks/>
          </p:cNvCxnSpPr>
          <p:nvPr/>
        </p:nvCxnSpPr>
        <p:spPr>
          <a:xfrm>
            <a:off x="986118" y="3908612"/>
            <a:ext cx="7691717" cy="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509063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ED4788-7E2B-8F59-B0F2-734DFD93D5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성능개선 의심점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9350226-FA76-C476-37A6-7D6A892A5709}"/>
              </a:ext>
            </a:extLst>
          </p:cNvPr>
          <p:cNvSpPr txBox="1"/>
          <p:nvPr/>
        </p:nvSpPr>
        <p:spPr>
          <a:xfrm>
            <a:off x="1344706" y="5038165"/>
            <a:ext cx="10013577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개선의 필요하다고 짐작되는 구성 요소</a:t>
            </a:r>
            <a:endParaRPr lang="en-US" altLang="ko-KR" sz="1400"/>
          </a:p>
          <a:p>
            <a:pPr marL="342900" indent="-342900">
              <a:buAutoNum type="arabicPeriod"/>
            </a:pPr>
            <a:r>
              <a:rPr lang="ko-KR" altLang="en-US" sz="1400"/>
              <a:t>로드밸런스</a:t>
            </a:r>
            <a:endParaRPr lang="en-US" altLang="ko-KR" sz="1400"/>
          </a:p>
          <a:p>
            <a:pPr marL="342900" indent="-342900">
              <a:buAutoNum type="arabicPeriod"/>
            </a:pPr>
            <a:r>
              <a:rPr lang="en-US" altLang="ko-KR" sz="1400"/>
              <a:t>EC2</a:t>
            </a:r>
          </a:p>
          <a:p>
            <a:pPr marL="342900" indent="-342900">
              <a:buAutoNum type="arabicPeriod"/>
            </a:pPr>
            <a:r>
              <a:rPr lang="en-US" altLang="ko-KR" sz="1400"/>
              <a:t>RDS </a:t>
            </a:r>
          </a:p>
          <a:p>
            <a:r>
              <a:rPr lang="en-US" altLang="ko-KR" sz="1400" b="1">
                <a:solidFill>
                  <a:srgbClr val="FF0000"/>
                </a:solidFill>
              </a:rPr>
              <a:t>(</a:t>
            </a:r>
            <a:r>
              <a:rPr lang="ko-KR" altLang="en-US" sz="1400" b="1">
                <a:solidFill>
                  <a:srgbClr val="FF0000"/>
                </a:solidFill>
              </a:rPr>
              <a:t>병목지점을 찾아 어느 구성요소가  성능을 저하시키고 있는지 확인해야한다</a:t>
            </a:r>
            <a:r>
              <a:rPr lang="en-US" altLang="ko-KR" sz="1400" b="1">
                <a:solidFill>
                  <a:srgbClr val="FF0000"/>
                </a:solidFill>
              </a:rPr>
              <a:t>.)</a:t>
            </a:r>
            <a:endParaRPr lang="ko-KR" altLang="en-US" sz="1400" b="1">
              <a:solidFill>
                <a:srgbClr val="FF0000"/>
              </a:solidFill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F11885A-70A9-F9D1-51EA-BE949BF167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1337" y="1961945"/>
            <a:ext cx="6449325" cy="2934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642904"/>
      </p:ext>
    </p:extLst>
  </p:cSld>
  <p:clrMapOvr>
    <a:masterClrMapping/>
  </p:clrMapOvr>
</p:sld>
</file>

<file path=ppt/theme/theme1.xml><?xml version="1.0" encoding="utf-8"?>
<a:theme xmlns:a="http://schemas.openxmlformats.org/drawingml/2006/main" name="추억">
  <a:themeElements>
    <a:clrScheme name="추억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추억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추억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47</TotalTime>
  <Words>515</Words>
  <Application>Microsoft Office PowerPoint</Application>
  <PresentationFormat>와이드스크린</PresentationFormat>
  <Paragraphs>71</Paragraphs>
  <Slides>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1" baseType="lpstr">
      <vt:lpstr>Noto Sans KR</vt:lpstr>
      <vt:lpstr>Calibri</vt:lpstr>
      <vt:lpstr>Calibri Light</vt:lpstr>
      <vt:lpstr>추억</vt:lpstr>
      <vt:lpstr>부하테스트 모니터 링</vt:lpstr>
      <vt:lpstr>DB Production 환경 동기화(더미 데이터 100만개 입력)</vt:lpstr>
      <vt:lpstr>실제 프로덕션 환경에 맞는 시나리오 K6스크립트 작성(1)</vt:lpstr>
      <vt:lpstr>실제 프로덕션 환경에 맞는 시나리오 K6스크립트 작성(2)</vt:lpstr>
      <vt:lpstr>K6 부하테스트 스크립트 실행</vt:lpstr>
      <vt:lpstr>K6 모니터링</vt:lpstr>
      <vt:lpstr>성능개선 의심점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khb</dc:creator>
  <cp:lastModifiedBy>khb</cp:lastModifiedBy>
  <cp:revision>15</cp:revision>
  <dcterms:created xsi:type="dcterms:W3CDTF">2026-08-19T11:57:39Z</dcterms:created>
  <dcterms:modified xsi:type="dcterms:W3CDTF">2026-08-19T12:45:08Z</dcterms:modified>
</cp:coreProperties>
</file>