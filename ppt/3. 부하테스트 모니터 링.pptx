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90" r:id="rId32"/>
    <p:sldId id="289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9" r:id="rId41"/>
    <p:sldId id="298" r:id="rId42"/>
    <p:sldId id="300" r:id="rId43"/>
    <p:sldId id="302" r:id="rId44"/>
    <p:sldId id="303" r:id="rId45"/>
    <p:sldId id="304" r:id="rId46"/>
    <p:sldId id="305" r:id="rId47"/>
    <p:sldId id="30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A00F800-DD4F-46A3-822F-9971B837FEC1}">
          <p14:sldIdLst>
            <p14:sldId id="256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모니터링과 메트릭" id="{35742A06-3C0E-4CCB-AEDB-34D3B1B34AEB}">
          <p14:sldIdLst>
            <p14:sldId id="264"/>
            <p14:sldId id="265"/>
            <p14:sldId id="266"/>
            <p14:sldId id="267"/>
            <p14:sldId id="268"/>
          </p14:sldIdLst>
        </p14:section>
        <p14:section name="인프라 별 사용하는 주요자원의 이해" id="{098B83A8-A6FF-4A6F-965E-9E0B6CAC3634}">
          <p14:sldIdLst>
            <p14:sldId id="269"/>
            <p14:sldId id="270"/>
          </p14:sldIdLst>
        </p14:section>
        <p14:section name="EC2 모니터링 셋팅하기" id="{80565274-458B-4D09-87EC-96F5D6EC610D}">
          <p14:sldIdLst>
            <p14:sldId id="271"/>
            <p14:sldId id="272"/>
            <p14:sldId id="273"/>
            <p14:sldId id="274"/>
            <p14:sldId id="275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RDS 모니터링 셋팅하기" id="{7FC0304F-4AB5-4021-B46E-DB6DA88773AA}">
          <p14:sldIdLst>
            <p14:sldId id="284"/>
            <p14:sldId id="286"/>
          </p14:sldIdLst>
        </p14:section>
        <p14:section name="ELB 모니터링 셋팅하기" id="{89B48EF2-D010-4319-9145-6007AA7822A2}">
          <p14:sldIdLst>
            <p14:sldId id="287"/>
            <p14:sldId id="288"/>
          </p14:sldIdLst>
        </p14:section>
        <p14:section name="각 서버의 CPU,Memory를 한눈에" id="{241B87DC-885F-4879-9FA5-445B7B7442E8}">
          <p14:sldIdLst>
            <p14:sldId id="290"/>
            <p14:sldId id="289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부하테스트 병목 지점 진단하기" id="{2EADFEB4-491A-4509-B8A9-3B234129B66E}">
          <p14:sldIdLst>
            <p14:sldId id="297"/>
            <p14:sldId id="299"/>
            <p14:sldId id="298"/>
          </p14:sldIdLst>
        </p14:section>
        <p14:section name="실시간으로 CPU와 메모리를 관측하는 방법" id="{0D3B4056-83F1-4A88-9800-F639D6C76F70}">
          <p14:sldIdLst>
            <p14:sldId id="300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6" autoAdjust="0"/>
    <p:restoredTop sz="94660"/>
  </p:normalViewPr>
  <p:slideViewPr>
    <p:cSldViewPr snapToGrid="0">
      <p:cViewPr>
        <p:scale>
          <a:sx n="100" d="100"/>
          <a:sy n="100" d="100"/>
        </p:scale>
        <p:origin x="34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10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26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1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38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42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87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99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1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76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54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15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32A172-0373-4156-B018-F6E29B93880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41071C-D32E-416D-BB5E-1B8B6623E1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05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s3.amazonaws.com/amazoncloudwatch-agent/ubuntu/amd64/latest/amazon-cloudwatch-agent.deb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F4C32-18AB-1465-7876-9F802C6404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부하테스트 모니터링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C1D6BB-8217-8C10-AE18-5ACE282A3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41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A3C81-AE35-A06E-F7AB-63E9A280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DB Production </a:t>
            </a:r>
            <a:r>
              <a:rPr lang="ko-KR" altLang="en-US" sz="3200"/>
              <a:t>환경 동기화</a:t>
            </a:r>
            <a:r>
              <a:rPr lang="en-US" altLang="ko-KR" sz="3200"/>
              <a:t>(</a:t>
            </a:r>
            <a:r>
              <a:rPr lang="ko-KR" altLang="en-US" sz="3200"/>
              <a:t>더미 데이터 </a:t>
            </a:r>
            <a:r>
              <a:rPr lang="en-US" altLang="ko-KR" sz="3200"/>
              <a:t>100</a:t>
            </a:r>
            <a:r>
              <a:rPr lang="ko-KR" altLang="en-US" sz="3200"/>
              <a:t>만개 입력</a:t>
            </a:r>
            <a:r>
              <a:rPr lang="en-US" altLang="ko-KR" sz="3200"/>
              <a:t>)</a:t>
            </a:r>
            <a:endParaRPr lang="ko-KR" altLang="en-US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5FDFF-14C5-2736-2EB7-358465F0B347}"/>
              </a:ext>
            </a:extLst>
          </p:cNvPr>
          <p:cNvSpPr txBox="1"/>
          <p:nvPr/>
        </p:nvSpPr>
        <p:spPr>
          <a:xfrm>
            <a:off x="1192306" y="1856723"/>
            <a:ext cx="6096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-- 높은 재귀(반복) 횟수를 허용하도록 설정</a:t>
            </a:r>
          </a:p>
          <a:p>
            <a:r>
              <a:rPr lang="ko-KR" altLang="en-US" sz="1100"/>
              <a:t>-- (아래에서 생성할 더미 데이터의 개수와 맞춰서 작성하면 된다.)</a:t>
            </a:r>
          </a:p>
          <a:p>
            <a:r>
              <a:rPr lang="ko-KR" altLang="en-US" sz="1100"/>
              <a:t>SET SESSION cte_max_recursion_depth = 1000000;</a:t>
            </a:r>
          </a:p>
          <a:p>
            <a:endParaRPr lang="ko-KR" altLang="en-US" sz="1100"/>
          </a:p>
          <a:p>
            <a:r>
              <a:rPr lang="ko-KR" altLang="en-US" sz="1100"/>
              <a:t>-- 더미 데이터 삽입 쿼리</a:t>
            </a:r>
          </a:p>
          <a:p>
            <a:r>
              <a:rPr lang="ko-KR" altLang="en-US" sz="1100"/>
              <a:t>INSERT INTO boards (content, title, created_at)</a:t>
            </a:r>
          </a:p>
          <a:p>
            <a:r>
              <a:rPr lang="ko-KR" altLang="en-US" sz="1100"/>
              <a:t>WITH RECURSIVE cte (n) AS</a:t>
            </a:r>
          </a:p>
          <a:p>
            <a:r>
              <a:rPr lang="ko-KR" altLang="en-US" sz="1100"/>
              <a:t>(</a:t>
            </a:r>
          </a:p>
          <a:p>
            <a:r>
              <a:rPr lang="ko-KR" altLang="en-US" sz="1100"/>
              <a:t>  SELECT 1</a:t>
            </a:r>
          </a:p>
          <a:p>
            <a:r>
              <a:rPr lang="ko-KR" altLang="en-US" sz="1100"/>
              <a:t>  UNION ALL</a:t>
            </a:r>
          </a:p>
          <a:p>
            <a:r>
              <a:rPr lang="ko-KR" altLang="en-US" sz="1100"/>
              <a:t>  SELECT n + 1 FROM cte WHERE n &lt; 1000000 -- 생성하고 싶은 더미 데이터의 개수</a:t>
            </a:r>
          </a:p>
          <a:p>
            <a:r>
              <a:rPr lang="ko-KR" altLang="en-US" sz="1100"/>
              <a:t>)</a:t>
            </a:r>
          </a:p>
          <a:p>
            <a:r>
              <a:rPr lang="ko-KR" altLang="en-US" sz="1100"/>
              <a:t>SELECT</a:t>
            </a:r>
          </a:p>
          <a:p>
            <a:r>
              <a:rPr lang="ko-KR" altLang="en-US" sz="1100"/>
              <a:t>  CONCAT('Content', LPAD(n, 7, '0')), -- 'Content' 다음에 7자리 숫자로 구성된 이름 생성</a:t>
            </a:r>
          </a:p>
          <a:p>
            <a:r>
              <a:rPr lang="ko-KR" altLang="en-US" sz="1100"/>
              <a:t>  CONCAT('Title', LPAD(n, 7, '0')),   -- 'Title' 다음에 7자리 숫자로 구성된 이름 생성</a:t>
            </a:r>
          </a:p>
          <a:p>
            <a:r>
              <a:rPr lang="ko-KR" altLang="en-US" sz="1100"/>
              <a:t>  TIMESTAMP(DATE_SUB(NOW(), INTERVAL FLOOR(RAND() * 3650) DAY) + INTERVAL FLOOR(RAND() * 86400) SECOND) </a:t>
            </a:r>
            <a:r>
              <a:rPr lang="en-US" altLang="ko-KR" sz="1100"/>
              <a:t>AS created_at</a:t>
            </a:r>
            <a:endParaRPr lang="ko-KR" altLang="en-US" sz="1100"/>
          </a:p>
          <a:p>
            <a:r>
              <a:rPr lang="ko-KR" altLang="en-US" sz="1100"/>
              <a:t>FROM cte;</a:t>
            </a:r>
          </a:p>
          <a:p>
            <a:endParaRPr lang="ko-KR" altLang="en-US" sz="1100"/>
          </a:p>
          <a:p>
            <a:r>
              <a:rPr lang="ko-KR" altLang="en-US" sz="1100"/>
              <a:t>-- 잘 생성됐는지 확인</a:t>
            </a:r>
          </a:p>
          <a:p>
            <a:r>
              <a:rPr lang="ko-KR" altLang="en-US" sz="1100"/>
              <a:t>SELECT COUNT(*) FROM boards;</a:t>
            </a:r>
          </a:p>
        </p:txBody>
      </p:sp>
    </p:spTree>
    <p:extLst>
      <p:ext uri="{BB962C8B-B14F-4D97-AF65-F5344CB8AC3E}">
        <p14:creationId xmlns:p14="http://schemas.microsoft.com/office/powerpoint/2010/main" val="284594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8A064-F533-5E3F-F22C-9F19A8CD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실제 프로덕션 환경에 맞는 시나리오 </a:t>
            </a:r>
            <a:r>
              <a:rPr lang="en-US" altLang="ko-KR" sz="3200"/>
              <a:t>K6</a:t>
            </a:r>
            <a:r>
              <a:rPr lang="ko-KR" altLang="en-US" sz="3200"/>
              <a:t>스크립트 작성</a:t>
            </a:r>
            <a:r>
              <a:rPr lang="en-US" altLang="ko-KR" sz="3200"/>
              <a:t>(1)</a:t>
            </a:r>
            <a:endParaRPr lang="ko-KR" altLang="en-US" sz="32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AD00FF3-E54B-C359-72E8-4161D482F0E3}"/>
              </a:ext>
            </a:extLst>
          </p:cNvPr>
          <p:cNvGrpSpPr/>
          <p:nvPr/>
        </p:nvGrpSpPr>
        <p:grpSpPr>
          <a:xfrm>
            <a:off x="1732941" y="1761233"/>
            <a:ext cx="8726118" cy="2773808"/>
            <a:chOff x="1831553" y="1825086"/>
            <a:chExt cx="8726118" cy="277380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5FD4C42-FB61-692B-FCCC-7F07C2894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1553" y="1825086"/>
              <a:ext cx="8726118" cy="103837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78E108D-6EB5-417C-72FF-9613F2074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1528" y="2758184"/>
              <a:ext cx="4568000" cy="1840710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74698C-1D45-A9E2-2A16-6D63B7178F39}"/>
              </a:ext>
            </a:extLst>
          </p:cNvPr>
          <p:cNvGrpSpPr/>
          <p:nvPr/>
        </p:nvGrpSpPr>
        <p:grpSpPr>
          <a:xfrm>
            <a:off x="2009205" y="4953717"/>
            <a:ext cx="8449854" cy="1028844"/>
            <a:chOff x="2009205" y="4953717"/>
            <a:chExt cx="8449854" cy="102884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82EC7CD-0136-383C-4D80-053E09E9E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9205" y="4953717"/>
              <a:ext cx="8449854" cy="102884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D7CA93-3E0B-4C08-8646-27D3C02A7D31}"/>
                </a:ext>
              </a:extLst>
            </p:cNvPr>
            <p:cNvSpPr/>
            <p:nvPr/>
          </p:nvSpPr>
          <p:spPr>
            <a:xfrm>
              <a:off x="2384612" y="5316071"/>
              <a:ext cx="8074447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606F178-2084-982B-F9D3-AF6CA739CDF5}"/>
                </a:ext>
              </a:extLst>
            </p:cNvPr>
            <p:cNvSpPr/>
            <p:nvPr/>
          </p:nvSpPr>
          <p:spPr>
            <a:xfrm>
              <a:off x="2009206" y="5620871"/>
              <a:ext cx="102983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091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BAFB-A817-E052-64DE-24E128C1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0137C-80AD-BDA3-A750-72069685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실제 프로덕션 환경에 맞는 시나리오 </a:t>
            </a:r>
            <a:r>
              <a:rPr lang="en-US" altLang="ko-KR" sz="3200"/>
              <a:t>K6</a:t>
            </a:r>
            <a:r>
              <a:rPr lang="ko-KR" altLang="en-US" sz="3200"/>
              <a:t>스크립트 작성</a:t>
            </a:r>
            <a:r>
              <a:rPr lang="en-US" altLang="ko-KR" sz="3200"/>
              <a:t>(2)</a:t>
            </a:r>
            <a:endParaRPr lang="ko-KR" altLang="en-US"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2346A0-11F6-6D30-BB87-7420BC1457C7}"/>
              </a:ext>
            </a:extLst>
          </p:cNvPr>
          <p:cNvSpPr txBox="1"/>
          <p:nvPr/>
        </p:nvSpPr>
        <p:spPr>
          <a:xfrm>
            <a:off x="1097280" y="1739305"/>
            <a:ext cx="474770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/>
              <a:t>import http from 'k6/http';</a:t>
            </a:r>
          </a:p>
          <a:p>
            <a:r>
              <a:rPr lang="ko-KR" altLang="en-US" sz="1050"/>
              <a:t>import { sleep } from 'k6';</a:t>
            </a:r>
          </a:p>
          <a:p>
            <a:endParaRPr lang="ko-KR" altLang="en-US" sz="1050"/>
          </a:p>
          <a:p>
            <a:r>
              <a:rPr lang="ko-KR" altLang="en-US" sz="1050"/>
              <a:t>export const options = {</a:t>
            </a:r>
          </a:p>
          <a:p>
            <a:r>
              <a:rPr lang="ko-KR" altLang="en-US" sz="1050"/>
              <a:t>  // 부하를 생성하는 단계(stages)를 설정</a:t>
            </a:r>
          </a:p>
          <a:p>
            <a:r>
              <a:rPr lang="ko-KR" altLang="en-US" sz="1050"/>
              <a:t>  stages: [</a:t>
            </a:r>
          </a:p>
          <a:p>
            <a:r>
              <a:rPr lang="ko-KR" altLang="en-US" sz="1050"/>
              <a:t>    // 10분에 걸쳐 vus(virtual users, 가상 유저수)가 50에 도달하도록 설정</a:t>
            </a:r>
          </a:p>
          <a:p>
            <a:r>
              <a:rPr lang="ko-KR" altLang="en-US" sz="1050"/>
              <a:t>    { duration: '10m', target: 50 }</a:t>
            </a:r>
          </a:p>
          <a:p>
            <a:r>
              <a:rPr lang="ko-KR" altLang="en-US" sz="1050"/>
              <a:t>  ],</a:t>
            </a:r>
          </a:p>
          <a:p>
            <a:r>
              <a:rPr lang="ko-KR" altLang="en-US" sz="1050"/>
              <a:t>};</a:t>
            </a:r>
          </a:p>
          <a:p>
            <a:endParaRPr lang="ko-KR" altLang="en-US" sz="1050"/>
          </a:p>
          <a:p>
            <a:r>
              <a:rPr lang="ko-KR" altLang="en-US" sz="1050"/>
              <a:t>export default function () {</a:t>
            </a:r>
          </a:p>
          <a:p>
            <a:r>
              <a:rPr lang="ko-KR" altLang="en-US" sz="1050"/>
              <a:t>  let random = Math.random();</a:t>
            </a:r>
          </a:p>
          <a:p>
            <a:r>
              <a:rPr lang="ko-KR" altLang="en-US" sz="1050"/>
              <a:t>  // 100명 중 5명의 비율로 게시글을 작성</a:t>
            </a:r>
          </a:p>
          <a:p>
            <a:r>
              <a:rPr lang="ko-KR" altLang="en-US" sz="1050"/>
              <a:t>  if (random &lt; 0.05) {</a:t>
            </a:r>
          </a:p>
          <a:p>
            <a:r>
              <a:rPr lang="ko-KR" altLang="en-US" sz="1050"/>
              <a:t>    const data = { title: '제목', content: '내용' };</a:t>
            </a:r>
          </a:p>
          <a:p>
            <a:r>
              <a:rPr lang="ko-KR" altLang="en-US" sz="1050"/>
              <a:t>    http.post('http://</a:t>
            </a:r>
            <a:r>
              <a:rPr lang="ko-KR" altLang="en-US" sz="1050" b="1">
                <a:solidFill>
                  <a:srgbClr val="FF0000"/>
                </a:solidFill>
              </a:rPr>
              <a:t>{ELB 주소}</a:t>
            </a:r>
            <a:r>
              <a:rPr lang="ko-KR" altLang="en-US" sz="1050"/>
              <a:t>/boards', JSON.stringify(data), {</a:t>
            </a:r>
          </a:p>
          <a:p>
            <a:r>
              <a:rPr lang="ko-KR" altLang="en-US" sz="1050"/>
              <a:t>      headers: { 'Content-Type': 'application/json' },</a:t>
            </a:r>
          </a:p>
          <a:p>
            <a:r>
              <a:rPr lang="ko-KR" altLang="en-US" sz="1050"/>
              <a:t>    });</a:t>
            </a:r>
          </a:p>
          <a:p>
            <a:endParaRPr lang="ko-KR" altLang="en-US" sz="1050"/>
          </a:p>
          <a:p>
            <a:r>
              <a:rPr lang="ko-KR" altLang="en-US" sz="1050"/>
              <a:t>  // 100명 중 95명의 비율로 게시글을 조회</a:t>
            </a:r>
          </a:p>
          <a:p>
            <a:r>
              <a:rPr lang="ko-KR" altLang="en-US" sz="1050"/>
              <a:t>  } else {</a:t>
            </a:r>
          </a:p>
          <a:p>
            <a:r>
              <a:rPr lang="ko-KR" altLang="en-US" sz="1050"/>
              <a:t>    http.get('http://</a:t>
            </a:r>
            <a:r>
              <a:rPr lang="ko-KR" altLang="en-US" sz="1050" b="1">
                <a:solidFill>
                  <a:srgbClr val="FF0000"/>
                </a:solidFill>
              </a:rPr>
              <a:t>{ELB 주소}</a:t>
            </a:r>
            <a:r>
              <a:rPr lang="ko-KR" altLang="en-US" sz="1050"/>
              <a:t>/boards');</a:t>
            </a:r>
          </a:p>
          <a:p>
            <a:r>
              <a:rPr lang="ko-KR" altLang="en-US" sz="1050"/>
              <a:t>  }</a:t>
            </a:r>
          </a:p>
          <a:p>
            <a:endParaRPr lang="ko-KR" altLang="en-US" sz="1050"/>
          </a:p>
          <a:p>
            <a:r>
              <a:rPr lang="ko-KR" altLang="en-US" sz="1050"/>
              <a:t>  // 1초 휴식</a:t>
            </a:r>
          </a:p>
          <a:p>
            <a:r>
              <a:rPr lang="ko-KR" altLang="en-US" sz="1050"/>
              <a:t>  sleep(1);</a:t>
            </a:r>
          </a:p>
          <a:p>
            <a:r>
              <a:rPr lang="ko-KR" altLang="en-US" sz="105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0E822-35BB-A247-E995-98F791494A24}"/>
              </a:ext>
            </a:extLst>
          </p:cNvPr>
          <p:cNvSpPr txBox="1"/>
          <p:nvPr/>
        </p:nvSpPr>
        <p:spPr>
          <a:xfrm>
            <a:off x="6038626" y="4360894"/>
            <a:ext cx="50560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i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ELB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주소</a:t>
            </a:r>
            <a:r>
              <a:rPr lang="ko-KR" altLang="en-US" sz="1200" b="0" i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0" i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jscode-alb-546712230.ap-northeast-2.elb.amazonaws.com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212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035F5-E2D9-6854-2019-DB146628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</a:t>
            </a:r>
            <a:r>
              <a:rPr lang="ko-KR" altLang="en-US"/>
              <a:t> 부하테스트 스크립트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F4BC0-7975-A7F0-EA0E-6BE090BE0ECE}"/>
              </a:ext>
            </a:extLst>
          </p:cNvPr>
          <p:cNvSpPr txBox="1"/>
          <p:nvPr/>
        </p:nvSpPr>
        <p:spPr>
          <a:xfrm>
            <a:off x="1237129" y="18149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K6_WEB_DASHBOARD=true k6 run script.js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8073E7-EB00-2855-7F90-EA2058670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"/>
          <a:stretch>
            <a:fillRect/>
          </a:stretch>
        </p:blipFill>
        <p:spPr>
          <a:xfrm>
            <a:off x="1237129" y="2261807"/>
            <a:ext cx="4858871" cy="25076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E81469-412D-09C5-2BC1-E36DCB243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53" y="1999583"/>
            <a:ext cx="3343742" cy="5715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098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EAEAD-9463-1E49-BFA8-13F94A21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모니터링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BFB59-8473-4A63-19E8-57EDF611587A}"/>
              </a:ext>
            </a:extLst>
          </p:cNvPr>
          <p:cNvSpPr txBox="1"/>
          <p:nvPr/>
        </p:nvSpPr>
        <p:spPr>
          <a:xfrm>
            <a:off x="1219200" y="1737360"/>
            <a:ext cx="1013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브라우저 접속 </a:t>
            </a:r>
            <a:r>
              <a:rPr lang="en-US" altLang="ko-KR"/>
              <a:t>: 43.301.67.79:5665 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4358CF-7A82-BB9A-E884-8F1872A95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56634"/>
            <a:ext cx="7297271" cy="408168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E5BFDB3-5AEB-BF95-089A-D8C316D44473}"/>
              </a:ext>
            </a:extLst>
          </p:cNvPr>
          <p:cNvCxnSpPr>
            <a:cxnSpLocks/>
          </p:cNvCxnSpPr>
          <p:nvPr/>
        </p:nvCxnSpPr>
        <p:spPr>
          <a:xfrm>
            <a:off x="1219200" y="5271247"/>
            <a:ext cx="324522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F70BFB-8112-21C7-5777-AD0DB7099E35}"/>
              </a:ext>
            </a:extLst>
          </p:cNvPr>
          <p:cNvSpPr txBox="1"/>
          <p:nvPr/>
        </p:nvSpPr>
        <p:spPr>
          <a:xfrm>
            <a:off x="8677835" y="2106692"/>
            <a:ext cx="34245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throughput (</a:t>
            </a:r>
            <a:r>
              <a:rPr lang="ko-KR" altLang="en-US" sz="1200" b="1">
                <a:solidFill>
                  <a:srgbClr val="FF0000"/>
                </a:solidFill>
              </a:rPr>
              <a:t>처리량</a:t>
            </a:r>
            <a:r>
              <a:rPr lang="en-US" altLang="ko-KR" sz="1200" b="1">
                <a:solidFill>
                  <a:srgbClr val="FF0000"/>
                </a:solidFill>
              </a:rPr>
              <a:t>)</a:t>
            </a:r>
            <a:br>
              <a:rPr lang="en-US" altLang="ko-KR" sz="1200"/>
            </a:br>
            <a:r>
              <a:rPr lang="ko-KR" altLang="en-US" sz="1200"/>
              <a:t>더이상 </a:t>
            </a:r>
            <a:r>
              <a:rPr lang="en-US" altLang="ko-KR" sz="1200"/>
              <a:t>http_reqs</a:t>
            </a:r>
            <a:r>
              <a:rPr lang="ko-KR" altLang="en-US" sz="1200"/>
              <a:t>가 올라가지 않는 구간 </a:t>
            </a:r>
            <a:endParaRPr lang="en-US" altLang="ko-KR" sz="1200"/>
          </a:p>
          <a:p>
            <a:r>
              <a:rPr lang="en-US" altLang="ko-KR" sz="1200"/>
              <a:t>( </a:t>
            </a:r>
            <a:r>
              <a:rPr lang="ko-KR" altLang="en-US" sz="1200"/>
              <a:t>그래프상 </a:t>
            </a:r>
            <a:r>
              <a:rPr lang="en-US" altLang="ko-KR" sz="1200"/>
              <a:t>3 TPS )</a:t>
            </a:r>
          </a:p>
          <a:p>
            <a:endParaRPr lang="en-US" altLang="ko-KR" sz="1200"/>
          </a:p>
          <a:p>
            <a:r>
              <a:rPr lang="en-US" altLang="ko-KR" sz="1200" b="1">
                <a:solidFill>
                  <a:srgbClr val="0070C0"/>
                </a:solidFill>
              </a:rPr>
              <a:t>latency(</a:t>
            </a:r>
            <a:r>
              <a:rPr lang="ko-KR" altLang="en-US" sz="1200" b="1">
                <a:solidFill>
                  <a:srgbClr val="0070C0"/>
                </a:solidFill>
              </a:rPr>
              <a:t>지연시간</a:t>
            </a:r>
            <a:r>
              <a:rPr lang="en-US" altLang="ko-KR" sz="1200" b="1">
                <a:solidFill>
                  <a:srgbClr val="0070C0"/>
                </a:solidFill>
              </a:rPr>
              <a:t>)</a:t>
            </a:r>
          </a:p>
          <a:p>
            <a:r>
              <a:rPr lang="ko-KR" altLang="en-US" sz="1200"/>
              <a:t>최대 처리량의 한계로인해 대기하는 시간에 의하여 </a:t>
            </a:r>
            <a:r>
              <a:rPr lang="en-US" altLang="ko-KR" sz="1200"/>
              <a:t>Latency</a:t>
            </a:r>
            <a:r>
              <a:rPr lang="ko-KR" altLang="en-US" sz="1200"/>
              <a:t>가 증가하는 추세를 보임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응답시간이 </a:t>
            </a:r>
            <a:r>
              <a:rPr lang="en-US" altLang="ko-KR" sz="1200"/>
              <a:t>4</a:t>
            </a:r>
            <a:r>
              <a:rPr lang="ko-KR" altLang="en-US" sz="1200"/>
              <a:t>초까지 증가하는걸 확인했고</a:t>
            </a:r>
            <a:r>
              <a:rPr lang="en-US" altLang="ko-KR" sz="1200"/>
              <a:t>, </a:t>
            </a:r>
            <a:r>
              <a:rPr lang="ko-KR" altLang="en-US" sz="1200"/>
              <a:t>목표 지연시간이 </a:t>
            </a:r>
            <a:r>
              <a:rPr lang="en-US" altLang="ko-KR" sz="1200"/>
              <a:t>1s</a:t>
            </a:r>
            <a:r>
              <a:rPr lang="ko-KR" altLang="en-US" sz="1200"/>
              <a:t>라면 개선이 들어가야함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 b="1">
                <a:solidFill>
                  <a:srgbClr val="7030A0"/>
                </a:solidFill>
              </a:rPr>
              <a:t>Http Request Faile(</a:t>
            </a:r>
            <a:r>
              <a:rPr lang="ko-KR" altLang="en-US" sz="1200" b="1">
                <a:solidFill>
                  <a:srgbClr val="7030A0"/>
                </a:solidFill>
              </a:rPr>
              <a:t>요청 실패</a:t>
            </a:r>
            <a:r>
              <a:rPr lang="en-US" altLang="ko-KR" sz="1200" b="1">
                <a:solidFill>
                  <a:srgbClr val="7030A0"/>
                </a:solidFill>
              </a:rPr>
              <a:t>)</a:t>
            </a:r>
          </a:p>
          <a:p>
            <a:r>
              <a:rPr lang="ko-KR" altLang="en-US" sz="1200"/>
              <a:t>요청 실패는 크리티컬한 이슈이기에 원인 분석</a:t>
            </a:r>
            <a:r>
              <a:rPr lang="en-US" altLang="ko-KR" sz="1200"/>
              <a:t>(</a:t>
            </a:r>
            <a:r>
              <a:rPr lang="ko-KR" altLang="en-US" sz="1200"/>
              <a:t>디버깅</a:t>
            </a:r>
            <a:r>
              <a:rPr lang="en-US" altLang="ko-KR" sz="1200"/>
              <a:t>)</a:t>
            </a:r>
            <a:r>
              <a:rPr lang="ko-KR" altLang="en-US" sz="1200"/>
              <a:t>에 바로 들어가야한다</a:t>
            </a:r>
            <a:r>
              <a:rPr lang="en-US" altLang="ko-KR" sz="1200"/>
              <a:t>.</a:t>
            </a:r>
            <a:endParaRPr lang="ko-KR" altLang="en-US" sz="1200" b="1">
              <a:solidFill>
                <a:srgbClr val="7030A0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C759B04-3622-A4EE-4DFC-47ACAEBACBD7}"/>
              </a:ext>
            </a:extLst>
          </p:cNvPr>
          <p:cNvCxnSpPr>
            <a:cxnSpLocks/>
          </p:cNvCxnSpPr>
          <p:nvPr/>
        </p:nvCxnSpPr>
        <p:spPr>
          <a:xfrm>
            <a:off x="986118" y="3908612"/>
            <a:ext cx="7691717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90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D4788-7E2B-8F59-B0F2-734DFD93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성능개선 의심점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50226-FA76-C476-37A6-7D6A892A5709}"/>
              </a:ext>
            </a:extLst>
          </p:cNvPr>
          <p:cNvSpPr txBox="1"/>
          <p:nvPr/>
        </p:nvSpPr>
        <p:spPr>
          <a:xfrm>
            <a:off x="1344706" y="5038165"/>
            <a:ext cx="100135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개선의 필요하다고 짐작되는 구성 요소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로드밸런스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EC2</a:t>
            </a:r>
          </a:p>
          <a:p>
            <a:pPr marL="342900" indent="-342900">
              <a:buAutoNum type="arabicPeriod"/>
            </a:pPr>
            <a:r>
              <a:rPr lang="en-US" altLang="ko-KR" sz="1400"/>
              <a:t>RDS </a:t>
            </a:r>
          </a:p>
          <a:p>
            <a:r>
              <a:rPr lang="en-US" altLang="ko-KR" sz="1400" b="1">
                <a:solidFill>
                  <a:srgbClr val="FF0000"/>
                </a:solidFill>
              </a:rPr>
              <a:t>(</a:t>
            </a:r>
            <a:r>
              <a:rPr lang="ko-KR" altLang="en-US" sz="1400" b="1">
                <a:solidFill>
                  <a:srgbClr val="FF0000"/>
                </a:solidFill>
              </a:rPr>
              <a:t>병목지점을 찾아 어느 구성요소가  성능을 저하시키고 있는지 확인해야한다</a:t>
            </a:r>
            <a:r>
              <a:rPr lang="en-US" altLang="ko-KR" sz="1400" b="1">
                <a:solidFill>
                  <a:srgbClr val="FF0000"/>
                </a:solidFill>
              </a:rPr>
              <a:t>.)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11885A-70A9-F9D1-51EA-BE949BF1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37" y="1961945"/>
            <a:ext cx="6449325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05C3B-5A87-B60F-11FA-2CCD53AD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모니터링이란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1881A-BC0B-EB06-CAF6-3AF28A47F97A}"/>
              </a:ext>
            </a:extLst>
          </p:cNvPr>
          <p:cNvSpPr txBox="1"/>
          <p:nvPr/>
        </p:nvSpPr>
        <p:spPr>
          <a:xfrm>
            <a:off x="1102659" y="1927412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어떠한 대상을 지속적으로 감시하는것을 뜻 함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F97A6C9-B331-8764-6527-95585081F69A}"/>
              </a:ext>
            </a:extLst>
          </p:cNvPr>
          <p:cNvGrpSpPr/>
          <p:nvPr/>
        </p:nvGrpSpPr>
        <p:grpSpPr>
          <a:xfrm>
            <a:off x="1721110" y="2776922"/>
            <a:ext cx="9126224" cy="2505425"/>
            <a:chOff x="1721110" y="2776922"/>
            <a:chExt cx="9126224" cy="250542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EA687D5-C1ED-5725-1E75-19F80F0D9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1110" y="2776922"/>
              <a:ext cx="9126224" cy="250542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66B740-5D77-408D-2072-E7F5F9FDA930}"/>
                </a:ext>
              </a:extLst>
            </p:cNvPr>
            <p:cNvSpPr/>
            <p:nvPr/>
          </p:nvSpPr>
          <p:spPr>
            <a:xfrm>
              <a:off x="3263154" y="4437529"/>
              <a:ext cx="7395882" cy="3316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888D736-3640-92E8-5A01-734A0049AAAE}"/>
                </a:ext>
              </a:extLst>
            </p:cNvPr>
            <p:cNvSpPr/>
            <p:nvPr/>
          </p:nvSpPr>
          <p:spPr>
            <a:xfrm>
              <a:off x="1721111" y="4697507"/>
              <a:ext cx="1452396" cy="3316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D658B45-56DD-6515-5CBB-FCADC175116B}"/>
                </a:ext>
              </a:extLst>
            </p:cNvPr>
            <p:cNvSpPr/>
            <p:nvPr/>
          </p:nvSpPr>
          <p:spPr>
            <a:xfrm>
              <a:off x="2850776" y="3397967"/>
              <a:ext cx="5065059" cy="2854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534BF1-9B52-79FC-307A-29D8DE4AF302}"/>
              </a:ext>
            </a:extLst>
          </p:cNvPr>
          <p:cNvSpPr txBox="1"/>
          <p:nvPr/>
        </p:nvSpPr>
        <p:spPr>
          <a:xfrm>
            <a:off x="1577788" y="5558118"/>
            <a:ext cx="9350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요약</a:t>
            </a:r>
            <a:r>
              <a:rPr lang="en-US" altLang="ko-KR" sz="1400"/>
              <a:t>: RDB / ELB / Back-end server / cache</a:t>
            </a:r>
            <a:r>
              <a:rPr lang="ko-KR" altLang="en-US" sz="1400"/>
              <a:t> </a:t>
            </a:r>
            <a:r>
              <a:rPr lang="en-US" altLang="ko-KR" sz="1400"/>
              <a:t>server</a:t>
            </a:r>
            <a:r>
              <a:rPr lang="ko-KR" altLang="en-US" sz="1400"/>
              <a:t> 등 컴퓨터들의 </a:t>
            </a:r>
            <a:r>
              <a:rPr lang="en-US" altLang="ko-KR" sz="1400"/>
              <a:t>cpu</a:t>
            </a:r>
            <a:r>
              <a:rPr lang="ko-KR" altLang="en-US" sz="1400"/>
              <a:t>와 메모리를 모니터링하여 병목지점을 찾는다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7778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EC21-9CB9-6AB1-F815-F0950BFC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1B41F-0FEF-14AE-FF20-AFC9CC15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메트릭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2ECC71-2BC8-E878-B78F-999DF8BB8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2021477"/>
            <a:ext cx="8964276" cy="914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7E980E-AA98-2272-1394-06AA1376BB05}"/>
              </a:ext>
            </a:extLst>
          </p:cNvPr>
          <p:cNvSpPr txBox="1"/>
          <p:nvPr/>
        </p:nvSpPr>
        <p:spPr>
          <a:xfrm>
            <a:off x="1685365" y="3245224"/>
            <a:ext cx="7386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요약 </a:t>
            </a:r>
            <a:r>
              <a:rPr lang="en-US" altLang="ko-KR" sz="1400"/>
              <a:t>: </a:t>
            </a:r>
            <a:r>
              <a:rPr lang="ko-KR" altLang="en-US" sz="1400"/>
              <a:t>모니터링으로 측정한 값 </a:t>
            </a:r>
            <a:r>
              <a:rPr lang="en-US" altLang="ko-KR" sz="1400"/>
              <a:t>= </a:t>
            </a:r>
            <a:r>
              <a:rPr lang="ko-KR" altLang="en-US" sz="1400"/>
              <a:t>메트릭</a:t>
            </a:r>
          </a:p>
        </p:txBody>
      </p:sp>
    </p:spTree>
    <p:extLst>
      <p:ext uri="{BB962C8B-B14F-4D97-AF65-F5344CB8AC3E}">
        <p14:creationId xmlns:p14="http://schemas.microsoft.com/office/powerpoint/2010/main" val="354538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6912F-20B0-D37C-9C74-195AFE9A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CPU, </a:t>
            </a:r>
            <a:r>
              <a:rPr lang="ko-KR" altLang="en-US"/>
              <a:t>메모리</a:t>
            </a:r>
            <a:r>
              <a:rPr lang="en-US" altLang="ko-KR"/>
              <a:t>, </a:t>
            </a:r>
            <a:r>
              <a:rPr lang="ko-KR" altLang="en-US"/>
              <a:t>디스크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10FF00-7146-0F00-C243-B3122A5F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89" y="1864314"/>
            <a:ext cx="2257740" cy="924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AE83B22-40E3-5177-5F12-0FED9E7CA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989" y="2915322"/>
            <a:ext cx="7688132" cy="18950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2F8EAC-35E1-4D38-3DAD-43ECCD2C8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989" y="4937296"/>
            <a:ext cx="2697693" cy="112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7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33A5F-BB1D-D605-F685-78F83B1B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CPU</a:t>
            </a:r>
            <a:r>
              <a:rPr lang="ko-KR" altLang="en-US"/>
              <a:t>를 많이 사용하는 작업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FB1229-22E6-DC5C-3ABD-E786FC2E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2577"/>
            <a:ext cx="3801005" cy="225774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CB6D2C0-E773-03E1-7976-210340D9942C}"/>
              </a:ext>
            </a:extLst>
          </p:cNvPr>
          <p:cNvGrpSpPr/>
          <p:nvPr/>
        </p:nvGrpSpPr>
        <p:grpSpPr>
          <a:xfrm>
            <a:off x="1264799" y="4467114"/>
            <a:ext cx="8945223" cy="1581371"/>
            <a:chOff x="1264799" y="4467114"/>
            <a:chExt cx="8945223" cy="158137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01569C0-B582-91F4-658F-916F463F8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4799" y="4467114"/>
              <a:ext cx="8945223" cy="158137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62EBAE-C45C-6463-55D2-BBE311C133FF}"/>
                </a:ext>
              </a:extLst>
            </p:cNvPr>
            <p:cNvSpPr/>
            <p:nvPr/>
          </p:nvSpPr>
          <p:spPr>
            <a:xfrm>
              <a:off x="1264799" y="4939553"/>
              <a:ext cx="868801" cy="5737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17200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F5DFE-0039-3265-A718-42611AEF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메모리를 많이 쓰는 작업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F214A3-6054-405B-16B9-F09C0A3B4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63" y="2122842"/>
            <a:ext cx="2476846" cy="200052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8F682576-252F-B186-B277-A94AE91F9F7C}"/>
              </a:ext>
            </a:extLst>
          </p:cNvPr>
          <p:cNvGrpSpPr/>
          <p:nvPr/>
        </p:nvGrpSpPr>
        <p:grpSpPr>
          <a:xfrm>
            <a:off x="3749105" y="2142792"/>
            <a:ext cx="6596167" cy="2977849"/>
            <a:chOff x="3749105" y="2142792"/>
            <a:chExt cx="6596167" cy="297784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48B9EC6-8562-6FDD-85F0-0354B146C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9105" y="2142792"/>
              <a:ext cx="6596167" cy="297784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0A8F1C-3FFF-17E7-E64A-9DB9C90245F9}"/>
                </a:ext>
              </a:extLst>
            </p:cNvPr>
            <p:cNvSpPr/>
            <p:nvPr/>
          </p:nvSpPr>
          <p:spPr>
            <a:xfrm>
              <a:off x="5746376" y="2850776"/>
              <a:ext cx="663389" cy="24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DD4664F-4A7A-AE79-12C9-043A8C03AD4B}"/>
              </a:ext>
            </a:extLst>
          </p:cNvPr>
          <p:cNvSpPr txBox="1"/>
          <p:nvPr/>
        </p:nvSpPr>
        <p:spPr>
          <a:xfrm>
            <a:off x="1025563" y="4204447"/>
            <a:ext cx="2542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프로세스 메모리에 값이 저장되는 것임으로 데이터를 저장하는 변수나 배열</a:t>
            </a:r>
            <a:r>
              <a:rPr lang="en-US" altLang="ko-KR" sz="1050"/>
              <a:t>, </a:t>
            </a:r>
            <a:r>
              <a:rPr lang="ko-KR" altLang="en-US" sz="1050"/>
              <a:t>객체 등 메모리에 저장되는 선언이 많을 수록 메모리를 많이 잡아먹는다</a:t>
            </a:r>
            <a:r>
              <a:rPr lang="en-US" altLang="ko-KR" sz="1050"/>
              <a:t>.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1681580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7FE0B-E5D9-507A-596B-CD1EA51D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</a:t>
            </a:r>
            <a:r>
              <a:rPr lang="ko-KR" altLang="en-US"/>
              <a:t>와 </a:t>
            </a:r>
            <a:r>
              <a:rPr lang="en-US" altLang="ko-KR"/>
              <a:t>Back-end </a:t>
            </a:r>
            <a:r>
              <a:rPr lang="ko-KR" altLang="en-US"/>
              <a:t>주요 자원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D6C8CF-60A3-9165-06A4-479E6AB7DF0D}"/>
              </a:ext>
            </a:extLst>
          </p:cNvPr>
          <p:cNvGrpSpPr/>
          <p:nvPr/>
        </p:nvGrpSpPr>
        <p:grpSpPr>
          <a:xfrm>
            <a:off x="1097280" y="1944243"/>
            <a:ext cx="7464014" cy="3770983"/>
            <a:chOff x="1097280" y="1944243"/>
            <a:chExt cx="7464014" cy="377098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B7C567A-A294-57D1-45AF-919203421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44243"/>
              <a:ext cx="7464014" cy="377098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1F07815-743B-ADAF-05BF-BB6B74C59FAB}"/>
                </a:ext>
              </a:extLst>
            </p:cNvPr>
            <p:cNvSpPr/>
            <p:nvPr/>
          </p:nvSpPr>
          <p:spPr>
            <a:xfrm>
              <a:off x="1380565" y="3429000"/>
              <a:ext cx="2805953" cy="282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A5B3D60-846F-C0DE-454E-DBBB24A1C7D8}"/>
                </a:ext>
              </a:extLst>
            </p:cNvPr>
            <p:cNvSpPr/>
            <p:nvPr/>
          </p:nvSpPr>
          <p:spPr>
            <a:xfrm>
              <a:off x="4693023" y="5275729"/>
              <a:ext cx="336177" cy="2644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1E6491C-1CEC-B244-7C21-EC70E862EB40}"/>
              </a:ext>
            </a:extLst>
          </p:cNvPr>
          <p:cNvSpPr txBox="1"/>
          <p:nvPr/>
        </p:nvSpPr>
        <p:spPr>
          <a:xfrm>
            <a:off x="8776447" y="4168588"/>
            <a:ext cx="3146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파일을 읽어오거나 쓰는 작업이 없으면 디스크를 쓸일이 거의 없으며</a:t>
            </a:r>
            <a:r>
              <a:rPr lang="en-US" altLang="ko-KR" sz="1200"/>
              <a:t>, </a:t>
            </a:r>
            <a:r>
              <a:rPr lang="ko-KR" altLang="en-US" sz="1200"/>
              <a:t>이마저도 클라우드 서버에 파일을 보관</a:t>
            </a:r>
          </a:p>
        </p:txBody>
      </p:sp>
    </p:spTree>
    <p:extLst>
      <p:ext uri="{BB962C8B-B14F-4D97-AF65-F5344CB8AC3E}">
        <p14:creationId xmlns:p14="http://schemas.microsoft.com/office/powerpoint/2010/main" val="38213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11373-C49E-AB05-29D2-44993B2B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로드밸런서와 캐시서버 주요자원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6803316-1FB2-8CE9-52AE-BD0964B71529}"/>
              </a:ext>
            </a:extLst>
          </p:cNvPr>
          <p:cNvGrpSpPr/>
          <p:nvPr/>
        </p:nvGrpSpPr>
        <p:grpSpPr>
          <a:xfrm>
            <a:off x="1097280" y="1737360"/>
            <a:ext cx="8116433" cy="3048425"/>
            <a:chOff x="1097280" y="1737360"/>
            <a:chExt cx="8116433" cy="304842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E112DBE-6E46-CCDA-811D-0CD734CC9CF6}"/>
                </a:ext>
              </a:extLst>
            </p:cNvPr>
            <p:cNvGrpSpPr/>
            <p:nvPr/>
          </p:nvGrpSpPr>
          <p:grpSpPr>
            <a:xfrm>
              <a:off x="1097280" y="1737360"/>
              <a:ext cx="8116433" cy="3048425"/>
              <a:chOff x="1097280" y="1737360"/>
              <a:chExt cx="8116433" cy="3048425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4188B3C6-BC43-AE1F-3D81-F4A3823C77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1737360"/>
                <a:ext cx="8116433" cy="3048425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2381A3C8-B06C-C770-AA95-E2AB93E54E99}"/>
                  </a:ext>
                </a:extLst>
              </p:cNvPr>
              <p:cNvSpPr/>
              <p:nvPr/>
            </p:nvSpPr>
            <p:spPr>
              <a:xfrm>
                <a:off x="6893859" y="4401671"/>
                <a:ext cx="484094" cy="28687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4518128-9E66-D157-79D0-2379AD972DED}"/>
                  </a:ext>
                </a:extLst>
              </p:cNvPr>
              <p:cNvSpPr/>
              <p:nvPr/>
            </p:nvSpPr>
            <p:spPr>
              <a:xfrm>
                <a:off x="1703293" y="4401671"/>
                <a:ext cx="2070847" cy="28687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1AF38AC-8EE0-D3A9-37FD-E10E8E43CB70}"/>
                </a:ext>
              </a:extLst>
            </p:cNvPr>
            <p:cNvSpPr/>
            <p:nvPr/>
          </p:nvSpPr>
          <p:spPr>
            <a:xfrm>
              <a:off x="1703294" y="2831267"/>
              <a:ext cx="4724400" cy="2868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837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9BED9-DA65-D202-AAC9-DBB5890E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 인스턴스의 모니터링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C7B55E-E6E1-5287-F45A-FAD7D0D0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18"/>
          <a:stretch>
            <a:fillRect/>
          </a:stretch>
        </p:blipFill>
        <p:spPr>
          <a:xfrm>
            <a:off x="447439" y="1885720"/>
            <a:ext cx="3372321" cy="3693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443D1F-0DB0-3B51-7795-80EEB9DD1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698" y="2368811"/>
            <a:ext cx="9034604" cy="3996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33349A-0AF9-5791-0A71-8C6BCACC4A9A}"/>
              </a:ext>
            </a:extLst>
          </p:cNvPr>
          <p:cNvSpPr txBox="1"/>
          <p:nvPr/>
        </p:nvSpPr>
        <p:spPr>
          <a:xfrm>
            <a:off x="3891477" y="1851119"/>
            <a:ext cx="388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jscode-server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C80399-87F4-24DB-6DB1-B76EB8CF175F}"/>
              </a:ext>
            </a:extLst>
          </p:cNvPr>
          <p:cNvSpPr/>
          <p:nvPr/>
        </p:nvSpPr>
        <p:spPr>
          <a:xfrm>
            <a:off x="7351059" y="1823984"/>
            <a:ext cx="3442447" cy="941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기본적인 모니터링을 제공하나 메모리 사용률 등의 지표가 없음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 b="1">
                <a:solidFill>
                  <a:srgbClr val="0070C0"/>
                </a:solidFill>
                <a:sym typeface="Wingdings" panose="05000000000000000000" pitchFamily="2" charset="2"/>
              </a:rPr>
              <a:t>클라우드 워치 에이전트 </a:t>
            </a:r>
            <a:r>
              <a:rPr lang="ko-KR" altLang="en-US" sz="1100">
                <a:sym typeface="Wingdings" panose="05000000000000000000" pitchFamily="2" charset="2"/>
              </a:rPr>
              <a:t>설치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37874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CF122-2B6D-C38A-7B26-20A640AB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</a:t>
            </a:r>
            <a:r>
              <a:rPr lang="ko-KR" altLang="en-US"/>
              <a:t>에 클라우드 워치 에이전트 설치</a:t>
            </a:r>
            <a:r>
              <a:rPr lang="en-US" altLang="ko-KR"/>
              <a:t>(1)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3ADADC-51BE-AE43-EC6A-678DA772B097}"/>
              </a:ext>
            </a:extLst>
          </p:cNvPr>
          <p:cNvGrpSpPr/>
          <p:nvPr/>
        </p:nvGrpSpPr>
        <p:grpSpPr>
          <a:xfrm>
            <a:off x="1097280" y="2046353"/>
            <a:ext cx="5151120" cy="1450757"/>
            <a:chOff x="1097280" y="2046353"/>
            <a:chExt cx="6354062" cy="17433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706334D-BAD7-B847-9152-71758B3BD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046353"/>
              <a:ext cx="6354062" cy="174331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3991432-41AA-A36B-0E8B-AFC13E25CDEA}"/>
                </a:ext>
              </a:extLst>
            </p:cNvPr>
            <p:cNvSpPr/>
            <p:nvPr/>
          </p:nvSpPr>
          <p:spPr>
            <a:xfrm>
              <a:off x="3290047" y="2581835"/>
              <a:ext cx="448235" cy="4213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D8EF98-4102-2BAE-888F-DA7D15D44226}"/>
              </a:ext>
            </a:extLst>
          </p:cNvPr>
          <p:cNvGrpSpPr/>
          <p:nvPr/>
        </p:nvGrpSpPr>
        <p:grpSpPr>
          <a:xfrm>
            <a:off x="6549141" y="2046353"/>
            <a:ext cx="1962424" cy="3133433"/>
            <a:chOff x="6549141" y="2046353"/>
            <a:chExt cx="1962424" cy="313343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4E04BFD-1C67-E08E-29DA-03F2C46E706C}"/>
                </a:ext>
              </a:extLst>
            </p:cNvPr>
            <p:cNvGrpSpPr/>
            <p:nvPr/>
          </p:nvGrpSpPr>
          <p:grpSpPr>
            <a:xfrm>
              <a:off x="6549141" y="2046353"/>
              <a:ext cx="1962424" cy="2753109"/>
              <a:chOff x="6549141" y="2046353"/>
              <a:chExt cx="1962424" cy="2753109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14CC11AD-F5FB-943C-DB71-E941D4734414}"/>
                  </a:ext>
                </a:extLst>
              </p:cNvPr>
              <p:cNvGrpSpPr/>
              <p:nvPr/>
            </p:nvGrpSpPr>
            <p:grpSpPr>
              <a:xfrm>
                <a:off x="6549141" y="2046353"/>
                <a:ext cx="1962424" cy="2753109"/>
                <a:chOff x="6549141" y="2046353"/>
                <a:chExt cx="1962424" cy="2753109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E5476EFD-5E17-C6DB-1025-E99BC934FB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49141" y="2046353"/>
                  <a:ext cx="1962424" cy="2753109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29FF7FDD-449F-9BE4-E439-EE42F61B695D}"/>
                    </a:ext>
                  </a:extLst>
                </p:cNvPr>
                <p:cNvSpPr/>
                <p:nvPr/>
              </p:nvSpPr>
              <p:spPr>
                <a:xfrm>
                  <a:off x="6549141" y="4303059"/>
                  <a:ext cx="819847" cy="24204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B08B24C-E303-3938-BCC2-7C48A18A4536}"/>
                  </a:ext>
                </a:extLst>
              </p:cNvPr>
              <p:cNvSpPr/>
              <p:nvPr/>
            </p:nvSpPr>
            <p:spPr>
              <a:xfrm>
                <a:off x="7457254" y="4249054"/>
                <a:ext cx="363376" cy="35063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09C253-8BB6-94CD-7B17-48F3969D5E11}"/>
                </a:ext>
              </a:extLst>
            </p:cNvPr>
            <p:cNvSpPr txBox="1"/>
            <p:nvPr/>
          </p:nvSpPr>
          <p:spPr>
            <a:xfrm>
              <a:off x="6549141" y="4902787"/>
              <a:ext cx="19624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좌측 메뉴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292FAB1-710F-79B2-B419-6DAD16D64F4E}"/>
              </a:ext>
            </a:extLst>
          </p:cNvPr>
          <p:cNvGrpSpPr/>
          <p:nvPr/>
        </p:nvGrpSpPr>
        <p:grpSpPr>
          <a:xfrm>
            <a:off x="8738734" y="2046353"/>
            <a:ext cx="2817857" cy="1842732"/>
            <a:chOff x="8738734" y="2046353"/>
            <a:chExt cx="2817857" cy="1842732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CF5775D-AD1D-C58C-5E7D-BDE5FA03182F}"/>
                </a:ext>
              </a:extLst>
            </p:cNvPr>
            <p:cNvGrpSpPr/>
            <p:nvPr/>
          </p:nvGrpSpPr>
          <p:grpSpPr>
            <a:xfrm>
              <a:off x="8738734" y="2046353"/>
              <a:ext cx="2495898" cy="1842732"/>
              <a:chOff x="8738734" y="2046353"/>
              <a:chExt cx="2495898" cy="1842732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01B067E9-210F-1AC5-992E-147E6F5C2B1C}"/>
                  </a:ext>
                </a:extLst>
              </p:cNvPr>
              <p:cNvGrpSpPr/>
              <p:nvPr/>
            </p:nvGrpSpPr>
            <p:grpSpPr>
              <a:xfrm>
                <a:off x="8738734" y="2046353"/>
                <a:ext cx="2495898" cy="1533739"/>
                <a:chOff x="8738734" y="2046353"/>
                <a:chExt cx="2495898" cy="1533739"/>
              </a:xfrm>
            </p:grpSpPr>
            <p:pic>
              <p:nvPicPr>
                <p:cNvPr id="16" name="그림 15">
                  <a:extLst>
                    <a:ext uri="{FF2B5EF4-FFF2-40B4-BE49-F238E27FC236}">
                      <a16:creationId xmlns:a16="http://schemas.microsoft.com/office/drawing/2014/main" id="{C9C6C27C-DEA2-3D72-CAA8-948EE624E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38734" y="2046353"/>
                  <a:ext cx="2495898" cy="1533739"/>
                </a:xfrm>
                <a:prstGeom prst="rect">
                  <a:avLst/>
                </a:prstGeom>
              </p:spPr>
            </p:pic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43F37296-DBBE-3728-A0BC-619E5F0F8C04}"/>
                    </a:ext>
                  </a:extLst>
                </p:cNvPr>
                <p:cNvSpPr/>
                <p:nvPr/>
              </p:nvSpPr>
              <p:spPr>
                <a:xfrm>
                  <a:off x="10013577" y="2899186"/>
                  <a:ext cx="1142103" cy="52981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A87C3D-3AD7-4F12-D084-59A67AEB72B6}"/>
                  </a:ext>
                </a:extLst>
              </p:cNvPr>
              <p:cNvSpPr txBox="1"/>
              <p:nvPr/>
            </p:nvSpPr>
            <p:spPr>
              <a:xfrm>
                <a:off x="8812306" y="3612086"/>
                <a:ext cx="19624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/>
                  <a:t>우측 상단</a:t>
                </a:r>
              </a:p>
            </p:txBody>
          </p: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59F3FF2-0396-BD4F-ECB1-B54F09FE2E97}"/>
                </a:ext>
              </a:extLst>
            </p:cNvPr>
            <p:cNvSpPr/>
            <p:nvPr/>
          </p:nvSpPr>
          <p:spPr>
            <a:xfrm>
              <a:off x="11193215" y="2988777"/>
              <a:ext cx="363376" cy="3506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41467B1-1DBE-3080-2B89-069F6C17B4F3}"/>
              </a:ext>
            </a:extLst>
          </p:cNvPr>
          <p:cNvGrpSpPr/>
          <p:nvPr/>
        </p:nvGrpSpPr>
        <p:grpSpPr>
          <a:xfrm>
            <a:off x="785738" y="3580092"/>
            <a:ext cx="5675137" cy="3177820"/>
            <a:chOff x="785738" y="3580092"/>
            <a:chExt cx="5675137" cy="317782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C0B1B02-1B59-6209-0DA0-DC494ADE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5738" y="3580092"/>
              <a:ext cx="5675137" cy="31778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8BBA989-B90F-0BC5-E6CA-013ADB0C681F}"/>
                </a:ext>
              </a:extLst>
            </p:cNvPr>
            <p:cNvSpPr/>
            <p:nvPr/>
          </p:nvSpPr>
          <p:spPr>
            <a:xfrm>
              <a:off x="1666054" y="4993686"/>
              <a:ext cx="363376" cy="3506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CCE463E-AD17-48FD-D332-324FE8DC80D9}"/>
              </a:ext>
            </a:extLst>
          </p:cNvPr>
          <p:cNvSpPr txBox="1"/>
          <p:nvPr/>
        </p:nvSpPr>
        <p:spPr>
          <a:xfrm>
            <a:off x="4751294" y="5179786"/>
            <a:ext cx="1622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EC2 </a:t>
            </a:r>
            <a:r>
              <a:rPr lang="ko-KR" altLang="en-US" sz="1200"/>
              <a:t>선택 후 </a:t>
            </a:r>
            <a:br>
              <a:rPr lang="en-US" altLang="ko-KR" sz="1200"/>
            </a:br>
            <a:r>
              <a:rPr lang="ko-KR" altLang="en-US" sz="1200"/>
              <a:t>다음 버튼 클릭</a:t>
            </a:r>
          </a:p>
        </p:txBody>
      </p:sp>
    </p:spTree>
    <p:extLst>
      <p:ext uri="{BB962C8B-B14F-4D97-AF65-F5344CB8AC3E}">
        <p14:creationId xmlns:p14="http://schemas.microsoft.com/office/powerpoint/2010/main" val="1868122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E56E0-945F-C1A6-C27F-2D7DF142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</a:t>
            </a:r>
            <a:r>
              <a:rPr lang="ko-KR" altLang="en-US"/>
              <a:t>에 클라우드 워치 에이전트 설치</a:t>
            </a:r>
            <a:r>
              <a:rPr lang="en-US" altLang="ko-KR"/>
              <a:t>(2)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A525454-8B49-EE76-C8F5-4BDD9248772C}"/>
              </a:ext>
            </a:extLst>
          </p:cNvPr>
          <p:cNvGrpSpPr/>
          <p:nvPr/>
        </p:nvGrpSpPr>
        <p:grpSpPr>
          <a:xfrm>
            <a:off x="447339" y="1955615"/>
            <a:ext cx="11358282" cy="2227460"/>
            <a:chOff x="447339" y="1955615"/>
            <a:chExt cx="11358282" cy="222746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D2969F1-2F2C-7B1F-DA9A-C30333013082}"/>
                </a:ext>
              </a:extLst>
            </p:cNvPr>
            <p:cNvGrpSpPr/>
            <p:nvPr/>
          </p:nvGrpSpPr>
          <p:grpSpPr>
            <a:xfrm>
              <a:off x="447339" y="1955615"/>
              <a:ext cx="11358282" cy="2227460"/>
              <a:chOff x="447339" y="1955615"/>
              <a:chExt cx="11358282" cy="2227460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70F95EE9-FFD2-06DA-54A6-B7047DACA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7339" y="1955615"/>
                <a:ext cx="11358282" cy="222746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7D0B156-EFCA-3E40-3BFB-1DCEAD42CE5B}"/>
                  </a:ext>
                </a:extLst>
              </p:cNvPr>
              <p:cNvSpPr/>
              <p:nvPr/>
            </p:nvSpPr>
            <p:spPr>
              <a:xfrm>
                <a:off x="582706" y="3783106"/>
                <a:ext cx="3128682" cy="39996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987C652-6B87-40F1-AE18-9D44D4BA5689}"/>
                </a:ext>
              </a:extLst>
            </p:cNvPr>
            <p:cNvSpPr/>
            <p:nvPr/>
          </p:nvSpPr>
          <p:spPr>
            <a:xfrm>
              <a:off x="3846755" y="3832443"/>
              <a:ext cx="363376" cy="3506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5</a:t>
              </a:r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DF821A6-8F72-F619-B5F0-D470A8D895C4}"/>
              </a:ext>
            </a:extLst>
          </p:cNvPr>
          <p:cNvSpPr txBox="1"/>
          <p:nvPr/>
        </p:nvSpPr>
        <p:spPr>
          <a:xfrm>
            <a:off x="447339" y="4356847"/>
            <a:ext cx="3762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선택 후 다음 버튼 클릭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5E46FD-DE36-82D8-D33C-372F003F7D12}"/>
              </a:ext>
            </a:extLst>
          </p:cNvPr>
          <p:cNvGrpSpPr/>
          <p:nvPr/>
        </p:nvGrpSpPr>
        <p:grpSpPr>
          <a:xfrm>
            <a:off x="447339" y="4807618"/>
            <a:ext cx="11663979" cy="1661300"/>
            <a:chOff x="447339" y="4807618"/>
            <a:chExt cx="11663979" cy="16613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BE62893-4824-F0A7-4356-498C95259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339" y="4807618"/>
              <a:ext cx="6979047" cy="1661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EE3F71-D57A-D48A-5C79-F7B1330C0BD4}"/>
                </a:ext>
              </a:extLst>
            </p:cNvPr>
            <p:cNvSpPr txBox="1"/>
            <p:nvPr/>
          </p:nvSpPr>
          <p:spPr>
            <a:xfrm>
              <a:off x="7494494" y="4807618"/>
              <a:ext cx="4616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역할 이름 작성 후 역할 생성 클릭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93F38B8-E2C6-7F08-5892-E445266C98F1}"/>
                </a:ext>
              </a:extLst>
            </p:cNvPr>
            <p:cNvSpPr/>
            <p:nvPr/>
          </p:nvSpPr>
          <p:spPr>
            <a:xfrm>
              <a:off x="2582732" y="5992637"/>
              <a:ext cx="363376" cy="3506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6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4678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26D69-99EA-6515-73CE-BBA9DFC3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</a:t>
            </a:r>
            <a:r>
              <a:rPr lang="ko-KR" altLang="en-US"/>
              <a:t>에 클라우드 워치 에이전트 설치</a:t>
            </a:r>
            <a:r>
              <a:rPr lang="en-US" altLang="ko-KR"/>
              <a:t>(3)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39C2FE8-519F-9628-5EFE-7A66F1EEA7AF}"/>
              </a:ext>
            </a:extLst>
          </p:cNvPr>
          <p:cNvGrpSpPr/>
          <p:nvPr/>
        </p:nvGrpSpPr>
        <p:grpSpPr>
          <a:xfrm>
            <a:off x="340659" y="1927486"/>
            <a:ext cx="9834282" cy="2321060"/>
            <a:chOff x="340659" y="1927486"/>
            <a:chExt cx="9834282" cy="23210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0107F72-E784-8D62-BC7E-9E31E92C8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659" y="1927486"/>
              <a:ext cx="9834282" cy="23210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B85B69C-6430-508B-EE0D-B584B371D276}"/>
                </a:ext>
              </a:extLst>
            </p:cNvPr>
            <p:cNvSpPr/>
            <p:nvPr/>
          </p:nvSpPr>
          <p:spPr>
            <a:xfrm>
              <a:off x="5145741" y="2788024"/>
              <a:ext cx="3281083" cy="6409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EC2 </a:t>
              </a:r>
              <a:r>
                <a:rPr lang="ko-KR" altLang="en-US" sz="1200"/>
                <a:t>인스턴스로 이동 </a:t>
              </a:r>
              <a:r>
                <a:rPr lang="en-US" altLang="ko-KR" sz="1200">
                  <a:sym typeface="Wingdings" panose="05000000000000000000" pitchFamily="2" charset="2"/>
                </a:rPr>
                <a:t> </a:t>
              </a:r>
              <a:r>
                <a:rPr lang="ko-KR" altLang="en-US" sz="1200">
                  <a:sym typeface="Wingdings" panose="05000000000000000000" pitchFamily="2" charset="2"/>
                </a:rPr>
                <a:t>작업 </a:t>
              </a:r>
              <a:r>
                <a:rPr lang="en-US" altLang="ko-KR" sz="1200">
                  <a:sym typeface="Wingdings" panose="05000000000000000000" pitchFamily="2" charset="2"/>
                </a:rPr>
                <a:t> </a:t>
              </a:r>
              <a:r>
                <a:rPr lang="ko-KR" altLang="en-US" sz="1200">
                  <a:sym typeface="Wingdings" panose="05000000000000000000" pitchFamily="2" charset="2"/>
                </a:rPr>
                <a:t>보안 </a:t>
              </a:r>
              <a:r>
                <a:rPr lang="en-US" altLang="ko-KR" sz="1200">
                  <a:sym typeface="Wingdings" panose="05000000000000000000" pitchFamily="2" charset="2"/>
                </a:rPr>
                <a:t> </a:t>
              </a:r>
              <a:br>
                <a:rPr lang="en-US" altLang="ko-KR" sz="1200">
                  <a:sym typeface="Wingdings" panose="05000000000000000000" pitchFamily="2" charset="2"/>
                </a:rPr>
              </a:br>
              <a:r>
                <a:rPr lang="en-US" altLang="ko-KR" sz="1200">
                  <a:sym typeface="Wingdings" panose="05000000000000000000" pitchFamily="2" charset="2"/>
                </a:rPr>
                <a:t>IAM </a:t>
              </a:r>
              <a:r>
                <a:rPr lang="ko-KR" altLang="en-US" sz="1200">
                  <a:sym typeface="Wingdings" panose="05000000000000000000" pitchFamily="2" charset="2"/>
                </a:rPr>
                <a:t>역할 수정</a:t>
              </a:r>
              <a:endParaRPr lang="ko-KR" altLang="en-US" sz="120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2F1100-21D2-7D4C-9CC7-FE73DF230D30}"/>
              </a:ext>
            </a:extLst>
          </p:cNvPr>
          <p:cNvGrpSpPr/>
          <p:nvPr/>
        </p:nvGrpSpPr>
        <p:grpSpPr>
          <a:xfrm>
            <a:off x="340659" y="4438672"/>
            <a:ext cx="6669611" cy="2252320"/>
            <a:chOff x="340659" y="4438672"/>
            <a:chExt cx="6669611" cy="225232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7655A57-871D-0337-EECF-E8B07362D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659" y="4438672"/>
              <a:ext cx="6669611" cy="22523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3CB89F1-75D2-0265-31DD-AE6179BF469F}"/>
                </a:ext>
              </a:extLst>
            </p:cNvPr>
            <p:cNvSpPr/>
            <p:nvPr/>
          </p:nvSpPr>
          <p:spPr>
            <a:xfrm>
              <a:off x="537882" y="6320118"/>
              <a:ext cx="2940424" cy="3708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51D20CC-597A-6CD4-8ED1-D63E03EA9EB5}"/>
              </a:ext>
            </a:extLst>
          </p:cNvPr>
          <p:cNvSpPr txBox="1"/>
          <p:nvPr/>
        </p:nvSpPr>
        <p:spPr>
          <a:xfrm>
            <a:off x="7135906" y="4438672"/>
            <a:ext cx="4823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생성한 역할 선택 </a:t>
            </a:r>
            <a:r>
              <a:rPr lang="en-US" altLang="ko-KR" sz="1400">
                <a:sym typeface="Wingdings" panose="05000000000000000000" pitchFamily="2" charset="2"/>
              </a:rPr>
              <a:t> I AM </a:t>
            </a:r>
            <a:r>
              <a:rPr lang="ko-KR" altLang="en-US" sz="1400">
                <a:sym typeface="Wingdings" panose="05000000000000000000" pitchFamily="2" charset="2"/>
              </a:rPr>
              <a:t>역할 업데이트 클릭</a:t>
            </a:r>
            <a:endParaRPr lang="ko-KR" altLang="en-US" sz="14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C6ADA0-FB4F-321F-8103-C604FFE9E247}"/>
              </a:ext>
            </a:extLst>
          </p:cNvPr>
          <p:cNvSpPr/>
          <p:nvPr/>
        </p:nvSpPr>
        <p:spPr>
          <a:xfrm>
            <a:off x="8245136" y="3429000"/>
            <a:ext cx="363376" cy="350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7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0C02C7-1F01-EBBB-6C84-17533B12775D}"/>
              </a:ext>
            </a:extLst>
          </p:cNvPr>
          <p:cNvSpPr/>
          <p:nvPr/>
        </p:nvSpPr>
        <p:spPr>
          <a:xfrm>
            <a:off x="3493776" y="6320118"/>
            <a:ext cx="363376" cy="350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396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37304-68DC-A08C-4F7B-360DC6E7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</a:t>
            </a:r>
            <a:r>
              <a:rPr lang="ko-KR" altLang="en-US"/>
              <a:t>에 클라우드 워치 에이전트 설치</a:t>
            </a:r>
            <a:r>
              <a:rPr lang="en-US" altLang="ko-KR"/>
              <a:t>(4)</a:t>
            </a:r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C6F258F-E166-1FFE-3661-07CF98E25321}"/>
              </a:ext>
            </a:extLst>
          </p:cNvPr>
          <p:cNvGrpSpPr/>
          <p:nvPr/>
        </p:nvGrpSpPr>
        <p:grpSpPr>
          <a:xfrm>
            <a:off x="667893" y="1831198"/>
            <a:ext cx="10917174" cy="3473603"/>
            <a:chOff x="667893" y="1831198"/>
            <a:chExt cx="10917174" cy="34736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279CB4-6CAF-0B3A-3A8B-6D6D675744F3}"/>
                </a:ext>
              </a:extLst>
            </p:cNvPr>
            <p:cNvSpPr txBox="1"/>
            <p:nvPr/>
          </p:nvSpPr>
          <p:spPr>
            <a:xfrm>
              <a:off x="667893" y="4042917"/>
              <a:ext cx="7055224" cy="1261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altLang="ko-KR" sz="1400"/>
                <a:t>1. EC2 </a:t>
              </a:r>
              <a:r>
                <a:rPr lang="ko-KR" altLang="en-US" sz="1400"/>
                <a:t>서버에 접속하여 </a:t>
              </a:r>
              <a:r>
                <a:rPr lang="en-US" altLang="ko-KR" sz="1400"/>
                <a:t>amazon-cloudwatch-agent </a:t>
              </a:r>
              <a:r>
                <a:rPr lang="ko-KR" altLang="en-US" sz="1400"/>
                <a:t>설치</a:t>
              </a:r>
              <a:endParaRPr lang="da-DK" altLang="ko-KR" sz="1400"/>
            </a:p>
            <a:p>
              <a:r>
                <a:rPr lang="da-DK" altLang="ko-KR" sz="1100"/>
                <a:t>wget </a:t>
              </a:r>
              <a:r>
                <a:rPr lang="da-DK" altLang="ko-KR" sz="1100">
                  <a:hlinkClick r:id="rId2"/>
                </a:rPr>
                <a:t>https://s3.amazonaws.com/amazoncloudwatch-agent/ubuntu/amd64/latest/amazon-cloudwatch-agent.deb</a:t>
              </a:r>
              <a:endParaRPr lang="da-DK" altLang="ko-KR" sz="1100"/>
            </a:p>
            <a:p>
              <a:r>
                <a:rPr lang="da-DK" altLang="ko-KR" sz="1400"/>
                <a:t>2. </a:t>
              </a:r>
              <a:r>
                <a:rPr lang="ko-KR" altLang="en-US" sz="1400"/>
                <a:t>다운로드 패키지 설치</a:t>
              </a:r>
              <a:endParaRPr lang="da-DK" altLang="ko-KR" sz="1400"/>
            </a:p>
            <a:p>
              <a:r>
                <a:rPr lang="en-US" altLang="ko-KR" sz="1100"/>
                <a:t>sudo dpkg -i -E ./amazon-cloudwatch-agent.deb</a:t>
              </a:r>
              <a:endParaRPr lang="da-DK" altLang="ko-KR" sz="1100"/>
            </a:p>
            <a:p>
              <a:r>
                <a:rPr lang="da-DK" altLang="ko-KR" sz="1400"/>
                <a:t>3. agent </a:t>
              </a:r>
              <a:r>
                <a:rPr lang="ko-KR" altLang="en-US" sz="1400"/>
                <a:t>설치를 위한 설정 입력</a:t>
              </a:r>
              <a:endParaRPr lang="en-US" altLang="ko-KR" sz="1400"/>
            </a:p>
            <a:p>
              <a:r>
                <a:rPr lang="en-US" altLang="ko-KR" sz="1200"/>
                <a:t>sudo /opt/aws/amazon-cloudwatch-agent/bin/amazon-cloudwatch-agent-config-wizard</a:t>
              </a:r>
              <a:endParaRPr lang="ko-KR" altLang="en-US" sz="140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456D50F-728A-472E-54E2-B6589CA14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893" y="1831198"/>
              <a:ext cx="10917174" cy="217200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D29D396-0756-9805-576E-67DF9D5BBE76}"/>
                </a:ext>
              </a:extLst>
            </p:cNvPr>
            <p:cNvSpPr/>
            <p:nvPr/>
          </p:nvSpPr>
          <p:spPr>
            <a:xfrm>
              <a:off x="11155680" y="1911880"/>
              <a:ext cx="363376" cy="3506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9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460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C5235EB-27F7-37CD-F18B-B942B9BA6FC0}"/>
              </a:ext>
            </a:extLst>
          </p:cNvPr>
          <p:cNvGrpSpPr/>
          <p:nvPr/>
        </p:nvGrpSpPr>
        <p:grpSpPr>
          <a:xfrm>
            <a:off x="206189" y="134471"/>
            <a:ext cx="9511552" cy="6617817"/>
            <a:chOff x="107577" y="134471"/>
            <a:chExt cx="9511552" cy="661781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20989B2-93EE-450B-02AD-4C3C680A2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036"/>
            <a:stretch>
              <a:fillRect/>
            </a:stretch>
          </p:blipFill>
          <p:spPr>
            <a:xfrm>
              <a:off x="107577" y="134471"/>
              <a:ext cx="7931121" cy="4052047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7F070A8-1CFC-27D9-EA43-E5065CDDA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77" y="4186518"/>
              <a:ext cx="9511552" cy="2565770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C94F549-B75B-09EF-0703-7061C35F07BB}"/>
              </a:ext>
            </a:extLst>
          </p:cNvPr>
          <p:cNvGrpSpPr/>
          <p:nvPr/>
        </p:nvGrpSpPr>
        <p:grpSpPr>
          <a:xfrm>
            <a:off x="4883635" y="134471"/>
            <a:ext cx="3253675" cy="6668033"/>
            <a:chOff x="6619153" y="134471"/>
            <a:chExt cx="3253675" cy="6668033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A72B13D-02C9-CAD8-567B-A3A063570909}"/>
                </a:ext>
              </a:extLst>
            </p:cNvPr>
            <p:cNvGrpSpPr/>
            <p:nvPr/>
          </p:nvGrpSpPr>
          <p:grpSpPr>
            <a:xfrm>
              <a:off x="6619153" y="134471"/>
              <a:ext cx="3253675" cy="5811355"/>
              <a:chOff x="6619153" y="134471"/>
              <a:chExt cx="3253675" cy="5811355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08977ADB-B096-704A-3686-F5C037CD6CBE}"/>
                  </a:ext>
                </a:extLst>
              </p:cNvPr>
              <p:cNvGrpSpPr/>
              <p:nvPr/>
            </p:nvGrpSpPr>
            <p:grpSpPr>
              <a:xfrm>
                <a:off x="6619154" y="134471"/>
                <a:ext cx="3253674" cy="3919689"/>
                <a:chOff x="6619154" y="134471"/>
                <a:chExt cx="3253674" cy="3919689"/>
              </a:xfrm>
            </p:grpSpPr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3D1D5D1D-7A6C-2CE9-2F3E-43FE989CF66F}"/>
                    </a:ext>
                  </a:extLst>
                </p:cNvPr>
                <p:cNvGrpSpPr/>
                <p:nvPr/>
              </p:nvGrpSpPr>
              <p:grpSpPr>
                <a:xfrm>
                  <a:off x="6619154" y="134471"/>
                  <a:ext cx="3253674" cy="3004082"/>
                  <a:chOff x="6619154" y="134471"/>
                  <a:chExt cx="3253674" cy="3004082"/>
                </a:xfrm>
              </p:grpSpPr>
              <p:pic>
                <p:nvPicPr>
                  <p:cNvPr id="8" name="그림 7">
                    <a:extLst>
                      <a:ext uri="{FF2B5EF4-FFF2-40B4-BE49-F238E27FC236}">
                        <a16:creationId xmlns:a16="http://schemas.microsoft.com/office/drawing/2014/main" id="{C79D1616-476E-5832-D836-F6C5E14FB2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619154" y="134471"/>
                    <a:ext cx="2209759" cy="1034235"/>
                  </a:xfrm>
                  <a:prstGeom prst="rect">
                    <a:avLst/>
                  </a:prstGeom>
                </p:spPr>
              </p:pic>
              <p:pic>
                <p:nvPicPr>
                  <p:cNvPr id="10" name="그림 9">
                    <a:extLst>
                      <a:ext uri="{FF2B5EF4-FFF2-40B4-BE49-F238E27FC236}">
                        <a16:creationId xmlns:a16="http://schemas.microsoft.com/office/drawing/2014/main" id="{6CE44009-C17E-8ED0-9B0D-93F3DBB30B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19154" y="1138015"/>
                    <a:ext cx="3253674" cy="915607"/>
                  </a:xfrm>
                  <a:prstGeom prst="rect">
                    <a:avLst/>
                  </a:prstGeom>
                </p:spPr>
              </p:pic>
              <p:pic>
                <p:nvPicPr>
                  <p:cNvPr id="12" name="그림 11">
                    <a:extLst>
                      <a:ext uri="{FF2B5EF4-FFF2-40B4-BE49-F238E27FC236}">
                        <a16:creationId xmlns:a16="http://schemas.microsoft.com/office/drawing/2014/main" id="{78E0CBCD-2FC1-E454-81D4-E96E056B15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619154" y="2053622"/>
                    <a:ext cx="2731034" cy="108493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5" name="그림 14">
                  <a:extLst>
                    <a:ext uri="{FF2B5EF4-FFF2-40B4-BE49-F238E27FC236}">
                      <a16:creationId xmlns:a16="http://schemas.microsoft.com/office/drawing/2014/main" id="{D1FD0215-06DC-283C-FC9C-F2EEB05F38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9154" y="3140008"/>
                  <a:ext cx="2395078" cy="914152"/>
                </a:xfrm>
                <a:prstGeom prst="rect">
                  <a:avLst/>
                </a:prstGeom>
              </p:spPr>
            </p:pic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D4C039B1-764A-C81B-0194-6874AD1E88CC}"/>
                  </a:ext>
                </a:extLst>
              </p:cNvPr>
              <p:cNvGrpSpPr/>
              <p:nvPr/>
            </p:nvGrpSpPr>
            <p:grpSpPr>
              <a:xfrm>
                <a:off x="6619153" y="4054160"/>
                <a:ext cx="2999976" cy="1891666"/>
                <a:chOff x="6619153" y="4054160"/>
                <a:chExt cx="2999976" cy="1891666"/>
              </a:xfrm>
            </p:grpSpPr>
            <p:pic>
              <p:nvPicPr>
                <p:cNvPr id="18" name="그림 17">
                  <a:extLst>
                    <a:ext uri="{FF2B5EF4-FFF2-40B4-BE49-F238E27FC236}">
                      <a16:creationId xmlns:a16="http://schemas.microsoft.com/office/drawing/2014/main" id="{5BDD0031-5C52-0A48-FC56-135FBC0353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19154" y="4054160"/>
                  <a:ext cx="2658593" cy="956328"/>
                </a:xfrm>
                <a:prstGeom prst="rect">
                  <a:avLst/>
                </a:prstGeom>
              </p:spPr>
            </p:pic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65AE928D-595E-9B09-2BA4-F58B4C478DD5}"/>
                    </a:ext>
                  </a:extLst>
                </p:cNvPr>
                <p:cNvGrpSpPr/>
                <p:nvPr/>
              </p:nvGrpSpPr>
              <p:grpSpPr>
                <a:xfrm>
                  <a:off x="6619153" y="5010488"/>
                  <a:ext cx="2999976" cy="935338"/>
                  <a:chOff x="6619153" y="5010488"/>
                  <a:chExt cx="2999976" cy="935338"/>
                </a:xfrm>
              </p:grpSpPr>
              <p:pic>
                <p:nvPicPr>
                  <p:cNvPr id="20" name="그림 19">
                    <a:extLst>
                      <a:ext uri="{FF2B5EF4-FFF2-40B4-BE49-F238E27FC236}">
                        <a16:creationId xmlns:a16="http://schemas.microsoft.com/office/drawing/2014/main" id="{E24CE29B-21FB-3F8C-B813-B665FC6852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619154" y="5010488"/>
                    <a:ext cx="2999975" cy="466663"/>
                  </a:xfrm>
                  <a:prstGeom prst="rect">
                    <a:avLst/>
                  </a:prstGeom>
                </p:spPr>
              </p:pic>
              <p:pic>
                <p:nvPicPr>
                  <p:cNvPr id="22" name="그림 21">
                    <a:extLst>
                      <a:ext uri="{FF2B5EF4-FFF2-40B4-BE49-F238E27FC236}">
                        <a16:creationId xmlns:a16="http://schemas.microsoft.com/office/drawing/2014/main" id="{C46E2C62-0140-C18D-1FED-4451367E3C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6619153" y="5477150"/>
                    <a:ext cx="982917" cy="468676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ADAFE31-8520-BDA8-66B3-CBC7ECC33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19153" y="5943813"/>
              <a:ext cx="2022823" cy="858691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B51E4F6-561B-F7C4-8AA5-3A5F95BA32D6}"/>
              </a:ext>
            </a:extLst>
          </p:cNvPr>
          <p:cNvGrpSpPr/>
          <p:nvPr/>
        </p:nvGrpSpPr>
        <p:grpSpPr>
          <a:xfrm>
            <a:off x="7565123" y="134471"/>
            <a:ext cx="4626877" cy="4419049"/>
            <a:chOff x="7565123" y="134471"/>
            <a:chExt cx="4626877" cy="4419049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543993D-AFA0-FD3F-05AC-31B06B9C7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65123" y="134471"/>
              <a:ext cx="4626877" cy="779929"/>
            </a:xfrm>
            <a:prstGeom prst="rect">
              <a:avLst/>
            </a:prstGeom>
          </p:spPr>
        </p:pic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016D05A-674F-8ABC-CB87-17DB8ED531B1}"/>
                </a:ext>
              </a:extLst>
            </p:cNvPr>
            <p:cNvGrpSpPr/>
            <p:nvPr/>
          </p:nvGrpSpPr>
          <p:grpSpPr>
            <a:xfrm>
              <a:off x="8231342" y="926835"/>
              <a:ext cx="3848041" cy="3626685"/>
              <a:chOff x="8231342" y="926835"/>
              <a:chExt cx="3848041" cy="3626685"/>
            </a:xfrm>
          </p:grpSpPr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26A4A586-9E7E-7DB3-9B83-4C3034746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19241" y="926835"/>
                <a:ext cx="2666392" cy="915606"/>
              </a:xfrm>
              <a:prstGeom prst="rect">
                <a:avLst/>
              </a:prstGeom>
            </p:spPr>
          </p:pic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29C04BB1-C42C-01E2-7F04-32E5975D9842}"/>
                  </a:ext>
                </a:extLst>
              </p:cNvPr>
              <p:cNvGrpSpPr/>
              <p:nvPr/>
            </p:nvGrpSpPr>
            <p:grpSpPr>
              <a:xfrm>
                <a:off x="8231342" y="1918672"/>
                <a:ext cx="3848041" cy="2634848"/>
                <a:chOff x="8231342" y="1918672"/>
                <a:chExt cx="3848041" cy="2634848"/>
              </a:xfrm>
            </p:grpSpPr>
            <p:grpSp>
              <p:nvGrpSpPr>
                <p:cNvPr id="36" name="그룹 35">
                  <a:extLst>
                    <a:ext uri="{FF2B5EF4-FFF2-40B4-BE49-F238E27FC236}">
                      <a16:creationId xmlns:a16="http://schemas.microsoft.com/office/drawing/2014/main" id="{C1C06AFA-9AC0-0D4C-D8E6-97E9D7831860}"/>
                    </a:ext>
                  </a:extLst>
                </p:cNvPr>
                <p:cNvGrpSpPr/>
                <p:nvPr/>
              </p:nvGrpSpPr>
              <p:grpSpPr>
                <a:xfrm>
                  <a:off x="8249926" y="1918672"/>
                  <a:ext cx="3829457" cy="1201398"/>
                  <a:chOff x="8249926" y="1918672"/>
                  <a:chExt cx="3829457" cy="1201398"/>
                </a:xfrm>
              </p:grpSpPr>
              <p:pic>
                <p:nvPicPr>
                  <p:cNvPr id="34" name="그림 33">
                    <a:extLst>
                      <a:ext uri="{FF2B5EF4-FFF2-40B4-BE49-F238E27FC236}">
                        <a16:creationId xmlns:a16="http://schemas.microsoft.com/office/drawing/2014/main" id="{492B9ECC-6B8D-6681-FB08-B8413738D5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8249926" y="1918672"/>
                    <a:ext cx="3829457" cy="1201398"/>
                  </a:xfrm>
                  <a:prstGeom prst="rect">
                    <a:avLst/>
                  </a:prstGeom>
                </p:spPr>
              </p:pic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A4E0508-E6F0-EC97-B91F-5F87AD0C0AC1}"/>
                      </a:ext>
                    </a:extLst>
                  </p:cNvPr>
                  <p:cNvSpPr txBox="1"/>
                  <p:nvPr/>
                </p:nvSpPr>
                <p:spPr>
                  <a:xfrm>
                    <a:off x="9556376" y="2456329"/>
                    <a:ext cx="22501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sz="1200"/>
                      <a:t>비용상의 문제</a:t>
                    </a:r>
                  </a:p>
                </p:txBody>
              </p:sp>
            </p:grpSp>
            <p:pic>
              <p:nvPicPr>
                <p:cNvPr id="38" name="그림 37">
                  <a:extLst>
                    <a:ext uri="{FF2B5EF4-FFF2-40B4-BE49-F238E27FC236}">
                      <a16:creationId xmlns:a16="http://schemas.microsoft.com/office/drawing/2014/main" id="{A51293BE-B49D-822E-1BA6-77D07A0B0C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31342" y="3138553"/>
                  <a:ext cx="3831395" cy="141496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985644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6349-52C7-63A7-1688-EDAD2972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F97C7C-1245-1940-54A1-2AF6EBC7A3E3}"/>
              </a:ext>
            </a:extLst>
          </p:cNvPr>
          <p:cNvGrpSpPr/>
          <p:nvPr/>
        </p:nvGrpSpPr>
        <p:grpSpPr>
          <a:xfrm>
            <a:off x="0" y="0"/>
            <a:ext cx="8719964" cy="5935876"/>
            <a:chOff x="0" y="717176"/>
            <a:chExt cx="8719964" cy="593587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F48E93D-6E69-F1EB-C19C-476C3D1E5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5066"/>
            <a:stretch>
              <a:fillRect/>
            </a:stretch>
          </p:blipFill>
          <p:spPr>
            <a:xfrm>
              <a:off x="0" y="717176"/>
              <a:ext cx="6628718" cy="404308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8403A13-25A9-5BFA-CEF6-EED9CCB79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760259"/>
              <a:ext cx="8719964" cy="63649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D5ACB2B-C0F2-3C0D-6414-70F560E47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396753"/>
              <a:ext cx="2512599" cy="1256299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4835F4F-5990-BBBB-6FEE-BB3A305CC7A5}"/>
              </a:ext>
            </a:extLst>
          </p:cNvPr>
          <p:cNvGrpSpPr/>
          <p:nvPr/>
        </p:nvGrpSpPr>
        <p:grpSpPr>
          <a:xfrm>
            <a:off x="6673542" y="0"/>
            <a:ext cx="2920524" cy="2099371"/>
            <a:chOff x="6673542" y="0"/>
            <a:chExt cx="2920524" cy="209937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A33B6A4-5196-7297-2F96-2188B3277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1723" y="0"/>
              <a:ext cx="1636489" cy="103280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2B81AC5-DEE9-8ADE-0C5D-45958A31D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73542" y="1032807"/>
              <a:ext cx="2920524" cy="1066564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1E32B593-87A6-1313-F162-BFEEB3B0B1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3543" y="2099371"/>
            <a:ext cx="2046422" cy="1083400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F42D69ED-9574-2030-052F-9EA31DB9AF36}"/>
              </a:ext>
            </a:extLst>
          </p:cNvPr>
          <p:cNvGrpSpPr/>
          <p:nvPr/>
        </p:nvGrpSpPr>
        <p:grpSpPr>
          <a:xfrm>
            <a:off x="2617694" y="5226424"/>
            <a:ext cx="4382112" cy="598769"/>
            <a:chOff x="2617694" y="5226424"/>
            <a:chExt cx="4382112" cy="59876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7AA640-ACF3-1399-A807-6D2530B5ED6C}"/>
                </a:ext>
              </a:extLst>
            </p:cNvPr>
            <p:cNvSpPr txBox="1"/>
            <p:nvPr/>
          </p:nvSpPr>
          <p:spPr>
            <a:xfrm>
              <a:off x="2617694" y="5226424"/>
              <a:ext cx="3747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journald </a:t>
              </a:r>
              <a:r>
                <a:rPr lang="ko-KR" altLang="en-US"/>
                <a:t>로그를 모니터링 할껀지</a:t>
              </a:r>
              <a:r>
                <a:rPr lang="en-US" altLang="ko-KR"/>
                <a:t>?</a:t>
              </a:r>
              <a:endParaRPr lang="ko-KR" altLang="en-US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964ED13-E4D1-2B7A-1D29-200934857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17694" y="5606087"/>
              <a:ext cx="4382112" cy="219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704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45CA1E1-F055-B169-75B9-79BB57002A4F}"/>
              </a:ext>
            </a:extLst>
          </p:cNvPr>
          <p:cNvGrpSpPr/>
          <p:nvPr/>
        </p:nvGrpSpPr>
        <p:grpSpPr>
          <a:xfrm>
            <a:off x="0" y="0"/>
            <a:ext cx="6334223" cy="6246430"/>
            <a:chOff x="0" y="0"/>
            <a:chExt cx="6334223" cy="624643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F4EAA94-10B7-BFF7-81F5-1A34D4C86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0"/>
              <a:ext cx="6334222" cy="34290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7B7128-40BB-08A6-5A1B-0C88B795C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29000"/>
              <a:ext cx="5289587" cy="2817430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2711698-1889-CE7A-3B25-27B4EE1C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223" y="0"/>
            <a:ext cx="4527851" cy="11300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3C9702-9C00-93CD-E567-2F50C387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587" y="5002807"/>
            <a:ext cx="4527851" cy="11708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F7A5D9-1CC1-E8F4-52A7-E02B7F371F3A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sudo /opt/aws/amazon-cloudwatch-agent/bin/amazon-cloudwatch-agent-ctl -a fetch-config -m ec2 -s -c file:/opt/aws/amazon-cloudwatch-agent/bin/config.json</a:t>
            </a:r>
          </a:p>
        </p:txBody>
      </p:sp>
    </p:spTree>
    <p:extLst>
      <p:ext uri="{BB962C8B-B14F-4D97-AF65-F5344CB8AC3E}">
        <p14:creationId xmlns:p14="http://schemas.microsoft.com/office/powerpoint/2010/main" val="283284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ADC57-5434-03B3-1FB8-5EADF08D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amazon-cloudwatch-agent </a:t>
            </a:r>
            <a:r>
              <a:rPr lang="ko-KR" altLang="en-US"/>
              <a:t>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F6D1C-DC4D-04A1-B690-D670CBF40E06}"/>
              </a:ext>
            </a:extLst>
          </p:cNvPr>
          <p:cNvSpPr txBox="1"/>
          <p:nvPr/>
        </p:nvSpPr>
        <p:spPr>
          <a:xfrm>
            <a:off x="1097280" y="1801924"/>
            <a:ext cx="102161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/>
              <a:t>실행 명령어 </a:t>
            </a:r>
            <a:endParaRPr lang="en-US" altLang="ko-KR" sz="1100" b="1"/>
          </a:p>
          <a:p>
            <a:r>
              <a:rPr lang="ko-KR" altLang="en-US" sz="1100"/>
              <a:t>sudo /opt/aws/amazon-cloudwatch-agent/bin/amazon-cloudwatch-agent-ctl -a fetch-config -m ec2 -s -c file:/opt/aws/amazon-cloudwatch-agent/bin/config.json</a:t>
            </a:r>
            <a:endParaRPr lang="en-US" altLang="ko-KR" sz="1100"/>
          </a:p>
          <a:p>
            <a:r>
              <a:rPr lang="ko-KR" altLang="en-US" sz="1100" b="1"/>
              <a:t>확인명령어</a:t>
            </a:r>
            <a:endParaRPr lang="en-US" altLang="ko-KR" sz="1100" b="1"/>
          </a:p>
          <a:p>
            <a:r>
              <a:rPr lang="en-US" altLang="ko-KR" sz="1100"/>
              <a:t>sudo /opt/aws/amazon-cloudwatch-agent/bin/amazon-cloudwatch-agent-ctl -m ec2 -a status</a:t>
            </a:r>
            <a:endParaRPr lang="ko-KR" altLang="en-US" sz="1100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F7A73A-EF9C-262C-20A2-962BFB683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 r="-1"/>
          <a:stretch>
            <a:fillRect/>
          </a:stretch>
        </p:blipFill>
        <p:spPr>
          <a:xfrm>
            <a:off x="1097280" y="2635929"/>
            <a:ext cx="9797149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39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0A3C7-CCAA-44C2-36AF-C2F7F6C7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수집이 잘되고 있는지 확인하기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7F07821-1703-64B1-EC32-172A76DFD757}"/>
              </a:ext>
            </a:extLst>
          </p:cNvPr>
          <p:cNvGrpSpPr/>
          <p:nvPr/>
        </p:nvGrpSpPr>
        <p:grpSpPr>
          <a:xfrm>
            <a:off x="2415092" y="1861442"/>
            <a:ext cx="6843692" cy="2241622"/>
            <a:chOff x="2415092" y="1861442"/>
            <a:chExt cx="6843692" cy="224162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E04BCC7-9D96-F966-BB8B-383346F313FF}"/>
                </a:ext>
              </a:extLst>
            </p:cNvPr>
            <p:cNvGrpSpPr/>
            <p:nvPr/>
          </p:nvGrpSpPr>
          <p:grpSpPr>
            <a:xfrm>
              <a:off x="2415092" y="1861442"/>
              <a:ext cx="6843692" cy="2241622"/>
              <a:chOff x="2415092" y="1861442"/>
              <a:chExt cx="6843692" cy="2241622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38E3235D-17FB-D4F6-5648-1DD7A9933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319"/>
              <a:stretch>
                <a:fillRect/>
              </a:stretch>
            </p:blipFill>
            <p:spPr>
              <a:xfrm>
                <a:off x="2415092" y="1861442"/>
                <a:ext cx="6843692" cy="193384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368A5E-2D5E-2F4A-F6F6-A87FC4BE677E}"/>
                  </a:ext>
                </a:extLst>
              </p:cNvPr>
              <p:cNvSpPr txBox="1"/>
              <p:nvPr/>
            </p:nvSpPr>
            <p:spPr>
              <a:xfrm>
                <a:off x="2415092" y="3795287"/>
                <a:ext cx="42636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검색창에 </a:t>
                </a:r>
                <a:r>
                  <a:rPr lang="en-US" altLang="ko-KR" sz="1400"/>
                  <a:t>cloudwatch </a:t>
                </a:r>
                <a:r>
                  <a:rPr lang="ko-KR" altLang="en-US" sz="1400"/>
                  <a:t>검색 클릭</a:t>
                </a:r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51AB434-3620-4839-D65E-39425E43AAC5}"/>
                </a:ext>
              </a:extLst>
            </p:cNvPr>
            <p:cNvSpPr/>
            <p:nvPr/>
          </p:nvSpPr>
          <p:spPr>
            <a:xfrm>
              <a:off x="5244353" y="2510118"/>
              <a:ext cx="349623" cy="3316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</a:t>
              </a:r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2F6B313-7A3C-5CFF-3CAB-F81C89570ABB}"/>
              </a:ext>
            </a:extLst>
          </p:cNvPr>
          <p:cNvGrpSpPr/>
          <p:nvPr/>
        </p:nvGrpSpPr>
        <p:grpSpPr>
          <a:xfrm>
            <a:off x="523539" y="1861442"/>
            <a:ext cx="1663419" cy="4778188"/>
            <a:chOff x="523539" y="1861442"/>
            <a:chExt cx="1663419" cy="477818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75CDD8D-292C-8064-D834-67A9EAA2B0FF}"/>
                </a:ext>
              </a:extLst>
            </p:cNvPr>
            <p:cNvGrpSpPr/>
            <p:nvPr/>
          </p:nvGrpSpPr>
          <p:grpSpPr>
            <a:xfrm>
              <a:off x="523539" y="1861442"/>
              <a:ext cx="1663419" cy="4778188"/>
              <a:chOff x="523539" y="1861442"/>
              <a:chExt cx="1663419" cy="4778188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906F1705-2E92-04DC-B3B0-0B890A00E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3539" y="1861442"/>
                <a:ext cx="1663419" cy="4778188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BA8F8E6-0212-A0D7-2EE7-918E4A8BF366}"/>
                  </a:ext>
                </a:extLst>
              </p:cNvPr>
              <p:cNvSpPr/>
              <p:nvPr/>
            </p:nvSpPr>
            <p:spPr>
              <a:xfrm>
                <a:off x="636494" y="5091953"/>
                <a:ext cx="708212" cy="2151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A4F20C5-85CA-6117-3434-E5D2687526D9}"/>
                </a:ext>
              </a:extLst>
            </p:cNvPr>
            <p:cNvSpPr/>
            <p:nvPr/>
          </p:nvSpPr>
          <p:spPr>
            <a:xfrm>
              <a:off x="1776591" y="3097306"/>
              <a:ext cx="349623" cy="3316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1862E52-7023-44CC-B9D6-2762CE169DDA}"/>
              </a:ext>
            </a:extLst>
          </p:cNvPr>
          <p:cNvGrpSpPr/>
          <p:nvPr/>
        </p:nvGrpSpPr>
        <p:grpSpPr>
          <a:xfrm>
            <a:off x="2415092" y="4208840"/>
            <a:ext cx="3343742" cy="1133633"/>
            <a:chOff x="2415092" y="4208840"/>
            <a:chExt cx="3343742" cy="1133633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15462D8-7861-61D9-0670-0D91C6634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5092" y="4208840"/>
              <a:ext cx="3343742" cy="1133633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B152D79-9173-31AC-0E8E-010FFF96D160}"/>
                </a:ext>
              </a:extLst>
            </p:cNvPr>
            <p:cNvSpPr/>
            <p:nvPr/>
          </p:nvSpPr>
          <p:spPr>
            <a:xfrm>
              <a:off x="3737340" y="4724845"/>
              <a:ext cx="349623" cy="3316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38C509C-BE67-933D-7130-008564084127}"/>
                </a:ext>
              </a:extLst>
            </p:cNvPr>
            <p:cNvSpPr/>
            <p:nvPr/>
          </p:nvSpPr>
          <p:spPr>
            <a:xfrm>
              <a:off x="2800993" y="4748762"/>
              <a:ext cx="84764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730FC4D-E4C8-1895-60FA-7AA21F47873E}"/>
              </a:ext>
            </a:extLst>
          </p:cNvPr>
          <p:cNvGrpSpPr/>
          <p:nvPr/>
        </p:nvGrpSpPr>
        <p:grpSpPr>
          <a:xfrm>
            <a:off x="2549837" y="5307106"/>
            <a:ext cx="5939740" cy="1510104"/>
            <a:chOff x="2549837" y="5307106"/>
            <a:chExt cx="5939740" cy="151010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917577F5-BA57-8F4F-B48D-5DF3A36270F0}"/>
                </a:ext>
              </a:extLst>
            </p:cNvPr>
            <p:cNvGrpSpPr/>
            <p:nvPr/>
          </p:nvGrpSpPr>
          <p:grpSpPr>
            <a:xfrm>
              <a:off x="2549837" y="5307106"/>
              <a:ext cx="5939740" cy="1510104"/>
              <a:chOff x="2549837" y="5307106"/>
              <a:chExt cx="5939740" cy="1510104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43DCC7AE-7E4F-A885-119F-ACC3BA999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9837" y="5307106"/>
                <a:ext cx="5939740" cy="1510104"/>
              </a:xfrm>
              <a:prstGeom prst="rect">
                <a:avLst/>
              </a:prstGeom>
            </p:spPr>
          </p:pic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1CF93B7-CD10-8E3B-6873-89183BD4DE04}"/>
                  </a:ext>
                </a:extLst>
              </p:cNvPr>
              <p:cNvSpPr/>
              <p:nvPr/>
            </p:nvSpPr>
            <p:spPr>
              <a:xfrm>
                <a:off x="6548240" y="6036909"/>
                <a:ext cx="1833760" cy="66869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B9E1157-ADE8-EC75-9CB4-2E47774A794D}"/>
                </a:ext>
              </a:extLst>
            </p:cNvPr>
            <p:cNvSpPr/>
            <p:nvPr/>
          </p:nvSpPr>
          <p:spPr>
            <a:xfrm>
              <a:off x="6632940" y="6320565"/>
              <a:ext cx="349623" cy="3316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70F8EA0-CA28-7257-160E-86C05689BD26}"/>
              </a:ext>
            </a:extLst>
          </p:cNvPr>
          <p:cNvGrpSpPr/>
          <p:nvPr/>
        </p:nvGrpSpPr>
        <p:grpSpPr>
          <a:xfrm>
            <a:off x="6632940" y="3720502"/>
            <a:ext cx="4779240" cy="2263250"/>
            <a:chOff x="6632940" y="3720502"/>
            <a:chExt cx="4779240" cy="226325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095F9EB2-E99C-7CF3-5A23-E7E9BC876EB1}"/>
                </a:ext>
              </a:extLst>
            </p:cNvPr>
            <p:cNvGrpSpPr/>
            <p:nvPr/>
          </p:nvGrpSpPr>
          <p:grpSpPr>
            <a:xfrm>
              <a:off x="6632940" y="3720502"/>
              <a:ext cx="4779240" cy="1586604"/>
              <a:chOff x="6632940" y="3720502"/>
              <a:chExt cx="4779240" cy="1586604"/>
            </a:xfrm>
          </p:grpSpPr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F1277CA1-7F93-1C14-9C8C-0743AEDE7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2940" y="3720502"/>
                <a:ext cx="4779240" cy="158660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3E9333E1-35D0-CFB0-7044-3703FA4A1808}"/>
                  </a:ext>
                </a:extLst>
              </p:cNvPr>
              <p:cNvSpPr/>
              <p:nvPr/>
            </p:nvSpPr>
            <p:spPr>
              <a:xfrm>
                <a:off x="6655817" y="4832866"/>
                <a:ext cx="4693502" cy="41148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090DDFC-E831-B97F-203B-43E0A739DDE5}"/>
                </a:ext>
              </a:extLst>
            </p:cNvPr>
            <p:cNvSpPr/>
            <p:nvPr/>
          </p:nvSpPr>
          <p:spPr>
            <a:xfrm>
              <a:off x="8672937" y="4417068"/>
              <a:ext cx="349623" cy="3316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5</a:t>
              </a:r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3DB163C-4ABD-910C-064B-4DAB0FA883C3}"/>
                </a:ext>
              </a:extLst>
            </p:cNvPr>
            <p:cNvSpPr txBox="1"/>
            <p:nvPr/>
          </p:nvSpPr>
          <p:spPr>
            <a:xfrm>
              <a:off x="9216199" y="5337421"/>
              <a:ext cx="2133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디스크지표 </a:t>
              </a:r>
              <a:endParaRPr lang="en-US" altLang="ko-KR" sz="1200"/>
            </a:p>
            <a:p>
              <a:r>
                <a:rPr lang="ko-KR" altLang="en-US" sz="1200"/>
                <a:t>메모리지표</a:t>
              </a:r>
              <a:endParaRPr lang="en-US" altLang="ko-KR" sz="1200"/>
            </a:p>
            <a:p>
              <a:r>
                <a:rPr lang="ko-KR" altLang="en-US" sz="1200"/>
                <a:t>설정 확인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6173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3EEDC-23C8-D64C-5227-F477FD6C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모니터링 간격 맞추기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1312FB-32BA-E59D-7EAD-24331FE38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17" y="1957081"/>
            <a:ext cx="3267531" cy="362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69D2C-D240-7305-ED6F-9134BCDDA840}"/>
              </a:ext>
            </a:extLst>
          </p:cNvPr>
          <p:cNvSpPr txBox="1"/>
          <p:nvPr/>
        </p:nvSpPr>
        <p:spPr>
          <a:xfrm>
            <a:off x="3612776" y="1864659"/>
            <a:ext cx="75429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EC2 </a:t>
            </a:r>
            <a:r>
              <a:rPr lang="ko-KR" altLang="en-US" sz="1100"/>
              <a:t>인스턴스의 그래프 모니터링은 </a:t>
            </a:r>
            <a:r>
              <a:rPr lang="en-US" altLang="ko-KR" sz="1100"/>
              <a:t>5</a:t>
            </a:r>
            <a:r>
              <a:rPr lang="ko-KR" altLang="en-US" sz="1100"/>
              <a:t>분마다 이루어진다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그러나  </a:t>
            </a:r>
            <a:r>
              <a:rPr lang="en-US" altLang="ko-KR" sz="1100"/>
              <a:t>aws-cloudwatch-agent</a:t>
            </a:r>
            <a:r>
              <a:rPr lang="ko-KR" altLang="en-US" sz="1100"/>
              <a:t>에선 </a:t>
            </a:r>
            <a:r>
              <a:rPr lang="en-US" altLang="ko-KR" sz="1100"/>
              <a:t>1</a:t>
            </a:r>
            <a:r>
              <a:rPr lang="ko-KR" altLang="en-US" sz="1100"/>
              <a:t>분마다 모니터링을 동작하도록 설정했다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이 간격을 맞춰주어야한다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93CA5A9-9D9C-874E-C2CE-4C6F801674FB}"/>
              </a:ext>
            </a:extLst>
          </p:cNvPr>
          <p:cNvGrpSpPr/>
          <p:nvPr/>
        </p:nvGrpSpPr>
        <p:grpSpPr>
          <a:xfrm>
            <a:off x="275716" y="2526965"/>
            <a:ext cx="7368619" cy="4187600"/>
            <a:chOff x="275716" y="2526965"/>
            <a:chExt cx="7368619" cy="41876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31232AB-4A77-3121-40A7-B9205F800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716" y="2526965"/>
              <a:ext cx="7368619" cy="4187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DFB45F3-8897-2514-1AB3-1320F8693C84}"/>
                </a:ext>
              </a:extLst>
            </p:cNvPr>
            <p:cNvSpPr/>
            <p:nvPr/>
          </p:nvSpPr>
          <p:spPr>
            <a:xfrm>
              <a:off x="6705600" y="2796988"/>
              <a:ext cx="851647" cy="2689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0A6BB98-B540-C85F-A023-7CBD0FB357FC}"/>
              </a:ext>
            </a:extLst>
          </p:cNvPr>
          <p:cNvGrpSpPr/>
          <p:nvPr/>
        </p:nvGrpSpPr>
        <p:grpSpPr>
          <a:xfrm>
            <a:off x="5177248" y="3542596"/>
            <a:ext cx="4934174" cy="3171969"/>
            <a:chOff x="5177248" y="3542596"/>
            <a:chExt cx="4934174" cy="317196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714ADDD-7D94-3A52-F33D-22D711FBC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77248" y="3542596"/>
              <a:ext cx="4934174" cy="31719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5252E22-D292-D130-A408-9D4F2F463F89}"/>
                </a:ext>
              </a:extLst>
            </p:cNvPr>
            <p:cNvSpPr/>
            <p:nvPr/>
          </p:nvSpPr>
          <p:spPr>
            <a:xfrm>
              <a:off x="5190565" y="5002306"/>
              <a:ext cx="735106" cy="2599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2399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5C131-4B9D-C22D-75E6-F05A5BC2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분 간격으로 확인하기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C2E627C-6DFA-620E-59D1-8A7D8304614C}"/>
              </a:ext>
            </a:extLst>
          </p:cNvPr>
          <p:cNvGrpSpPr/>
          <p:nvPr/>
        </p:nvGrpSpPr>
        <p:grpSpPr>
          <a:xfrm>
            <a:off x="590064" y="1965670"/>
            <a:ext cx="2943636" cy="1743318"/>
            <a:chOff x="590064" y="1965670"/>
            <a:chExt cx="2943636" cy="17433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DAA49F8-1986-655B-8CBC-166E358F9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064" y="1965670"/>
              <a:ext cx="2943636" cy="174331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86C750D-692D-AF48-DD11-CAD3F966C904}"/>
                </a:ext>
              </a:extLst>
            </p:cNvPr>
            <p:cNvSpPr/>
            <p:nvPr/>
          </p:nvSpPr>
          <p:spPr>
            <a:xfrm>
              <a:off x="2716306" y="1965670"/>
              <a:ext cx="295835" cy="3292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E0184DD-9152-0148-9A40-EDBFC3596BA8}"/>
              </a:ext>
            </a:extLst>
          </p:cNvPr>
          <p:cNvGrpSpPr/>
          <p:nvPr/>
        </p:nvGrpSpPr>
        <p:grpSpPr>
          <a:xfrm>
            <a:off x="3765176" y="1953374"/>
            <a:ext cx="8241922" cy="3586813"/>
            <a:chOff x="3765176" y="1953374"/>
            <a:chExt cx="8241922" cy="358681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AF91775-3DCE-E178-7999-6312D330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5176" y="1953374"/>
              <a:ext cx="8241922" cy="358681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F8484A6-C62A-22B0-9083-3333F7E708F8}"/>
                </a:ext>
              </a:extLst>
            </p:cNvPr>
            <p:cNvSpPr/>
            <p:nvPr/>
          </p:nvSpPr>
          <p:spPr>
            <a:xfrm>
              <a:off x="7745506" y="3236259"/>
              <a:ext cx="475129" cy="1927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817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67D63-498A-DC0D-C8D2-4148C6A5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RDS </a:t>
            </a:r>
            <a:r>
              <a:rPr lang="ko-KR" altLang="en-US" sz="4000"/>
              <a:t>서버</a:t>
            </a:r>
            <a:r>
              <a:rPr lang="en-US" altLang="ko-KR" sz="4000"/>
              <a:t>(DB</a:t>
            </a:r>
            <a:r>
              <a:rPr lang="ko-KR" altLang="en-US" sz="4000"/>
              <a:t>서버</a:t>
            </a:r>
            <a:r>
              <a:rPr lang="en-US" altLang="ko-KR" sz="4000"/>
              <a:t>) </a:t>
            </a:r>
            <a:r>
              <a:rPr lang="ko-KR" altLang="en-US" sz="4000"/>
              <a:t>메모리</a:t>
            </a:r>
            <a:r>
              <a:rPr lang="en-US" altLang="ko-KR" sz="4000"/>
              <a:t>/</a:t>
            </a:r>
            <a:r>
              <a:rPr lang="ko-KR" altLang="en-US" sz="4000"/>
              <a:t>사용률 셋팅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9F6001-D69C-D054-F57D-34D865406686}"/>
              </a:ext>
            </a:extLst>
          </p:cNvPr>
          <p:cNvGrpSpPr/>
          <p:nvPr/>
        </p:nvGrpSpPr>
        <p:grpSpPr>
          <a:xfrm>
            <a:off x="340482" y="1958391"/>
            <a:ext cx="4959861" cy="3787986"/>
            <a:chOff x="340482" y="1958391"/>
            <a:chExt cx="4959861" cy="37879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0E6D54B-C532-BEBF-E8C3-C0BA65461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482" y="1958391"/>
              <a:ext cx="4959861" cy="127786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19AE0F4-D963-28F0-F2AC-0B6DAFAEE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482" y="3621742"/>
              <a:ext cx="1950331" cy="139849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6BE3D72-6820-7303-5094-CC472EAA6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0412" y="3457290"/>
              <a:ext cx="2031272" cy="228908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3831A17-1CA2-54DD-5172-83CD2593600C}"/>
                </a:ext>
              </a:extLst>
            </p:cNvPr>
            <p:cNvSpPr/>
            <p:nvPr/>
          </p:nvSpPr>
          <p:spPr>
            <a:xfrm>
              <a:off x="1021976" y="4634753"/>
              <a:ext cx="1013012" cy="2958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1121381-8831-56BA-9168-ADBC81E88688}"/>
                </a:ext>
              </a:extLst>
            </p:cNvPr>
            <p:cNvSpPr/>
            <p:nvPr/>
          </p:nvSpPr>
          <p:spPr>
            <a:xfrm>
              <a:off x="3836048" y="5325037"/>
              <a:ext cx="932330" cy="3854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2AE1CC-82ED-4BCE-5620-951361CE1C6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2034988" y="4782671"/>
            <a:ext cx="1801060" cy="735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63CB9D7-E0A2-99F6-1824-4E6455969595}"/>
              </a:ext>
            </a:extLst>
          </p:cNvPr>
          <p:cNvGrpSpPr/>
          <p:nvPr/>
        </p:nvGrpSpPr>
        <p:grpSpPr>
          <a:xfrm>
            <a:off x="5172635" y="1958391"/>
            <a:ext cx="6918064" cy="4541203"/>
            <a:chOff x="5172635" y="1958391"/>
            <a:chExt cx="6918064" cy="4541203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478F856-72B1-7992-4ABA-2C49DA04001C}"/>
                </a:ext>
              </a:extLst>
            </p:cNvPr>
            <p:cNvGrpSpPr/>
            <p:nvPr/>
          </p:nvGrpSpPr>
          <p:grpSpPr>
            <a:xfrm>
              <a:off x="5172635" y="1958391"/>
              <a:ext cx="6918064" cy="4541203"/>
              <a:chOff x="5172635" y="1958391"/>
              <a:chExt cx="6918064" cy="4541203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CB218426-D1A0-1B94-9D12-D8CE81095003}"/>
                  </a:ext>
                </a:extLst>
              </p:cNvPr>
              <p:cNvGrpSpPr/>
              <p:nvPr/>
            </p:nvGrpSpPr>
            <p:grpSpPr>
              <a:xfrm>
                <a:off x="5172635" y="1958391"/>
                <a:ext cx="6918064" cy="4541203"/>
                <a:chOff x="5172635" y="1958391"/>
                <a:chExt cx="6918064" cy="4541203"/>
              </a:xfrm>
            </p:grpSpPr>
            <p:pic>
              <p:nvPicPr>
                <p:cNvPr id="15" name="그림 14">
                  <a:extLst>
                    <a:ext uri="{FF2B5EF4-FFF2-40B4-BE49-F238E27FC236}">
                      <a16:creationId xmlns:a16="http://schemas.microsoft.com/office/drawing/2014/main" id="{EF471BF0-7360-FAE3-CF76-97301A1F55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72635" y="1958391"/>
                  <a:ext cx="6918064" cy="4541203"/>
                </a:xfrm>
                <a:prstGeom prst="rect">
                  <a:avLst/>
                </a:prstGeom>
              </p:spPr>
            </p:pic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E345E2A-299B-943A-846F-AE76802D2B6E}"/>
                    </a:ext>
                  </a:extLst>
                </p:cNvPr>
                <p:cNvSpPr/>
                <p:nvPr/>
              </p:nvSpPr>
              <p:spPr>
                <a:xfrm>
                  <a:off x="5208494" y="3236259"/>
                  <a:ext cx="2214282" cy="1631576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07113AE8-DB05-E793-2A28-C32B73D2A36C}"/>
                    </a:ext>
                  </a:extLst>
                </p:cNvPr>
                <p:cNvSpPr/>
                <p:nvPr/>
              </p:nvSpPr>
              <p:spPr>
                <a:xfrm>
                  <a:off x="9771529" y="4867834"/>
                  <a:ext cx="2214282" cy="155537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EEE5AD-AC35-8ADA-8F9D-C438B5A06649}"/>
                  </a:ext>
                </a:extLst>
              </p:cNvPr>
              <p:cNvSpPr txBox="1"/>
              <p:nvPr/>
            </p:nvSpPr>
            <p:spPr>
              <a:xfrm>
                <a:off x="5988424" y="3429000"/>
                <a:ext cx="9054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/>
                  <a:t>사용률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BBFDDB-7CA8-7461-92BF-94C20712DDEF}"/>
                </a:ext>
              </a:extLst>
            </p:cNvPr>
            <p:cNvSpPr txBox="1"/>
            <p:nvPr/>
          </p:nvSpPr>
          <p:spPr>
            <a:xfrm>
              <a:off x="10255623" y="5060577"/>
              <a:ext cx="12640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/>
                <a:t>사용가능 메모리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694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48ABFF4-5210-2C66-1954-2A2603671000}"/>
              </a:ext>
            </a:extLst>
          </p:cNvPr>
          <p:cNvGrpSpPr/>
          <p:nvPr/>
        </p:nvGrpSpPr>
        <p:grpSpPr>
          <a:xfrm>
            <a:off x="2043953" y="566490"/>
            <a:ext cx="8055723" cy="5438149"/>
            <a:chOff x="2043953" y="566490"/>
            <a:chExt cx="8055723" cy="543814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24340AC-5CD0-4FDC-DEB8-A2887FEFA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2323" y="566490"/>
              <a:ext cx="8007353" cy="543814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FF36CA-679E-1ADA-89DE-C315F22994A0}"/>
                </a:ext>
              </a:extLst>
            </p:cNvPr>
            <p:cNvSpPr/>
            <p:nvPr/>
          </p:nvSpPr>
          <p:spPr>
            <a:xfrm>
              <a:off x="2043953" y="797859"/>
              <a:ext cx="753035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FAEF83C-0D59-2851-DC98-2FDC658C5632}"/>
              </a:ext>
            </a:extLst>
          </p:cNvPr>
          <p:cNvSpPr txBox="1"/>
          <p:nvPr/>
        </p:nvSpPr>
        <p:spPr>
          <a:xfrm>
            <a:off x="4580965" y="1183341"/>
            <a:ext cx="4823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AWS</a:t>
            </a:r>
            <a:r>
              <a:rPr lang="ko-KR" altLang="en-US" sz="1200"/>
              <a:t>의 </a:t>
            </a:r>
            <a:r>
              <a:rPr lang="en-US" altLang="ko-KR" sz="1200"/>
              <a:t>RDB</a:t>
            </a:r>
            <a:r>
              <a:rPr lang="ko-KR" altLang="en-US" sz="1200"/>
              <a:t>의 경우 </a:t>
            </a:r>
            <a:r>
              <a:rPr lang="en-US" altLang="ko-KR" sz="1200"/>
              <a:t>1</a:t>
            </a:r>
            <a:r>
              <a:rPr lang="ko-KR" altLang="en-US" sz="1200"/>
              <a:t>분간격으로 변경해보면 모니터링이 </a:t>
            </a:r>
            <a:r>
              <a:rPr lang="en-US" altLang="ko-KR" sz="1200"/>
              <a:t>1</a:t>
            </a:r>
            <a:r>
              <a:rPr lang="ko-KR" altLang="en-US" sz="1200"/>
              <a:t>분마다 기록 되는것이 기본이라는 것을 알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C38D5B-F689-B574-D2DA-58797E2DC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818" y="188174"/>
            <a:ext cx="1495634" cy="6096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27E8D6-8AF7-95C8-13A2-FB2D941FD5E3}"/>
              </a:ext>
            </a:extLst>
          </p:cNvPr>
          <p:cNvSpPr txBox="1"/>
          <p:nvPr/>
        </p:nvSpPr>
        <p:spPr>
          <a:xfrm>
            <a:off x="6682452" y="308350"/>
            <a:ext cx="251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local timezone (</a:t>
            </a:r>
            <a:r>
              <a:rPr lang="ko-KR" altLang="en-US"/>
              <a:t>한국 시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FBA2F-A3A3-6615-33A5-A20CF26B501D}"/>
              </a:ext>
            </a:extLst>
          </p:cNvPr>
          <p:cNvSpPr txBox="1"/>
          <p:nvPr/>
        </p:nvSpPr>
        <p:spPr>
          <a:xfrm>
            <a:off x="2043953" y="6004639"/>
            <a:ext cx="2779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RDS</a:t>
            </a:r>
            <a:r>
              <a:rPr lang="ko-KR" altLang="en-US" sz="1400"/>
              <a:t>는 딱히 설치해줄껀 없음</a:t>
            </a:r>
          </a:p>
        </p:txBody>
      </p:sp>
    </p:spTree>
    <p:extLst>
      <p:ext uri="{BB962C8B-B14F-4D97-AF65-F5344CB8AC3E}">
        <p14:creationId xmlns:p14="http://schemas.microsoft.com/office/powerpoint/2010/main" val="1463562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328B4ED-E5F1-33E4-9349-9934B9EFB8A4}"/>
              </a:ext>
            </a:extLst>
          </p:cNvPr>
          <p:cNvGrpSpPr/>
          <p:nvPr/>
        </p:nvGrpSpPr>
        <p:grpSpPr>
          <a:xfrm>
            <a:off x="422594" y="325726"/>
            <a:ext cx="11336082" cy="5833027"/>
            <a:chOff x="422594" y="325726"/>
            <a:chExt cx="11336082" cy="58330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AC68970-0078-D53E-CC62-B64B816E2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594" y="325726"/>
              <a:ext cx="11336082" cy="58330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A98E45-5B8E-90A7-617F-CB7F8FBCCEE9}"/>
                </a:ext>
              </a:extLst>
            </p:cNvPr>
            <p:cNvSpPr txBox="1"/>
            <p:nvPr/>
          </p:nvSpPr>
          <p:spPr>
            <a:xfrm>
              <a:off x="5056094" y="2375647"/>
              <a:ext cx="5791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요약</a:t>
              </a:r>
              <a:r>
                <a:rPr lang="en-US" altLang="ko-KR" sz="1200"/>
                <a:t>: AWS</a:t>
              </a:r>
              <a:r>
                <a:rPr lang="ko-KR" altLang="en-US" sz="1200"/>
                <a:t>가 요청에 따라 가변적으로 처리되도록 셋팅해놨다</a:t>
              </a:r>
              <a:r>
                <a:rPr lang="en-US" altLang="ko-KR" sz="1200"/>
                <a:t>. </a:t>
              </a:r>
              <a:r>
                <a:rPr lang="en-US" altLang="ko-KR" sz="1200">
                  <a:sym typeface="Wingdings" panose="05000000000000000000" pitchFamily="2" charset="2"/>
                </a:rPr>
                <a:t> </a:t>
              </a:r>
              <a:r>
                <a:rPr lang="ko-KR" altLang="en-US" sz="1200">
                  <a:sym typeface="Wingdings" panose="05000000000000000000" pitchFamily="2" charset="2"/>
                </a:rPr>
                <a:t>신경쓸필요도 </a:t>
              </a:r>
              <a:br>
                <a:rPr lang="en-US" altLang="ko-KR" sz="1200">
                  <a:sym typeface="Wingdings" panose="05000000000000000000" pitchFamily="2" charset="2"/>
                </a:rPr>
              </a:br>
              <a:r>
                <a:rPr lang="en-US" altLang="ko-KR" sz="1200">
                  <a:sym typeface="Wingdings" panose="05000000000000000000" pitchFamily="2" charset="2"/>
                </a:rPr>
                <a:t>          </a:t>
              </a:r>
              <a:r>
                <a:rPr lang="ko-KR" altLang="en-US" sz="1200">
                  <a:sym typeface="Wingdings" panose="05000000000000000000" pitchFamily="2" charset="2"/>
                </a:rPr>
                <a:t>없게 셋팅되어있다</a:t>
              </a:r>
              <a:r>
                <a:rPr lang="en-US" altLang="ko-KR" sz="1200">
                  <a:sym typeface="Wingdings" panose="05000000000000000000" pitchFamily="2" charset="2"/>
                </a:rPr>
                <a:t>.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919522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EEC36-2899-BB21-0AB8-C74D773FED22}"/>
              </a:ext>
            </a:extLst>
          </p:cNvPr>
          <p:cNvSpPr txBox="1"/>
          <p:nvPr/>
        </p:nvSpPr>
        <p:spPr>
          <a:xfrm>
            <a:off x="394447" y="242047"/>
            <a:ext cx="4679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ELB </a:t>
            </a:r>
            <a:r>
              <a:rPr lang="ko-KR" altLang="en-US"/>
              <a:t>성능지표 확인하기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021DDB-54E6-D701-5DE0-B80D30289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7" y="708737"/>
            <a:ext cx="6263471" cy="59072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80A48-83A8-A97F-B411-39C0FF28C297}"/>
              </a:ext>
            </a:extLst>
          </p:cNvPr>
          <p:cNvSpPr txBox="1"/>
          <p:nvPr/>
        </p:nvSpPr>
        <p:spPr>
          <a:xfrm>
            <a:off x="6902824" y="1039906"/>
            <a:ext cx="4078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ELB </a:t>
            </a:r>
            <a:r>
              <a:rPr lang="ko-KR" altLang="en-US"/>
              <a:t>모니터링 성능지표에 </a:t>
            </a:r>
            <a:br>
              <a:rPr lang="en-US" altLang="ko-KR"/>
            </a:br>
            <a:r>
              <a:rPr lang="en-US" altLang="ko-KR"/>
              <a:t>CPU</a:t>
            </a:r>
            <a:r>
              <a:rPr lang="ko-KR" altLang="en-US"/>
              <a:t>와 메모리는 없는것을 알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885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0F47E-0C97-F03C-0185-CC8A6481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EC2, DB </a:t>
            </a:r>
            <a:r>
              <a:rPr lang="ko-KR" altLang="en-US" sz="2800"/>
              <a:t>등 각 서버의</a:t>
            </a:r>
            <a:r>
              <a:rPr lang="en-US" altLang="ko-KR" sz="2800"/>
              <a:t>CPU,Momory </a:t>
            </a:r>
            <a:r>
              <a:rPr lang="ko-KR" altLang="en-US" sz="2800"/>
              <a:t>한눈에 보도록 셋팅하기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60172C-F616-866B-A0CB-7A855A975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67" y="1917768"/>
            <a:ext cx="5391902" cy="169568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A64CD19-97AC-B895-32E6-40F6F1E162F3}"/>
              </a:ext>
            </a:extLst>
          </p:cNvPr>
          <p:cNvGrpSpPr/>
          <p:nvPr/>
        </p:nvGrpSpPr>
        <p:grpSpPr>
          <a:xfrm>
            <a:off x="423767" y="3793863"/>
            <a:ext cx="2438740" cy="2114845"/>
            <a:chOff x="423767" y="3793863"/>
            <a:chExt cx="2438740" cy="211484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C488477-484F-89F4-DCFE-9C5122CEA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767" y="3793863"/>
              <a:ext cx="2438740" cy="211484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0EECBC9-3240-BEE0-9679-5DA26B7ED790}"/>
                </a:ext>
              </a:extLst>
            </p:cNvPr>
            <p:cNvSpPr/>
            <p:nvPr/>
          </p:nvSpPr>
          <p:spPr>
            <a:xfrm>
              <a:off x="627529" y="5531224"/>
              <a:ext cx="735106" cy="3774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76E5611-2050-D603-0990-F746C5CE7C6A}"/>
              </a:ext>
            </a:extLst>
          </p:cNvPr>
          <p:cNvGrpSpPr/>
          <p:nvPr/>
        </p:nvGrpSpPr>
        <p:grpSpPr>
          <a:xfrm>
            <a:off x="3308993" y="3793863"/>
            <a:ext cx="1871590" cy="920665"/>
            <a:chOff x="3308993" y="3793863"/>
            <a:chExt cx="1871590" cy="92066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6DBAB48-D3DE-106D-2EB8-EF96BC629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8993" y="3793863"/>
              <a:ext cx="1486107" cy="552527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4A48144-F5D2-12BA-A097-7009BE236732}"/>
                </a:ext>
              </a:extLst>
            </p:cNvPr>
            <p:cNvSpPr/>
            <p:nvPr/>
          </p:nvSpPr>
          <p:spPr>
            <a:xfrm>
              <a:off x="3406588" y="3793863"/>
              <a:ext cx="1255059" cy="5525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4D83081-0764-4301-7D02-524E409D7372}"/>
                </a:ext>
              </a:extLst>
            </p:cNvPr>
            <p:cNvSpPr txBox="1"/>
            <p:nvPr/>
          </p:nvSpPr>
          <p:spPr>
            <a:xfrm>
              <a:off x="3406588" y="4437529"/>
              <a:ext cx="17739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우측 상단 버튼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148A43-C011-6FC8-CEA9-2549E14B65B8}"/>
              </a:ext>
            </a:extLst>
          </p:cNvPr>
          <p:cNvGrpSpPr/>
          <p:nvPr/>
        </p:nvGrpSpPr>
        <p:grpSpPr>
          <a:xfrm>
            <a:off x="4795100" y="3716928"/>
            <a:ext cx="4894138" cy="2422476"/>
            <a:chOff x="4795100" y="3716928"/>
            <a:chExt cx="4894138" cy="242247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3B6C689-AA72-226D-1619-6065D9259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95100" y="3716928"/>
              <a:ext cx="4894138" cy="24224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8DB19B2-5457-001B-20E3-66BB8095A1F3}"/>
                </a:ext>
              </a:extLst>
            </p:cNvPr>
            <p:cNvSpPr/>
            <p:nvPr/>
          </p:nvSpPr>
          <p:spPr>
            <a:xfrm>
              <a:off x="8830235" y="5908708"/>
              <a:ext cx="859003" cy="2306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3285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6A79864-CDED-0B26-45E6-87F3453E1B02}"/>
              </a:ext>
            </a:extLst>
          </p:cNvPr>
          <p:cNvGrpSpPr/>
          <p:nvPr/>
        </p:nvGrpSpPr>
        <p:grpSpPr>
          <a:xfrm>
            <a:off x="141303" y="295835"/>
            <a:ext cx="5882979" cy="5809129"/>
            <a:chOff x="87515" y="98611"/>
            <a:chExt cx="5882979" cy="580912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817A44E-27A3-C08D-6919-9827323B6B0B}"/>
                </a:ext>
              </a:extLst>
            </p:cNvPr>
            <p:cNvGrpSpPr/>
            <p:nvPr/>
          </p:nvGrpSpPr>
          <p:grpSpPr>
            <a:xfrm>
              <a:off x="87515" y="98611"/>
              <a:ext cx="5882979" cy="5809129"/>
              <a:chOff x="87515" y="98611"/>
              <a:chExt cx="5882979" cy="5809129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CD347327-AE2C-F93D-FF66-A2D1EB77E8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515" y="98611"/>
                <a:ext cx="5865895" cy="58091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223BEE7-F2CF-66D5-F9E8-5A1188AE41D5}"/>
                  </a:ext>
                </a:extLst>
              </p:cNvPr>
              <p:cNvSpPr/>
              <p:nvPr/>
            </p:nvSpPr>
            <p:spPr>
              <a:xfrm>
                <a:off x="2178424" y="1766047"/>
                <a:ext cx="1819835" cy="5378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730ADFF-3E02-EE96-C534-0B1FFCA23FE1}"/>
                  </a:ext>
                </a:extLst>
              </p:cNvPr>
              <p:cNvSpPr/>
              <p:nvPr/>
            </p:nvSpPr>
            <p:spPr>
              <a:xfrm>
                <a:off x="5396753" y="5611906"/>
                <a:ext cx="573741" cy="2779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CA070956-6426-A209-6E8C-19622ADF3C5F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3088342" y="2303929"/>
              <a:ext cx="2595282" cy="33079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0B0FBBB8-E1A5-EA83-209A-AD246AAED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956" y="295835"/>
            <a:ext cx="6033911" cy="4168589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8E70762-D090-2690-F9D4-6E6EAE9E2CB7}"/>
              </a:ext>
            </a:extLst>
          </p:cNvPr>
          <p:cNvGrpSpPr/>
          <p:nvPr/>
        </p:nvGrpSpPr>
        <p:grpSpPr>
          <a:xfrm>
            <a:off x="6184804" y="2850776"/>
            <a:ext cx="5865893" cy="3831385"/>
            <a:chOff x="6184804" y="2850776"/>
            <a:chExt cx="5865893" cy="3831385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2514BDE-A02C-5FD6-B287-E5F1982A7DCC}"/>
                </a:ext>
              </a:extLst>
            </p:cNvPr>
            <p:cNvGrpSpPr/>
            <p:nvPr/>
          </p:nvGrpSpPr>
          <p:grpSpPr>
            <a:xfrm>
              <a:off x="8993021" y="2850776"/>
              <a:ext cx="2729969" cy="1613648"/>
              <a:chOff x="8993021" y="2850776"/>
              <a:chExt cx="2729969" cy="1613648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1129CC0B-90DD-C9DD-117D-9898FDDA66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3021" y="3753255"/>
                <a:ext cx="2729969" cy="711169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2D7E1D9-DE28-EC7F-72A5-EE64477BFEB5}"/>
                  </a:ext>
                </a:extLst>
              </p:cNvPr>
              <p:cNvSpPr/>
              <p:nvPr/>
            </p:nvSpPr>
            <p:spPr>
              <a:xfrm>
                <a:off x="9159911" y="2850776"/>
                <a:ext cx="1391548" cy="2958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BB682356-8F24-68E1-7432-5C74DE35CE5F}"/>
                  </a:ext>
                </a:extLst>
              </p:cNvPr>
              <p:cNvSpPr/>
              <p:nvPr/>
            </p:nvSpPr>
            <p:spPr>
              <a:xfrm>
                <a:off x="9008024" y="3836894"/>
                <a:ext cx="2714965" cy="48409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25900B66-73F0-C939-4DDD-62E30A6A61F0}"/>
                  </a:ext>
                </a:extLst>
              </p:cNvPr>
              <p:cNvCxnSpPr>
                <a:cxnSpLocks/>
                <a:endCxn id="17" idx="0"/>
              </p:cNvCxnSpPr>
              <p:nvPr/>
            </p:nvCxnSpPr>
            <p:spPr>
              <a:xfrm>
                <a:off x="9843247" y="3146612"/>
                <a:ext cx="522260" cy="69028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B70FABD-F384-149E-C70A-48BE1033D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4804" y="4564524"/>
              <a:ext cx="2147889" cy="2117637"/>
            </a:xfrm>
            <a:prstGeom prst="rect">
              <a:avLst/>
            </a:prstGeom>
          </p:spPr>
        </p:pic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B76AB727-3CDC-70E8-8795-53767EA7F594}"/>
                </a:ext>
              </a:extLst>
            </p:cNvPr>
            <p:cNvCxnSpPr>
              <a:cxnSpLocks/>
              <a:stCxn id="17" idx="2"/>
              <a:endCxn id="29" idx="3"/>
            </p:cNvCxnSpPr>
            <p:nvPr/>
          </p:nvCxnSpPr>
          <p:spPr>
            <a:xfrm flipH="1">
              <a:off x="7055224" y="4320987"/>
              <a:ext cx="3310283" cy="9106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8C35204-5D53-5CC3-4264-1B5DC8AD2DC1}"/>
                </a:ext>
              </a:extLst>
            </p:cNvPr>
            <p:cNvSpPr/>
            <p:nvPr/>
          </p:nvSpPr>
          <p:spPr>
            <a:xfrm>
              <a:off x="6490447" y="5127812"/>
              <a:ext cx="564777" cy="2076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88DA048-F629-07FB-F832-1E2FE8F9484A}"/>
                </a:ext>
              </a:extLst>
            </p:cNvPr>
            <p:cNvSpPr/>
            <p:nvPr/>
          </p:nvSpPr>
          <p:spPr>
            <a:xfrm>
              <a:off x="6562165" y="5733673"/>
              <a:ext cx="1219200" cy="2076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50C09B64-4609-4EAB-7E04-0A82603B7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85900" y="5077179"/>
              <a:ext cx="3664797" cy="1604982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6EE2BA9-E85C-B83F-A531-740D6114471D}"/>
                </a:ext>
              </a:extLst>
            </p:cNvPr>
            <p:cNvSpPr/>
            <p:nvPr/>
          </p:nvSpPr>
          <p:spPr>
            <a:xfrm>
              <a:off x="8403830" y="6190872"/>
              <a:ext cx="1036005" cy="2099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2F34817A-CB0D-6B6D-2DCB-836688502933}"/>
                </a:ext>
              </a:extLst>
            </p:cNvPr>
            <p:cNvCxnSpPr>
              <a:stCxn id="29" idx="2"/>
              <a:endCxn id="32" idx="0"/>
            </p:cNvCxnSpPr>
            <p:nvPr/>
          </p:nvCxnSpPr>
          <p:spPr>
            <a:xfrm>
              <a:off x="6772836" y="5335488"/>
              <a:ext cx="398929" cy="39818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AF03BF19-484C-4E33-C584-C2E271B0157A}"/>
                </a:ext>
              </a:extLst>
            </p:cNvPr>
            <p:cNvCxnSpPr>
              <a:stCxn id="32" idx="3"/>
              <a:endCxn id="35" idx="1"/>
            </p:cNvCxnSpPr>
            <p:nvPr/>
          </p:nvCxnSpPr>
          <p:spPr>
            <a:xfrm>
              <a:off x="7781365" y="5837511"/>
              <a:ext cx="622465" cy="4583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3037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B556C2-B251-AC5D-8DBF-CA0465D14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82" y="146778"/>
            <a:ext cx="5363631" cy="328222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E3BE922-4212-F8C1-5576-571DEF81B364}"/>
              </a:ext>
            </a:extLst>
          </p:cNvPr>
          <p:cNvGrpSpPr/>
          <p:nvPr/>
        </p:nvGrpSpPr>
        <p:grpSpPr>
          <a:xfrm>
            <a:off x="299736" y="322729"/>
            <a:ext cx="3375793" cy="2779059"/>
            <a:chOff x="299736" y="322729"/>
            <a:chExt cx="3375793" cy="277905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41561D0-D70B-36F0-EB0E-0A5115A4E74F}"/>
                </a:ext>
              </a:extLst>
            </p:cNvPr>
            <p:cNvSpPr/>
            <p:nvPr/>
          </p:nvSpPr>
          <p:spPr>
            <a:xfrm>
              <a:off x="299736" y="2802213"/>
              <a:ext cx="1206335" cy="2995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7F0C8B5B-6D03-127F-2A92-E4B1332AFB6E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1506071" y="645459"/>
              <a:ext cx="1461247" cy="230654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930E334-3719-31C0-CBD8-57DF2A2E020C}"/>
                </a:ext>
              </a:extLst>
            </p:cNvPr>
            <p:cNvSpPr/>
            <p:nvPr/>
          </p:nvSpPr>
          <p:spPr>
            <a:xfrm>
              <a:off x="2241176" y="322729"/>
              <a:ext cx="1434353" cy="3227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D98A0BC-B559-025A-8371-31D252E4C9DC}"/>
              </a:ext>
            </a:extLst>
          </p:cNvPr>
          <p:cNvGrpSpPr/>
          <p:nvPr/>
        </p:nvGrpSpPr>
        <p:grpSpPr>
          <a:xfrm>
            <a:off x="6096000" y="146778"/>
            <a:ext cx="3418920" cy="4333070"/>
            <a:chOff x="6096000" y="146778"/>
            <a:chExt cx="3418920" cy="433307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B281136-0FF6-EE0A-A09D-8353ADBB6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46778"/>
              <a:ext cx="3418920" cy="433307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D9A1667-F542-8198-AA54-2D7FB8402067}"/>
                </a:ext>
              </a:extLst>
            </p:cNvPr>
            <p:cNvSpPr/>
            <p:nvPr/>
          </p:nvSpPr>
          <p:spPr>
            <a:xfrm>
              <a:off x="7431741" y="2223247"/>
              <a:ext cx="968188" cy="2958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E5CEBBD-EA16-02DD-4396-F1CB983B572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675529" y="484094"/>
            <a:ext cx="3756212" cy="19005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31627ED-02DB-3BD6-A337-9765C2893C43}"/>
              </a:ext>
            </a:extLst>
          </p:cNvPr>
          <p:cNvGrpSpPr/>
          <p:nvPr/>
        </p:nvGrpSpPr>
        <p:grpSpPr>
          <a:xfrm>
            <a:off x="299736" y="3927681"/>
            <a:ext cx="4210638" cy="2019582"/>
            <a:chOff x="1570210" y="3927681"/>
            <a:chExt cx="4210638" cy="201958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8122F33-EF1C-E7ED-8518-1517D45BC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210" y="3927681"/>
              <a:ext cx="4210638" cy="2019582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8AD419C-9A25-29FC-55AE-EFB8E1B3403E}"/>
                </a:ext>
              </a:extLst>
            </p:cNvPr>
            <p:cNvSpPr/>
            <p:nvPr/>
          </p:nvSpPr>
          <p:spPr>
            <a:xfrm>
              <a:off x="3056965" y="4545106"/>
              <a:ext cx="251011" cy="2779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62551591-A939-484D-1610-D577642A4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027" y="5331334"/>
            <a:ext cx="962159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33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8BDFD802-80BF-72B2-F795-010B38826E64}"/>
              </a:ext>
            </a:extLst>
          </p:cNvPr>
          <p:cNvGrpSpPr/>
          <p:nvPr/>
        </p:nvGrpSpPr>
        <p:grpSpPr>
          <a:xfrm>
            <a:off x="168345" y="422029"/>
            <a:ext cx="8222621" cy="5503642"/>
            <a:chOff x="168345" y="422029"/>
            <a:chExt cx="8222621" cy="5503642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57EA9B1-1388-F8FF-75A7-D3D5FE8054A0}"/>
                </a:ext>
              </a:extLst>
            </p:cNvPr>
            <p:cNvGrpSpPr/>
            <p:nvPr/>
          </p:nvGrpSpPr>
          <p:grpSpPr>
            <a:xfrm>
              <a:off x="168345" y="422029"/>
              <a:ext cx="8204691" cy="5503642"/>
              <a:chOff x="168345" y="422029"/>
              <a:chExt cx="8204691" cy="5503642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3254BF63-A393-4DF1-E659-592F24264A4E}"/>
                  </a:ext>
                </a:extLst>
              </p:cNvPr>
              <p:cNvGrpSpPr/>
              <p:nvPr/>
            </p:nvGrpSpPr>
            <p:grpSpPr>
              <a:xfrm>
                <a:off x="168345" y="422029"/>
                <a:ext cx="8204691" cy="5503642"/>
                <a:chOff x="168345" y="422029"/>
                <a:chExt cx="8204691" cy="5503642"/>
              </a:xfrm>
            </p:grpSpPr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C8CEBA2D-0E04-7036-0B10-11A8619432DD}"/>
                    </a:ext>
                  </a:extLst>
                </p:cNvPr>
                <p:cNvGrpSpPr/>
                <p:nvPr/>
              </p:nvGrpSpPr>
              <p:grpSpPr>
                <a:xfrm>
                  <a:off x="168345" y="422029"/>
                  <a:ext cx="8204691" cy="5503642"/>
                  <a:chOff x="168345" y="422029"/>
                  <a:chExt cx="8204691" cy="5503642"/>
                </a:xfrm>
              </p:grpSpPr>
              <p:pic>
                <p:nvPicPr>
                  <p:cNvPr id="3" name="그림 2">
                    <a:extLst>
                      <a:ext uri="{FF2B5EF4-FFF2-40B4-BE49-F238E27FC236}">
                        <a16:creationId xmlns:a16="http://schemas.microsoft.com/office/drawing/2014/main" id="{9F7EED2E-820E-214F-7CC7-09E3668927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68345" y="422029"/>
                    <a:ext cx="8204691" cy="5503642"/>
                  </a:xfrm>
                  <a:prstGeom prst="rect">
                    <a:avLst/>
                  </a:prstGeom>
                </p:spPr>
              </p:pic>
              <p:sp>
                <p:nvSpPr>
                  <p:cNvPr id="4" name="직사각형 3">
                    <a:extLst>
                      <a:ext uri="{FF2B5EF4-FFF2-40B4-BE49-F238E27FC236}">
                        <a16:creationId xmlns:a16="http://schemas.microsoft.com/office/drawing/2014/main" id="{979C1A3A-623F-1A8D-3D80-6969613F3BF7}"/>
                      </a:ext>
                    </a:extLst>
                  </p:cNvPr>
                  <p:cNvSpPr/>
                  <p:nvPr/>
                </p:nvSpPr>
                <p:spPr>
                  <a:xfrm>
                    <a:off x="168345" y="1389529"/>
                    <a:ext cx="2153514" cy="1470212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EA1E7ED0-396E-4F24-354F-C940ACDD1403}"/>
                    </a:ext>
                  </a:extLst>
                </p:cNvPr>
                <p:cNvSpPr/>
                <p:nvPr/>
              </p:nvSpPr>
              <p:spPr>
                <a:xfrm>
                  <a:off x="7772399" y="1039906"/>
                  <a:ext cx="430307" cy="25101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2AA3F7-9C1D-81E3-8FAE-BC59E4F7AA29}"/>
                  </a:ext>
                </a:extLst>
              </p:cNvPr>
              <p:cNvSpPr txBox="1"/>
              <p:nvPr/>
            </p:nvSpPr>
            <p:spPr>
              <a:xfrm>
                <a:off x="168345" y="2940424"/>
                <a:ext cx="348727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EC2</a:t>
                </a:r>
                <a:r>
                  <a:rPr lang="ko-KR" altLang="en-US" sz="1400"/>
                  <a:t>서버의 </a:t>
                </a:r>
                <a:r>
                  <a:rPr lang="en-US" altLang="ko-KR" sz="1400"/>
                  <a:t>CPU</a:t>
                </a:r>
                <a:r>
                  <a:rPr lang="ko-KR" altLang="en-US" sz="1400"/>
                  <a:t>사용율이 위젯으로 등록된걸 확인할 수 있다</a:t>
                </a:r>
                <a:r>
                  <a:rPr lang="en-US" altLang="ko-KR" sz="1400"/>
                  <a:t>.</a:t>
                </a:r>
                <a:br>
                  <a:rPr lang="en-US" altLang="ko-KR" sz="1400"/>
                </a:br>
                <a:r>
                  <a:rPr lang="en-US" altLang="ko-KR" sz="1400"/>
                  <a:t>(※</a:t>
                </a:r>
                <a:r>
                  <a:rPr lang="ko-KR" altLang="en-US" sz="1400"/>
                  <a:t>저장 중요 안할시 다음에 다시 셋팅</a:t>
                </a:r>
                <a:r>
                  <a:rPr lang="en-US" altLang="ko-KR" sz="1400"/>
                  <a:t>) </a:t>
                </a:r>
                <a:endParaRPr lang="ko-KR" altLang="en-US" sz="1400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FE56BC1-3AB8-AD95-3118-1BCAAE667E3C}"/>
                </a:ext>
              </a:extLst>
            </p:cNvPr>
            <p:cNvSpPr/>
            <p:nvPr/>
          </p:nvSpPr>
          <p:spPr>
            <a:xfrm>
              <a:off x="8220636" y="1039906"/>
              <a:ext cx="170330" cy="25101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FEF70C0-6F4C-91FD-C92F-B5082E685735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8390966" y="1165412"/>
            <a:ext cx="950258" cy="34065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B443B7F-7C0C-0DB9-92D4-8FD7DA3D6329}"/>
              </a:ext>
            </a:extLst>
          </p:cNvPr>
          <p:cNvSpPr txBox="1"/>
          <p:nvPr/>
        </p:nvSpPr>
        <p:spPr>
          <a:xfrm>
            <a:off x="9341224" y="1244461"/>
            <a:ext cx="2447364" cy="5232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/>
              <a:t>EC2</a:t>
            </a:r>
            <a:r>
              <a:rPr lang="ko-KR" altLang="en-US" sz="1400"/>
              <a:t>의 메모리 사용률을 추가하자</a:t>
            </a:r>
          </a:p>
        </p:txBody>
      </p:sp>
    </p:spTree>
    <p:extLst>
      <p:ext uri="{BB962C8B-B14F-4D97-AF65-F5344CB8AC3E}">
        <p14:creationId xmlns:p14="http://schemas.microsoft.com/office/powerpoint/2010/main" val="2719669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B40F3043-9BB3-DFC3-937A-7B0670F79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134" y="5298142"/>
            <a:ext cx="3468886" cy="155139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CC2AC21B-30BD-BC42-BEF6-D6E42CFC0BCF}"/>
              </a:ext>
            </a:extLst>
          </p:cNvPr>
          <p:cNvGrpSpPr/>
          <p:nvPr/>
        </p:nvGrpSpPr>
        <p:grpSpPr>
          <a:xfrm>
            <a:off x="165356" y="268940"/>
            <a:ext cx="11641731" cy="5029987"/>
            <a:chOff x="165356" y="268940"/>
            <a:chExt cx="11641731" cy="502998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BEAC841-6D0B-6B97-CD6C-897BFA6C3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1058" y="3734939"/>
              <a:ext cx="5936542" cy="156398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E535A46-56BC-A85C-A10B-B704FEED0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4503" y="792238"/>
              <a:ext cx="6602584" cy="2628936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2DE635A-FBFF-7CB5-E5EB-F97F8F75963F}"/>
                </a:ext>
              </a:extLst>
            </p:cNvPr>
            <p:cNvGrpSpPr/>
            <p:nvPr/>
          </p:nvGrpSpPr>
          <p:grpSpPr>
            <a:xfrm>
              <a:off x="165356" y="268940"/>
              <a:ext cx="6728503" cy="4903696"/>
              <a:chOff x="165356" y="268940"/>
              <a:chExt cx="6728503" cy="490369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0A61F17E-2E5B-73D0-392C-EEC653F6FF8E}"/>
                  </a:ext>
                </a:extLst>
              </p:cNvPr>
              <p:cNvGrpSpPr/>
              <p:nvPr/>
            </p:nvGrpSpPr>
            <p:grpSpPr>
              <a:xfrm>
                <a:off x="165356" y="268940"/>
                <a:ext cx="4885392" cy="4903696"/>
                <a:chOff x="165356" y="268940"/>
                <a:chExt cx="4885392" cy="4903696"/>
              </a:xfrm>
            </p:grpSpPr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1B7FE6DB-641B-F83E-E999-04E2CDD97B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356" y="268940"/>
                  <a:ext cx="4885392" cy="4760259"/>
                </a:xfrm>
                <a:prstGeom prst="rect">
                  <a:avLst/>
                </a:prstGeom>
              </p:spPr>
            </p:pic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752FFDA2-E1E2-75F6-4B21-AF30635E0A3C}"/>
                    </a:ext>
                  </a:extLst>
                </p:cNvPr>
                <p:cNvSpPr/>
                <p:nvPr/>
              </p:nvSpPr>
              <p:spPr>
                <a:xfrm>
                  <a:off x="1927412" y="1532965"/>
                  <a:ext cx="1515035" cy="573741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5B03E43C-0166-8679-E1F2-F115AB430CE9}"/>
                    </a:ext>
                  </a:extLst>
                </p:cNvPr>
                <p:cNvSpPr/>
                <p:nvPr/>
              </p:nvSpPr>
              <p:spPr>
                <a:xfrm>
                  <a:off x="4572000" y="4796118"/>
                  <a:ext cx="478748" cy="376518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9" name="직선 화살표 연결선 8">
                  <a:extLst>
                    <a:ext uri="{FF2B5EF4-FFF2-40B4-BE49-F238E27FC236}">
                      <a16:creationId xmlns:a16="http://schemas.microsoft.com/office/drawing/2014/main" id="{AEA19448-1B58-F4F1-D084-12EB707C1048}"/>
                    </a:ext>
                  </a:extLst>
                </p:cNvPr>
                <p:cNvCxnSpPr>
                  <a:stCxn id="6" idx="2"/>
                  <a:endCxn id="7" idx="0"/>
                </p:cNvCxnSpPr>
                <p:nvPr/>
              </p:nvCxnSpPr>
              <p:spPr>
                <a:xfrm>
                  <a:off x="2684930" y="2106706"/>
                  <a:ext cx="2126444" cy="2689412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1EC4E77-D87A-7B5D-9332-59526AFAB717}"/>
                  </a:ext>
                </a:extLst>
              </p:cNvPr>
              <p:cNvSpPr/>
              <p:nvPr/>
            </p:nvSpPr>
            <p:spPr>
              <a:xfrm>
                <a:off x="5256462" y="1604681"/>
                <a:ext cx="1637397" cy="313765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C60A7923-00AA-CF06-008B-C23FA9425C77}"/>
                  </a:ext>
                </a:extLst>
              </p:cNvPr>
              <p:cNvCxnSpPr>
                <a:stCxn id="7" idx="3"/>
                <a:endCxn id="13" idx="2"/>
              </p:cNvCxnSpPr>
              <p:nvPr/>
            </p:nvCxnSpPr>
            <p:spPr>
              <a:xfrm flipV="1">
                <a:off x="5050748" y="1918446"/>
                <a:ext cx="1024413" cy="3065931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360C9DB-9E3A-3ED7-BEA0-B57D1D671079}"/>
                </a:ext>
              </a:extLst>
            </p:cNvPr>
            <p:cNvSpPr/>
            <p:nvPr/>
          </p:nvSpPr>
          <p:spPr>
            <a:xfrm>
              <a:off x="9288345" y="4706472"/>
              <a:ext cx="1989255" cy="466164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234D7D1E-2B7D-6430-BBC8-B7AA24304237}"/>
                </a:ext>
              </a:extLst>
            </p:cNvPr>
            <p:cNvCxnSpPr>
              <a:cxnSpLocks/>
              <a:stCxn id="13" idx="3"/>
              <a:endCxn id="19" idx="0"/>
            </p:cNvCxnSpPr>
            <p:nvPr/>
          </p:nvCxnSpPr>
          <p:spPr>
            <a:xfrm>
              <a:off x="6893859" y="1761564"/>
              <a:ext cx="3389114" cy="29449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FEA0116-2AD1-4045-FA86-CC5B669DA746}"/>
              </a:ext>
            </a:extLst>
          </p:cNvPr>
          <p:cNvGrpSpPr/>
          <p:nvPr/>
        </p:nvGrpSpPr>
        <p:grpSpPr>
          <a:xfrm>
            <a:off x="47469" y="4939554"/>
            <a:ext cx="9240876" cy="1844738"/>
            <a:chOff x="47469" y="4939554"/>
            <a:chExt cx="9240876" cy="1844738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BC66134-0345-04D6-BB04-B16A7300C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469" y="5029199"/>
              <a:ext cx="4379376" cy="1755093"/>
            </a:xfrm>
            <a:prstGeom prst="rect">
              <a:avLst/>
            </a:prstGeom>
          </p:spPr>
        </p:pic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857DF05-9CDA-C02A-60ED-20F8A60351DF}"/>
                </a:ext>
              </a:extLst>
            </p:cNvPr>
            <p:cNvCxnSpPr>
              <a:cxnSpLocks/>
              <a:stCxn id="19" idx="1"/>
              <a:endCxn id="27" idx="3"/>
            </p:cNvCxnSpPr>
            <p:nvPr/>
          </p:nvCxnSpPr>
          <p:spPr>
            <a:xfrm flipH="1">
              <a:off x="3442447" y="4939554"/>
              <a:ext cx="5845898" cy="166195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E438357-03B5-397C-F09F-3F47804B1870}"/>
                </a:ext>
              </a:extLst>
            </p:cNvPr>
            <p:cNvSpPr/>
            <p:nvPr/>
          </p:nvSpPr>
          <p:spPr>
            <a:xfrm>
              <a:off x="165356" y="6418729"/>
              <a:ext cx="3277091" cy="3655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552CDA5-FEE1-6C5C-BAD0-441C18B46C58}"/>
              </a:ext>
            </a:extLst>
          </p:cNvPr>
          <p:cNvGrpSpPr/>
          <p:nvPr/>
        </p:nvGrpSpPr>
        <p:grpSpPr>
          <a:xfrm>
            <a:off x="3442447" y="6601511"/>
            <a:ext cx="5845898" cy="143436"/>
            <a:chOff x="3442447" y="6601511"/>
            <a:chExt cx="5845898" cy="143436"/>
          </a:xfrm>
        </p:grpSpPr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99C7742B-B87D-B5CB-B741-57F2031BC33E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3442447" y="6601511"/>
              <a:ext cx="5241404" cy="6823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51E3E5B-EE3F-BE48-6432-2AD14A794319}"/>
                </a:ext>
              </a:extLst>
            </p:cNvPr>
            <p:cNvSpPr/>
            <p:nvPr/>
          </p:nvSpPr>
          <p:spPr>
            <a:xfrm>
              <a:off x="8683851" y="6601511"/>
              <a:ext cx="604494" cy="1434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6806E02-90F8-A05B-2370-C5A5E979F0B8}"/>
              </a:ext>
            </a:extLst>
          </p:cNvPr>
          <p:cNvSpPr txBox="1"/>
          <p:nvPr/>
        </p:nvSpPr>
        <p:spPr>
          <a:xfrm>
            <a:off x="9232069" y="5934164"/>
            <a:ext cx="2340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memory </a:t>
            </a:r>
            <a:r>
              <a:rPr lang="ko-KR" altLang="en-US" sz="1200"/>
              <a:t>모니터링 </a:t>
            </a:r>
            <a:r>
              <a:rPr lang="en-US" altLang="ko-KR" sz="1200"/>
              <a:t>1</a:t>
            </a:r>
            <a:r>
              <a:rPr lang="ko-KR" altLang="en-US" sz="1200"/>
              <a:t>분 설정 후 위젯 생성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3F6B8F5-FBA9-9BAD-AC3A-6EDA657044F4}"/>
              </a:ext>
            </a:extLst>
          </p:cNvPr>
          <p:cNvGrpSpPr/>
          <p:nvPr/>
        </p:nvGrpSpPr>
        <p:grpSpPr>
          <a:xfrm>
            <a:off x="9196020" y="2290144"/>
            <a:ext cx="2939480" cy="1569743"/>
            <a:chOff x="9196020" y="2290144"/>
            <a:chExt cx="2939480" cy="1569743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9FEEBDAF-9354-4AE7-96A7-A79EE24AC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96020" y="2290144"/>
              <a:ext cx="2939480" cy="106403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1D75A17-1415-A845-9799-4ACB659A27F1}"/>
                </a:ext>
              </a:extLst>
            </p:cNvPr>
            <p:cNvSpPr txBox="1"/>
            <p:nvPr/>
          </p:nvSpPr>
          <p:spPr>
            <a:xfrm>
              <a:off x="9648825" y="3429000"/>
              <a:ext cx="24474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>
                  <a:solidFill>
                    <a:srgbClr val="00B050"/>
                  </a:solidFill>
                </a:rPr>
                <a:t>위젯 생성시 이름도 변경하고</a:t>
              </a:r>
              <a:endParaRPr lang="en-US" altLang="ko-KR" sz="1100" b="1">
                <a:solidFill>
                  <a:srgbClr val="00B050"/>
                </a:solidFill>
              </a:endParaRPr>
            </a:p>
            <a:p>
              <a:r>
                <a:rPr lang="ko-KR" altLang="en-US" sz="1100" b="1">
                  <a:solidFill>
                    <a:srgbClr val="00B050"/>
                  </a:solidFill>
                </a:rPr>
                <a:t>생성한 위젯에 대한 저장은 필수이다</a:t>
              </a:r>
              <a:r>
                <a:rPr lang="en-US" altLang="ko-KR" sz="1100" b="1">
                  <a:solidFill>
                    <a:srgbClr val="00B050"/>
                  </a:solidFill>
                </a:rPr>
                <a:t>.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D89797-5CF6-1959-CA6E-0D5BAF2371D6}"/>
              </a:ext>
            </a:extLst>
          </p:cNvPr>
          <p:cNvSpPr txBox="1"/>
          <p:nvPr/>
        </p:nvSpPr>
        <p:spPr>
          <a:xfrm>
            <a:off x="5341058" y="114300"/>
            <a:ext cx="341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EC2 </a:t>
            </a:r>
            <a:r>
              <a:rPr lang="ko-KR" altLang="en-US"/>
              <a:t>메모리 위젯 추가</a:t>
            </a:r>
          </a:p>
        </p:txBody>
      </p:sp>
    </p:spTree>
    <p:extLst>
      <p:ext uri="{BB962C8B-B14F-4D97-AF65-F5344CB8AC3E}">
        <p14:creationId xmlns:p14="http://schemas.microsoft.com/office/powerpoint/2010/main" val="3409929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94E6A5FE-0699-EEED-A0D6-468252F7E60E}"/>
              </a:ext>
            </a:extLst>
          </p:cNvPr>
          <p:cNvGrpSpPr/>
          <p:nvPr/>
        </p:nvGrpSpPr>
        <p:grpSpPr>
          <a:xfrm>
            <a:off x="299838" y="130315"/>
            <a:ext cx="11351311" cy="6727685"/>
            <a:chOff x="299838" y="130315"/>
            <a:chExt cx="11351311" cy="672768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8523C12-64C1-11FD-CF7A-D2098CED9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4772" y="2228682"/>
              <a:ext cx="6106377" cy="1200318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FCB3AE6-64F2-0AC7-F640-32FD2E88B4A2}"/>
                </a:ext>
              </a:extLst>
            </p:cNvPr>
            <p:cNvGrpSpPr/>
            <p:nvPr/>
          </p:nvGrpSpPr>
          <p:grpSpPr>
            <a:xfrm>
              <a:off x="299838" y="130315"/>
              <a:ext cx="11073428" cy="6280010"/>
              <a:chOff x="299838" y="130315"/>
              <a:chExt cx="11073428" cy="6280010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9403BAFF-092C-2C0B-005B-998B373CACD9}"/>
                  </a:ext>
                </a:extLst>
              </p:cNvPr>
              <p:cNvGrpSpPr/>
              <p:nvPr/>
            </p:nvGrpSpPr>
            <p:grpSpPr>
              <a:xfrm>
                <a:off x="299838" y="199942"/>
                <a:ext cx="2848373" cy="1676634"/>
                <a:chOff x="299838" y="199942"/>
                <a:chExt cx="2848373" cy="1676634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BF115F29-0A9C-6BE0-8540-354B2C691C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9838" y="199942"/>
                  <a:ext cx="2848373" cy="1181265"/>
                </a:xfrm>
                <a:prstGeom prst="rect">
                  <a:avLst/>
                </a:prstGeom>
                <a:ln>
                  <a:solidFill>
                    <a:srgbClr val="C00000"/>
                  </a:solidFill>
                </a:ln>
              </p:spPr>
            </p:pic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0309BBE4-439D-FDDF-A7DC-485C987071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4524" y="1381207"/>
                  <a:ext cx="724001" cy="495369"/>
                </a:xfrm>
                <a:prstGeom prst="rect">
                  <a:avLst/>
                </a:prstGeom>
                <a:ln>
                  <a:solidFill>
                    <a:srgbClr val="C00000"/>
                  </a:solidFill>
                </a:ln>
              </p:spPr>
            </p:pic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499320-9858-6CED-A95C-02E10EF6E3B9}"/>
                  </a:ext>
                </a:extLst>
              </p:cNvPr>
              <p:cNvGrpSpPr/>
              <p:nvPr/>
            </p:nvGrpSpPr>
            <p:grpSpPr>
              <a:xfrm>
                <a:off x="299838" y="2124075"/>
                <a:ext cx="4144995" cy="4286250"/>
                <a:chOff x="299838" y="2124075"/>
                <a:chExt cx="4144995" cy="4286250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395B9E45-6EEE-3A02-B4CC-C67609592A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r="46038"/>
                <a:stretch>
                  <a:fillRect/>
                </a:stretch>
              </p:blipFill>
              <p:spPr>
                <a:xfrm>
                  <a:off x="299838" y="2124075"/>
                  <a:ext cx="4144995" cy="4286250"/>
                </a:xfrm>
                <a:prstGeom prst="rect">
                  <a:avLst/>
                </a:prstGeom>
                <a:ln>
                  <a:solidFill>
                    <a:srgbClr val="C00000"/>
                  </a:solidFill>
                </a:ln>
              </p:spPr>
            </p:pic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598E137D-FFFB-1942-FB4F-835A45FD785D}"/>
                    </a:ext>
                  </a:extLst>
                </p:cNvPr>
                <p:cNvSpPr/>
                <p:nvPr/>
              </p:nvSpPr>
              <p:spPr>
                <a:xfrm>
                  <a:off x="2372335" y="5343525"/>
                  <a:ext cx="1875815" cy="304800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0E19D2F6-44FC-538C-878B-8ADA2BF1C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0415" y="314201"/>
                <a:ext cx="2514836" cy="660677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26B6FE8-DD73-407F-AA5F-391C836BD88C}"/>
                  </a:ext>
                </a:extLst>
              </p:cNvPr>
              <p:cNvSpPr/>
              <p:nvPr/>
            </p:nvSpPr>
            <p:spPr>
              <a:xfrm>
                <a:off x="5353660" y="495299"/>
                <a:ext cx="1875815" cy="30480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0F013952-BF48-ECDF-3D81-07F8B4548145}"/>
                  </a:ext>
                </a:extLst>
              </p:cNvPr>
              <p:cNvCxnSpPr>
                <a:stCxn id="9" idx="3"/>
              </p:cNvCxnSpPr>
              <p:nvPr/>
            </p:nvCxnSpPr>
            <p:spPr>
              <a:xfrm flipV="1">
                <a:off x="4248150" y="644539"/>
                <a:ext cx="1105510" cy="4851386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2C278417-FC0A-5E94-1D46-8C6D4145C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16122" y="130315"/>
                <a:ext cx="2721918" cy="2708136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3BFE4C4-A712-B179-2A69-D3BAA170BC80}"/>
                  </a:ext>
                </a:extLst>
              </p:cNvPr>
              <p:cNvSpPr/>
              <p:nvPr/>
            </p:nvSpPr>
            <p:spPr>
              <a:xfrm>
                <a:off x="8343900" y="1743075"/>
                <a:ext cx="1409700" cy="24765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1412906C-2077-06E1-F9D2-6D0EE38782EA}"/>
                  </a:ext>
                </a:extLst>
              </p:cNvPr>
              <p:cNvCxnSpPr>
                <a:stCxn id="13" idx="3"/>
              </p:cNvCxnSpPr>
              <p:nvPr/>
            </p:nvCxnSpPr>
            <p:spPr>
              <a:xfrm>
                <a:off x="7229475" y="647699"/>
                <a:ext cx="1114425" cy="1228877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2D1233B-8C85-8B13-E6F0-6FD0B79D4232}"/>
                  </a:ext>
                </a:extLst>
              </p:cNvPr>
              <p:cNvSpPr/>
              <p:nvPr/>
            </p:nvSpPr>
            <p:spPr>
              <a:xfrm>
                <a:off x="5610225" y="3073245"/>
                <a:ext cx="1619250" cy="18430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3868BE09-E858-76E5-7BD0-7CB536DEF788}"/>
                  </a:ext>
                </a:extLst>
              </p:cNvPr>
              <p:cNvCxnSpPr>
                <a:stCxn id="18" idx="2"/>
                <a:endCxn id="23" idx="0"/>
              </p:cNvCxnSpPr>
              <p:nvPr/>
            </p:nvCxnSpPr>
            <p:spPr>
              <a:xfrm flipH="1">
                <a:off x="6419850" y="1990725"/>
                <a:ext cx="2628900" cy="108252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0F1EA09E-A724-5F5C-160E-3EEB73E3D08E}"/>
                  </a:ext>
                </a:extLst>
              </p:cNvPr>
              <p:cNvGrpSpPr/>
              <p:nvPr/>
            </p:nvGrpSpPr>
            <p:grpSpPr>
              <a:xfrm>
                <a:off x="4816307" y="3539715"/>
                <a:ext cx="4485665" cy="692969"/>
                <a:chOff x="4816307" y="3539715"/>
                <a:chExt cx="4485665" cy="692969"/>
              </a:xfrm>
            </p:grpSpPr>
            <p:pic>
              <p:nvPicPr>
                <p:cNvPr id="27" name="그림 26">
                  <a:extLst>
                    <a:ext uri="{FF2B5EF4-FFF2-40B4-BE49-F238E27FC236}">
                      <a16:creationId xmlns:a16="http://schemas.microsoft.com/office/drawing/2014/main" id="{CB5DE47B-5A1F-EED5-87F2-F428B78266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16307" y="3539715"/>
                  <a:ext cx="4485665" cy="692969"/>
                </a:xfrm>
                <a:prstGeom prst="rect">
                  <a:avLst/>
                </a:prstGeom>
                <a:ln>
                  <a:solidFill>
                    <a:srgbClr val="C00000"/>
                  </a:solidFill>
                </a:ln>
              </p:spPr>
            </p:pic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3FA998BA-3F15-83C8-B344-26A86BB058E6}"/>
                    </a:ext>
                  </a:extLst>
                </p:cNvPr>
                <p:cNvSpPr/>
                <p:nvPr/>
              </p:nvSpPr>
              <p:spPr>
                <a:xfrm>
                  <a:off x="6924675" y="3762375"/>
                  <a:ext cx="1314450" cy="339738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F830CC6F-0B24-2E24-FC11-F7BAFE4772E1}"/>
                  </a:ext>
                </a:extLst>
              </p:cNvPr>
              <p:cNvCxnSpPr>
                <a:stCxn id="23" idx="2"/>
              </p:cNvCxnSpPr>
              <p:nvPr/>
            </p:nvCxnSpPr>
            <p:spPr>
              <a:xfrm>
                <a:off x="6419850" y="3257550"/>
                <a:ext cx="1162050" cy="504825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8703E76-F5E3-CB7E-EA73-1D6D9AA5A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09869" y="4641418"/>
                <a:ext cx="3286593" cy="758445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037DA9F3-7AA1-1397-51A2-4387BF0CB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61498" y="4368081"/>
                <a:ext cx="2711768" cy="1365546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</p:pic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D3AA86A9-C36E-92E8-EEB1-37B206A51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43473" y="5808597"/>
                <a:ext cx="1086002" cy="49536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</p:pic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DA01D170-2A1B-AA61-EBA8-F55DE21DA948}"/>
                  </a:ext>
                </a:extLst>
              </p:cNvPr>
              <p:cNvSpPr/>
              <p:nvPr/>
            </p:nvSpPr>
            <p:spPr>
              <a:xfrm>
                <a:off x="6096000" y="4943475"/>
                <a:ext cx="962025" cy="33337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75F4556-41F4-C904-AF50-2AE7F09A2160}"/>
                  </a:ext>
                </a:extLst>
              </p:cNvPr>
              <p:cNvSpPr/>
              <p:nvPr/>
            </p:nvSpPr>
            <p:spPr>
              <a:xfrm>
                <a:off x="9676015" y="4776787"/>
                <a:ext cx="1697251" cy="87153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A390847C-89A0-1D93-F540-843AC4FD1F70}"/>
                  </a:ext>
                </a:extLst>
              </p:cNvPr>
              <p:cNvCxnSpPr>
                <a:stCxn id="28" idx="2"/>
                <a:endCxn id="40" idx="0"/>
              </p:cNvCxnSpPr>
              <p:nvPr/>
            </p:nvCxnSpPr>
            <p:spPr>
              <a:xfrm flipH="1">
                <a:off x="6577013" y="4102113"/>
                <a:ext cx="1004887" cy="841362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F93ACB25-C6B4-818D-685E-B4D2F903053D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>
                <a:off x="7058025" y="5110163"/>
                <a:ext cx="2617990" cy="135369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7B6FDB50-B7A3-05DF-F881-F5A0A3DC6168}"/>
                  </a:ext>
                </a:extLst>
              </p:cNvPr>
              <p:cNvCxnSpPr>
                <a:stCxn id="41" idx="2"/>
                <a:endCxn id="39" idx="3"/>
              </p:cNvCxnSpPr>
              <p:nvPr/>
            </p:nvCxnSpPr>
            <p:spPr>
              <a:xfrm flipH="1">
                <a:off x="7229475" y="5648325"/>
                <a:ext cx="3295166" cy="407957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F8DDC09A-6143-2979-5F03-EE5D1DC39EDC}"/>
                </a:ext>
              </a:extLst>
            </p:cNvPr>
            <p:cNvGrpSpPr/>
            <p:nvPr/>
          </p:nvGrpSpPr>
          <p:grpSpPr>
            <a:xfrm>
              <a:off x="8723479" y="5904215"/>
              <a:ext cx="2581275" cy="953785"/>
              <a:chOff x="8723479" y="5904215"/>
              <a:chExt cx="2581275" cy="953785"/>
            </a:xfrm>
          </p:grpSpPr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77D05588-BEFF-8625-71F1-0530AD7360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23479" y="5904215"/>
                <a:ext cx="2581275" cy="953785"/>
              </a:xfrm>
              <a:prstGeom prst="rect">
                <a:avLst/>
              </a:prstGeom>
            </p:spPr>
          </p:pic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4CFF818-A8F0-38B5-1406-E690C81B63E3}"/>
                  </a:ext>
                </a:extLst>
              </p:cNvPr>
              <p:cNvSpPr/>
              <p:nvPr/>
            </p:nvSpPr>
            <p:spPr>
              <a:xfrm>
                <a:off x="10391775" y="6162675"/>
                <a:ext cx="609600" cy="35718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B166D02C-0F5C-B993-D73F-58BF14235318}"/>
                </a:ext>
              </a:extLst>
            </p:cNvPr>
            <p:cNvCxnSpPr>
              <a:stCxn id="39" idx="3"/>
              <a:endCxn id="52" idx="1"/>
            </p:cNvCxnSpPr>
            <p:nvPr/>
          </p:nvCxnSpPr>
          <p:spPr>
            <a:xfrm>
              <a:off x="7229475" y="6056282"/>
              <a:ext cx="3162300" cy="28498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7BF2BC3-A171-73F4-B9E2-E1F4FA7AA026}"/>
              </a:ext>
            </a:extLst>
          </p:cNvPr>
          <p:cNvSpPr txBox="1"/>
          <p:nvPr/>
        </p:nvSpPr>
        <p:spPr>
          <a:xfrm>
            <a:off x="3161015" y="122489"/>
            <a:ext cx="207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RDS CPU </a:t>
            </a:r>
            <a:r>
              <a:rPr lang="ko-KR" altLang="en-US"/>
              <a:t>위젯 추가</a:t>
            </a:r>
          </a:p>
        </p:txBody>
      </p:sp>
    </p:spTree>
    <p:extLst>
      <p:ext uri="{BB962C8B-B14F-4D97-AF65-F5344CB8AC3E}">
        <p14:creationId xmlns:p14="http://schemas.microsoft.com/office/powerpoint/2010/main" val="1307450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B08CC2-C4C1-8859-779C-F51008D90A2D}"/>
              </a:ext>
            </a:extLst>
          </p:cNvPr>
          <p:cNvGrpSpPr/>
          <p:nvPr/>
        </p:nvGrpSpPr>
        <p:grpSpPr>
          <a:xfrm>
            <a:off x="318613" y="385577"/>
            <a:ext cx="5410840" cy="5915439"/>
            <a:chOff x="318613" y="385577"/>
            <a:chExt cx="5410840" cy="591543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9CE6B75-149C-6D68-AD5D-75BD00E1D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613" y="385577"/>
              <a:ext cx="4807953" cy="188137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DF2B91C-6DEB-3F1D-6BFC-F7F669993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779" y="2552700"/>
              <a:ext cx="4210472" cy="117547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38EFB00-87C4-50C4-4126-716388A8E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613" y="4013929"/>
              <a:ext cx="5410840" cy="112491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7E8F7B1-FDD9-1838-8222-F7FC3796E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8613" y="5424594"/>
              <a:ext cx="2162477" cy="87642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F8ADD3F-CA6C-449F-542B-5437632F5AFA}"/>
                </a:ext>
              </a:extLst>
            </p:cNvPr>
            <p:cNvSpPr/>
            <p:nvPr/>
          </p:nvSpPr>
          <p:spPr>
            <a:xfrm>
              <a:off x="685800" y="2000250"/>
              <a:ext cx="1638300" cy="266700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2876DDF-7D78-7C73-13EA-9A31CA273FFA}"/>
                </a:ext>
              </a:extLst>
            </p:cNvPr>
            <p:cNvSpPr/>
            <p:nvPr/>
          </p:nvSpPr>
          <p:spPr>
            <a:xfrm>
              <a:off x="456779" y="3429000"/>
              <a:ext cx="1638300" cy="266700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FEC3C14-C332-D2CE-2174-A679F45DAC3D}"/>
                </a:ext>
              </a:extLst>
            </p:cNvPr>
            <p:cNvSpPr/>
            <p:nvPr/>
          </p:nvSpPr>
          <p:spPr>
            <a:xfrm>
              <a:off x="5126565" y="4800600"/>
              <a:ext cx="602887" cy="338244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596AF6-8925-0E30-A49D-3040A14FBED6}"/>
                </a:ext>
              </a:extLst>
            </p:cNvPr>
            <p:cNvSpPr/>
            <p:nvPr/>
          </p:nvSpPr>
          <p:spPr>
            <a:xfrm>
              <a:off x="554565" y="5475157"/>
              <a:ext cx="1769535" cy="363667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5FE4C7B-7C5C-4CB4-14D7-706D8A08CC7A}"/>
              </a:ext>
            </a:extLst>
          </p:cNvPr>
          <p:cNvSpPr txBox="1"/>
          <p:nvPr/>
        </p:nvSpPr>
        <p:spPr>
          <a:xfrm>
            <a:off x="6029325" y="385577"/>
            <a:ext cx="6038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동일하게  위젯</a:t>
            </a:r>
            <a:r>
              <a:rPr lang="en-US" altLang="ko-KR" sz="1200"/>
              <a:t>(</a:t>
            </a:r>
            <a:r>
              <a:rPr lang="ko-KR" altLang="en-US" sz="1200"/>
              <a:t>행</a:t>
            </a:r>
            <a:r>
              <a:rPr lang="en-US" altLang="ko-KR" sz="1200"/>
              <a:t>)</a:t>
            </a:r>
            <a:r>
              <a:rPr lang="ko-KR" altLang="en-US" sz="1200"/>
              <a:t> 추가 </a:t>
            </a:r>
            <a:r>
              <a:rPr lang="en-US" altLang="ko-KR" sz="1200">
                <a:sym typeface="Wingdings" panose="05000000000000000000" pitchFamily="2" charset="2"/>
              </a:rPr>
              <a:t> RDS </a:t>
            </a:r>
            <a:r>
              <a:rPr lang="ko-KR" altLang="en-US" sz="1200">
                <a:sym typeface="Wingdings" panose="05000000000000000000" pitchFamily="2" charset="2"/>
              </a:rPr>
              <a:t>선택 </a:t>
            </a:r>
            <a:r>
              <a:rPr lang="en-US" altLang="ko-KR" sz="1200">
                <a:sym typeface="Wingdings" panose="05000000000000000000" pitchFamily="2" charset="2"/>
              </a:rPr>
              <a:t> mem </a:t>
            </a:r>
            <a:r>
              <a:rPr lang="ko-KR" altLang="en-US" sz="1200">
                <a:sym typeface="Wingdings" panose="05000000000000000000" pitchFamily="2" charset="2"/>
              </a:rPr>
              <a:t>검색</a:t>
            </a:r>
            <a:r>
              <a:rPr lang="en-US" altLang="ko-KR" sz="1200">
                <a:sym typeface="Wingdings" panose="05000000000000000000" pitchFamily="2" charset="2"/>
              </a:rPr>
              <a:t>(FreeableMemory </a:t>
            </a:r>
            <a:r>
              <a:rPr lang="ko-KR" altLang="en-US" sz="1200">
                <a:sym typeface="Wingdings" panose="05000000000000000000" pitchFamily="2" charset="2"/>
              </a:rPr>
              <a:t>선택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 EC2</a:t>
            </a:r>
            <a:r>
              <a:rPr lang="ko-KR" altLang="en-US" sz="1200">
                <a:sym typeface="Wingdings" panose="05000000000000000000" pitchFamily="2" charset="2"/>
              </a:rPr>
              <a:t> 서버에서 사용하는 </a:t>
            </a:r>
            <a:r>
              <a:rPr lang="en-US" altLang="ko-KR" sz="1200">
                <a:sym typeface="Wingdings" panose="05000000000000000000" pitchFamily="2" charset="2"/>
              </a:rPr>
              <a:t>database </a:t>
            </a:r>
            <a:r>
              <a:rPr lang="ko-KR" altLang="en-US" sz="1200">
                <a:sym typeface="Wingdings" panose="05000000000000000000" pitchFamily="2" charset="2"/>
              </a:rPr>
              <a:t>선택 </a:t>
            </a:r>
            <a:r>
              <a:rPr lang="en-US" altLang="ko-KR" sz="1200">
                <a:sym typeface="Wingdings" panose="05000000000000000000" pitchFamily="2" charset="2"/>
              </a:rPr>
              <a:t>  </a:t>
            </a:r>
            <a:r>
              <a:rPr lang="ko-KR" altLang="en-US" sz="1200">
                <a:sym typeface="Wingdings" panose="05000000000000000000" pitchFamily="2" charset="2"/>
              </a:rPr>
              <a:t>모니터링 간격</a:t>
            </a:r>
            <a:r>
              <a:rPr lang="en-US" altLang="ko-KR" sz="1200">
                <a:sym typeface="Wingdings" panose="05000000000000000000" pitchFamily="2" charset="2"/>
              </a:rPr>
              <a:t>(</a:t>
            </a:r>
            <a:r>
              <a:rPr lang="ko-KR" altLang="en-US" sz="1200">
                <a:sym typeface="Wingdings" panose="05000000000000000000" pitchFamily="2" charset="2"/>
              </a:rPr>
              <a:t>기간</a:t>
            </a:r>
            <a:r>
              <a:rPr lang="en-US" altLang="ko-KR" sz="1200">
                <a:sym typeface="Wingdings" panose="05000000000000000000" pitchFamily="2" charset="2"/>
              </a:rPr>
              <a:t>) </a:t>
            </a:r>
            <a:r>
              <a:rPr lang="ko-KR" altLang="en-US" sz="1200">
                <a:sym typeface="Wingdings" panose="05000000000000000000" pitchFamily="2" charset="2"/>
              </a:rPr>
              <a:t>확인 </a:t>
            </a:r>
            <a:endParaRPr lang="en-US" altLang="ko-KR" sz="1200"/>
          </a:p>
          <a:p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위젯명 변경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저장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5394241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170603-92C1-3DC1-A969-EA55073F6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243"/>
            <a:ext cx="12192000" cy="3715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6F460E-5460-8341-FFD8-D7F28B219FE1}"/>
              </a:ext>
            </a:extLst>
          </p:cNvPr>
          <p:cNvSpPr txBox="1"/>
          <p:nvPr/>
        </p:nvSpPr>
        <p:spPr>
          <a:xfrm>
            <a:off x="180975" y="314325"/>
            <a:ext cx="651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/>
              <a:t>주요 모니터링 지표 위젯 설정 완료</a:t>
            </a:r>
          </a:p>
        </p:txBody>
      </p:sp>
    </p:spTree>
    <p:extLst>
      <p:ext uri="{BB962C8B-B14F-4D97-AF65-F5344CB8AC3E}">
        <p14:creationId xmlns:p14="http://schemas.microsoft.com/office/powerpoint/2010/main" val="3409253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DF979C-A835-95B3-4261-ADF69ED0C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84"/>
          <a:stretch>
            <a:fillRect/>
          </a:stretch>
        </p:blipFill>
        <p:spPr>
          <a:xfrm>
            <a:off x="237909" y="0"/>
            <a:ext cx="3000591" cy="5525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2D012D-C683-B459-0849-0806DB545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98" y="552527"/>
            <a:ext cx="6408555" cy="3191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3F13F4-4DA9-D93D-829C-20870B18EA7C}"/>
              </a:ext>
            </a:extLst>
          </p:cNvPr>
          <p:cNvSpPr txBox="1"/>
          <p:nvPr/>
        </p:nvSpPr>
        <p:spPr>
          <a:xfrm>
            <a:off x="170798" y="3743726"/>
            <a:ext cx="4229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이전에 작성한 </a:t>
            </a:r>
            <a:r>
              <a:rPr lang="en-US" altLang="ko-KR" sz="1200"/>
              <a:t>Spring </a:t>
            </a:r>
            <a:r>
              <a:rPr lang="ko-KR" altLang="en-US" sz="1200"/>
              <a:t>테스트용 </a:t>
            </a:r>
            <a:r>
              <a:rPr lang="en-US" altLang="ko-KR" sz="1200"/>
              <a:t>k6</a:t>
            </a:r>
            <a:r>
              <a:rPr lang="ko-KR" altLang="en-US" sz="1200"/>
              <a:t>요청 스크립트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C7FF1C-2F1E-365E-2D1A-91C043C51F82}"/>
              </a:ext>
            </a:extLst>
          </p:cNvPr>
          <p:cNvGrpSpPr/>
          <p:nvPr/>
        </p:nvGrpSpPr>
        <p:grpSpPr>
          <a:xfrm>
            <a:off x="237909" y="4353411"/>
            <a:ext cx="5639587" cy="738664"/>
            <a:chOff x="237909" y="4353411"/>
            <a:chExt cx="5639587" cy="73866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164DEA-3EB9-BAAA-28BF-F4953233F636}"/>
                </a:ext>
              </a:extLst>
            </p:cNvPr>
            <p:cNvSpPr txBox="1"/>
            <p:nvPr/>
          </p:nvSpPr>
          <p:spPr>
            <a:xfrm>
              <a:off x="237909" y="4630410"/>
              <a:ext cx="4343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K6_WEB_DASHBOARD=true k6 run script.js</a:t>
              </a:r>
            </a:p>
            <a:p>
              <a:r>
                <a:rPr lang="ko-KR" altLang="en-US" sz="1200"/>
                <a:t>스크립트 실행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946FBE9-83D2-AF63-8278-8F48033E4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909" y="4353411"/>
              <a:ext cx="5639587" cy="2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1137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9D14BF4-37BC-1926-BE52-EAB66DEA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68" y="1000163"/>
            <a:ext cx="2848373" cy="4382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F5FF67-1EAA-C94C-475D-CD6C2D37669C}"/>
              </a:ext>
            </a:extLst>
          </p:cNvPr>
          <p:cNvSpPr txBox="1"/>
          <p:nvPr/>
        </p:nvSpPr>
        <p:spPr>
          <a:xfrm>
            <a:off x="300968" y="314325"/>
            <a:ext cx="392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k6 Dashboard </a:t>
            </a:r>
            <a:r>
              <a:rPr lang="ko-KR" altLang="en-US"/>
              <a:t>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532516-C883-6A29-06E0-71101D16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8" y="1710275"/>
            <a:ext cx="8337465" cy="4709513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9F00FC-034F-9125-2949-1EF1338AAC43}"/>
              </a:ext>
            </a:extLst>
          </p:cNvPr>
          <p:cNvCxnSpPr>
            <a:cxnSpLocks/>
          </p:cNvCxnSpPr>
          <p:nvPr/>
        </p:nvCxnSpPr>
        <p:spPr>
          <a:xfrm>
            <a:off x="300968" y="4991100"/>
            <a:ext cx="42805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6D63B3-A97C-83D7-351D-98726C2C25D8}"/>
              </a:ext>
            </a:extLst>
          </p:cNvPr>
          <p:cNvSpPr txBox="1"/>
          <p:nvPr/>
        </p:nvSpPr>
        <p:spPr>
          <a:xfrm>
            <a:off x="3057525" y="5934075"/>
            <a:ext cx="201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002060"/>
                </a:solidFill>
              </a:rPr>
              <a:t>이전처럼 </a:t>
            </a:r>
            <a:r>
              <a:rPr lang="en-US" altLang="ko-KR" sz="1200" b="1">
                <a:solidFill>
                  <a:srgbClr val="002060"/>
                </a:solidFill>
              </a:rPr>
              <a:t>http_req</a:t>
            </a:r>
            <a:r>
              <a:rPr lang="ko-KR" altLang="en-US" sz="1200" b="1">
                <a:solidFill>
                  <a:srgbClr val="002060"/>
                </a:solidFill>
              </a:rPr>
              <a:t>가 </a:t>
            </a:r>
            <a:r>
              <a:rPr lang="en-US" altLang="ko-KR" sz="1200" b="1">
                <a:solidFill>
                  <a:srgbClr val="002060"/>
                </a:solidFill>
              </a:rPr>
              <a:t>3</a:t>
            </a:r>
            <a:r>
              <a:rPr lang="ko-KR" altLang="en-US" sz="1200" b="1">
                <a:solidFill>
                  <a:srgbClr val="002060"/>
                </a:solidFill>
              </a:rPr>
              <a:t>에서 증가하지 않는다</a:t>
            </a:r>
            <a:r>
              <a:rPr lang="en-US" altLang="ko-KR" sz="1200" b="1">
                <a:solidFill>
                  <a:srgbClr val="002060"/>
                </a:solidFill>
              </a:rPr>
              <a:t>. = Thoughput == 3)</a:t>
            </a:r>
            <a:endParaRPr lang="ko-KR" altLang="en-US" sz="1200" b="1">
              <a:solidFill>
                <a:srgbClr val="00206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4762FFC-434C-3AC6-7543-8F6E9CD7D205}"/>
              </a:ext>
            </a:extLst>
          </p:cNvPr>
          <p:cNvCxnSpPr>
            <a:cxnSpLocks/>
          </p:cNvCxnSpPr>
          <p:nvPr/>
        </p:nvCxnSpPr>
        <p:spPr>
          <a:xfrm>
            <a:off x="919351" y="3495675"/>
            <a:ext cx="79278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A76445-6427-8E09-02C6-338400C163E9}"/>
              </a:ext>
            </a:extLst>
          </p:cNvPr>
          <p:cNvSpPr txBox="1"/>
          <p:nvPr/>
        </p:nvSpPr>
        <p:spPr>
          <a:xfrm>
            <a:off x="9067800" y="3172509"/>
            <a:ext cx="2727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Request Duration</a:t>
            </a:r>
            <a:r>
              <a:rPr lang="ko-KR" altLang="en-US" sz="1200"/>
              <a:t>이 </a:t>
            </a:r>
            <a:br>
              <a:rPr lang="en-US" altLang="ko-KR" sz="1200"/>
            </a:br>
            <a:r>
              <a:rPr lang="ko-KR" altLang="en-US" sz="1200"/>
              <a:t>대기로 인해 지연시간이 점점 증가하고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589680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964DAA-44FB-C3CD-F408-83A69E35167F}"/>
              </a:ext>
            </a:extLst>
          </p:cNvPr>
          <p:cNvSpPr txBox="1"/>
          <p:nvPr/>
        </p:nvSpPr>
        <p:spPr>
          <a:xfrm>
            <a:off x="304800" y="209550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CloudWatch </a:t>
            </a:r>
            <a:r>
              <a:rPr lang="ko-KR" altLang="en-US"/>
              <a:t>위젯 확인하기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DD5B887-EBBB-FD3F-2081-10A07170149E}"/>
              </a:ext>
            </a:extLst>
          </p:cNvPr>
          <p:cNvGrpSpPr/>
          <p:nvPr/>
        </p:nvGrpSpPr>
        <p:grpSpPr>
          <a:xfrm>
            <a:off x="542925" y="811200"/>
            <a:ext cx="9572625" cy="3283052"/>
            <a:chOff x="542925" y="811200"/>
            <a:chExt cx="9572625" cy="328305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CCD3355-32BE-FF3B-2315-A6DADF163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925" y="811200"/>
              <a:ext cx="9572625" cy="328305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00AD0DC-FE33-7978-5754-735767FA1A79}"/>
                </a:ext>
              </a:extLst>
            </p:cNvPr>
            <p:cNvSpPr/>
            <p:nvPr/>
          </p:nvSpPr>
          <p:spPr>
            <a:xfrm>
              <a:off x="6477000" y="1209674"/>
              <a:ext cx="866775" cy="2381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EA98FE-CA61-11C8-694C-33D5B6140497}"/>
                </a:ext>
              </a:extLst>
            </p:cNvPr>
            <p:cNvSpPr txBox="1"/>
            <p:nvPr/>
          </p:nvSpPr>
          <p:spPr>
            <a:xfrm>
              <a:off x="5619750" y="949699"/>
              <a:ext cx="30194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최근 </a:t>
              </a:r>
              <a:r>
                <a:rPr lang="en-US" altLang="ko-KR" sz="1200"/>
                <a:t>5</a:t>
              </a:r>
              <a:r>
                <a:rPr lang="ko-KR" altLang="en-US" sz="1200"/>
                <a:t>분 간격으로 모니터링 지표 보기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6A1FAAE-3379-F8A8-0A27-1E60E012BF49}"/>
              </a:ext>
            </a:extLst>
          </p:cNvPr>
          <p:cNvGrpSpPr/>
          <p:nvPr/>
        </p:nvGrpSpPr>
        <p:grpSpPr>
          <a:xfrm>
            <a:off x="542925" y="4094252"/>
            <a:ext cx="10220325" cy="2698364"/>
            <a:chOff x="542925" y="4094252"/>
            <a:chExt cx="10220325" cy="269836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6D7FF5B-BD0E-7133-BF70-4B9A3D331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306"/>
            <a:stretch>
              <a:fillRect/>
            </a:stretch>
          </p:blipFill>
          <p:spPr>
            <a:xfrm>
              <a:off x="542925" y="4094252"/>
              <a:ext cx="10220325" cy="2698364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4931914-B677-F0C1-5ECC-AE40BF3045B4}"/>
                </a:ext>
              </a:extLst>
            </p:cNvPr>
            <p:cNvSpPr/>
            <p:nvPr/>
          </p:nvSpPr>
          <p:spPr>
            <a:xfrm>
              <a:off x="5705475" y="5038725"/>
              <a:ext cx="2076450" cy="361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1E5F20-E8BC-7583-DCD4-05970FDD545F}"/>
              </a:ext>
            </a:extLst>
          </p:cNvPr>
          <p:cNvSpPr txBox="1"/>
          <p:nvPr/>
        </p:nvSpPr>
        <p:spPr>
          <a:xfrm>
            <a:off x="5486401" y="4211467"/>
            <a:ext cx="2867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RDS</a:t>
            </a:r>
            <a:r>
              <a:rPr lang="ko-KR" altLang="en-US" sz="1400" b="1">
                <a:solidFill>
                  <a:srgbClr val="FF0000"/>
                </a:solidFill>
              </a:rPr>
              <a:t>의 가용율이 </a:t>
            </a:r>
            <a:r>
              <a:rPr lang="en-US" altLang="ko-KR" sz="1400" b="1">
                <a:solidFill>
                  <a:srgbClr val="FF0000"/>
                </a:solidFill>
              </a:rPr>
              <a:t>100</a:t>
            </a:r>
            <a:r>
              <a:rPr lang="ko-KR" altLang="en-US" sz="1400" b="1">
                <a:solidFill>
                  <a:srgbClr val="FF0000"/>
                </a:solidFill>
              </a:rPr>
              <a:t>퍼센트에 가깝다 </a:t>
            </a:r>
            <a:endParaRPr lang="en-US" altLang="ko-KR" sz="1400" b="1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400" b="1">
                <a:solidFill>
                  <a:srgbClr val="FF0000"/>
                </a:solidFill>
                <a:sym typeface="Wingdings" panose="05000000000000000000" pitchFamily="2" charset="2"/>
              </a:rPr>
              <a:t>병목지점 </a:t>
            </a:r>
            <a:r>
              <a:rPr lang="en-US" altLang="ko-KR" sz="1400" b="1">
                <a:solidFill>
                  <a:srgbClr val="FF0000"/>
                </a:solidFill>
                <a:sym typeface="Wingdings" panose="05000000000000000000" pitchFamily="2" charset="2"/>
              </a:rPr>
              <a:t>: RDS</a:t>
            </a:r>
          </a:p>
          <a:p>
            <a:endParaRPr lang="ko-KR" altLang="en-US" sz="1400" b="1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F402D7-9115-408D-5BE2-26E45AEED662}"/>
              </a:ext>
            </a:extLst>
          </p:cNvPr>
          <p:cNvSpPr txBox="1"/>
          <p:nvPr/>
        </p:nvSpPr>
        <p:spPr>
          <a:xfrm>
            <a:off x="10115551" y="1590675"/>
            <a:ext cx="2076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병목 체크 리스트</a:t>
            </a:r>
            <a:br>
              <a:rPr lang="en-US" altLang="ko-KR" sz="1200"/>
            </a:br>
            <a:r>
              <a:rPr lang="en-US" altLang="ko-KR" sz="1200"/>
              <a:t>1. cpu</a:t>
            </a:r>
            <a:r>
              <a:rPr lang="ko-KR" altLang="en-US" sz="1200"/>
              <a:t>의 사용율이 </a:t>
            </a:r>
            <a:r>
              <a:rPr lang="en-US" altLang="ko-KR" sz="1200"/>
              <a:t>100%</a:t>
            </a:r>
            <a:r>
              <a:rPr lang="ko-KR" altLang="en-US" sz="1200"/>
              <a:t>에 근접하던가</a:t>
            </a:r>
            <a:endParaRPr lang="en-US" altLang="ko-KR" sz="1200"/>
          </a:p>
          <a:p>
            <a:r>
              <a:rPr lang="en-US" altLang="ko-KR" sz="1200"/>
              <a:t>2. </a:t>
            </a:r>
            <a:r>
              <a:rPr lang="ko-KR" altLang="en-US" sz="1200"/>
              <a:t>메모리 사용율이 </a:t>
            </a:r>
            <a:r>
              <a:rPr lang="en-US" altLang="ko-KR" sz="1200"/>
              <a:t>100%</a:t>
            </a:r>
            <a:r>
              <a:rPr lang="ko-KR" altLang="en-US" sz="1200"/>
              <a:t>에 근접하던가</a:t>
            </a:r>
            <a:endParaRPr lang="en-US" altLang="ko-KR" sz="1200"/>
          </a:p>
          <a:p>
            <a:r>
              <a:rPr lang="en-US" altLang="ko-KR" sz="1200"/>
              <a:t>3. </a:t>
            </a:r>
            <a:r>
              <a:rPr lang="ko-KR" altLang="en-US" sz="1200"/>
              <a:t>가용가능한 메모리가 없다던가</a:t>
            </a:r>
          </a:p>
        </p:txBody>
      </p:sp>
    </p:spTree>
    <p:extLst>
      <p:ext uri="{BB962C8B-B14F-4D97-AF65-F5344CB8AC3E}">
        <p14:creationId xmlns:p14="http://schemas.microsoft.com/office/powerpoint/2010/main" val="1826208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51CCBF8-C8B0-60EF-B247-1894B37E64AE}"/>
              </a:ext>
            </a:extLst>
          </p:cNvPr>
          <p:cNvGrpSpPr/>
          <p:nvPr/>
        </p:nvGrpSpPr>
        <p:grpSpPr>
          <a:xfrm>
            <a:off x="6171801" y="113142"/>
            <a:ext cx="5715798" cy="759892"/>
            <a:chOff x="5476476" y="228565"/>
            <a:chExt cx="5715798" cy="75989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79E9CC6-FE44-7192-313F-D99C8C0B0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6476" y="228565"/>
              <a:ext cx="5715798" cy="36200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67BFD1-D002-AAFC-0C8F-FAA0D5988324}"/>
                </a:ext>
              </a:extLst>
            </p:cNvPr>
            <p:cNvSpPr txBox="1"/>
            <p:nvPr/>
          </p:nvSpPr>
          <p:spPr>
            <a:xfrm>
              <a:off x="5486400" y="619125"/>
              <a:ext cx="3629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k6-server</a:t>
              </a:r>
              <a:r>
                <a:rPr lang="ko-KR" altLang="en-US"/>
                <a:t>에서 부하테스트 실행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7A6567E-3CA1-E9F3-3E67-B1A98B252FE3}"/>
              </a:ext>
            </a:extLst>
          </p:cNvPr>
          <p:cNvGrpSpPr/>
          <p:nvPr/>
        </p:nvGrpSpPr>
        <p:grpSpPr>
          <a:xfrm>
            <a:off x="152400" y="228565"/>
            <a:ext cx="4657725" cy="1566600"/>
            <a:chOff x="152400" y="228565"/>
            <a:chExt cx="4657725" cy="15666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2E60E97-8C9C-43F5-C6DE-FC66C1B9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228565"/>
              <a:ext cx="3429479" cy="49536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740BB72-10B3-C524-0901-692CCF466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52400" y="873034"/>
              <a:ext cx="2810267" cy="3048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B2599C-25C2-EDCD-AAF8-39AD550AFDA6}"/>
                </a:ext>
              </a:extLst>
            </p:cNvPr>
            <p:cNvSpPr txBox="1"/>
            <p:nvPr/>
          </p:nvSpPr>
          <p:spPr>
            <a:xfrm>
              <a:off x="152400" y="1333500"/>
              <a:ext cx="4657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부하테스트 실행 직후 </a:t>
              </a:r>
              <a:endParaRPr lang="en-US" altLang="ko-KR" sz="1200"/>
            </a:p>
            <a:p>
              <a:r>
                <a:rPr lang="en-US" altLang="ko-KR" sz="1200"/>
                <a:t>EC2</a:t>
              </a:r>
              <a:r>
                <a:rPr lang="ko-KR" altLang="en-US" sz="1200"/>
                <a:t>서버에서 </a:t>
              </a:r>
              <a:r>
                <a:rPr lang="en-US" altLang="ko-KR" sz="1200"/>
                <a:t>top </a:t>
              </a:r>
              <a:r>
                <a:rPr lang="ko-KR" altLang="en-US" sz="1200"/>
                <a:t>명령어 실행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F1DBDD2-5235-04FB-A3A6-B9BAE861A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1950788"/>
            <a:ext cx="8078327" cy="342947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772A7986-487E-C1E7-6AF8-08EFFAFFE6AA}"/>
              </a:ext>
            </a:extLst>
          </p:cNvPr>
          <p:cNvGrpSpPr/>
          <p:nvPr/>
        </p:nvGrpSpPr>
        <p:grpSpPr>
          <a:xfrm>
            <a:off x="152401" y="1592521"/>
            <a:ext cx="3429478" cy="812210"/>
            <a:chOff x="152401" y="1592521"/>
            <a:chExt cx="4066132" cy="81221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9908229-C26E-A6CB-E426-981CC74C2890}"/>
                </a:ext>
              </a:extLst>
            </p:cNvPr>
            <p:cNvSpPr/>
            <p:nvPr/>
          </p:nvSpPr>
          <p:spPr>
            <a:xfrm>
              <a:off x="152401" y="2247900"/>
              <a:ext cx="1355188" cy="1568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B6DAD75A-2470-B2DA-2D3A-B9962799F984}"/>
                </a:ext>
              </a:extLst>
            </p:cNvPr>
            <p:cNvCxnSpPr>
              <a:cxnSpLocks/>
              <a:stCxn id="16" idx="0"/>
              <a:endCxn id="21" idx="1"/>
            </p:cNvCxnSpPr>
            <p:nvPr/>
          </p:nvCxnSpPr>
          <p:spPr>
            <a:xfrm flipV="1">
              <a:off x="829995" y="1592521"/>
              <a:ext cx="3388538" cy="6553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DF38C33-AC94-D03A-E69D-C73620533810}"/>
              </a:ext>
            </a:extLst>
          </p:cNvPr>
          <p:cNvSpPr txBox="1"/>
          <p:nvPr/>
        </p:nvSpPr>
        <p:spPr>
          <a:xfrm>
            <a:off x="3581879" y="1407855"/>
            <a:ext cx="194262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전체 </a:t>
            </a:r>
            <a:r>
              <a:rPr lang="en-US" altLang="ko-KR">
                <a:solidFill>
                  <a:srgbClr val="FF0000"/>
                </a:solidFill>
              </a:rPr>
              <a:t>CPU</a:t>
            </a:r>
            <a:r>
              <a:rPr lang="ko-KR" altLang="en-US">
                <a:solidFill>
                  <a:srgbClr val="FF0000"/>
                </a:solidFill>
              </a:rPr>
              <a:t>사용률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70A8459-7EEF-9FE9-4450-620F5A285D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959" t="-1" b="-14996"/>
          <a:stretch>
            <a:fillRect/>
          </a:stretch>
        </p:blipFill>
        <p:spPr>
          <a:xfrm>
            <a:off x="5743575" y="3576601"/>
            <a:ext cx="5767877" cy="602522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B45A01-1BCA-68F2-6E37-1325D22C4397}"/>
              </a:ext>
            </a:extLst>
          </p:cNvPr>
          <p:cNvSpPr/>
          <p:nvPr/>
        </p:nvSpPr>
        <p:spPr>
          <a:xfrm>
            <a:off x="4371975" y="2914650"/>
            <a:ext cx="523875" cy="33818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FE6E91-4C92-0BFA-5BD4-C1974B4AB8F6}"/>
              </a:ext>
            </a:extLst>
          </p:cNvPr>
          <p:cNvSpPr/>
          <p:nvPr/>
        </p:nvSpPr>
        <p:spPr>
          <a:xfrm>
            <a:off x="8610600" y="3600457"/>
            <a:ext cx="561975" cy="50009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A4E83C1-6B0B-428E-70C8-D71E0D01A4CC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4895850" y="3083741"/>
            <a:ext cx="3714750" cy="7667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588EC8A-E869-CA62-E765-74E21437576D}"/>
              </a:ext>
            </a:extLst>
          </p:cNvPr>
          <p:cNvCxnSpPr>
            <a:stCxn id="29" idx="0"/>
          </p:cNvCxnSpPr>
          <p:nvPr/>
        </p:nvCxnSpPr>
        <p:spPr>
          <a:xfrm flipV="1">
            <a:off x="8891588" y="2695575"/>
            <a:ext cx="728662" cy="90488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5FFAB6B-C2CD-040D-6512-82818C8528F7}"/>
              </a:ext>
            </a:extLst>
          </p:cNvPr>
          <p:cNvSpPr txBox="1"/>
          <p:nvPr/>
        </p:nvSpPr>
        <p:spPr>
          <a:xfrm>
            <a:off x="9605963" y="2039276"/>
            <a:ext cx="2295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00B050"/>
                </a:solidFill>
              </a:rPr>
              <a:t>cpu</a:t>
            </a:r>
            <a:r>
              <a:rPr lang="ko-KR" altLang="en-US" sz="1400" b="1">
                <a:solidFill>
                  <a:srgbClr val="00B050"/>
                </a:solidFill>
              </a:rPr>
              <a:t>가 </a:t>
            </a:r>
            <a:r>
              <a:rPr lang="en-US" altLang="ko-KR" sz="1400" b="1">
                <a:solidFill>
                  <a:srgbClr val="00B050"/>
                </a:solidFill>
              </a:rPr>
              <a:t>129</a:t>
            </a:r>
            <a:r>
              <a:rPr lang="ko-KR" altLang="en-US" sz="1400" b="1">
                <a:solidFill>
                  <a:srgbClr val="00B050"/>
                </a:solidFill>
              </a:rPr>
              <a:t>프로가 찍히는 이유</a:t>
            </a:r>
            <a:r>
              <a:rPr lang="en-US" altLang="ko-KR" sz="1400" b="1">
                <a:solidFill>
                  <a:srgbClr val="00B050"/>
                </a:solidFill>
              </a:rPr>
              <a:t>: EC2</a:t>
            </a:r>
            <a:r>
              <a:rPr lang="ko-KR" altLang="en-US" sz="1400" b="1">
                <a:solidFill>
                  <a:srgbClr val="00B050"/>
                </a:solidFill>
              </a:rPr>
              <a:t>는 코어가 </a:t>
            </a:r>
            <a:r>
              <a:rPr lang="en-US" altLang="ko-KR" sz="1400" b="1">
                <a:solidFill>
                  <a:srgbClr val="00B050"/>
                </a:solidFill>
              </a:rPr>
              <a:t>2</a:t>
            </a:r>
            <a:r>
              <a:rPr lang="ko-KR" altLang="en-US" sz="1400" b="1">
                <a:solidFill>
                  <a:srgbClr val="00B050"/>
                </a:solidFill>
              </a:rPr>
              <a:t>개 </a:t>
            </a:r>
            <a:br>
              <a:rPr lang="en-US" altLang="ko-KR" sz="1400" b="1">
                <a:solidFill>
                  <a:srgbClr val="00B050"/>
                </a:solidFill>
              </a:rPr>
            </a:br>
            <a:r>
              <a:rPr lang="ko-KR" altLang="en-US" sz="1400" b="1">
                <a:solidFill>
                  <a:srgbClr val="00B050"/>
                </a:solidFill>
              </a:rPr>
              <a:t>즉 초록 박스의 </a:t>
            </a:r>
            <a:r>
              <a:rPr lang="en-US" altLang="ko-KR" sz="1400" b="1">
                <a:solidFill>
                  <a:srgbClr val="00B050"/>
                </a:solidFill>
              </a:rPr>
              <a:t>CPU</a:t>
            </a:r>
            <a:r>
              <a:rPr lang="ko-KR" altLang="en-US" sz="1400" b="1">
                <a:solidFill>
                  <a:srgbClr val="00B050"/>
                </a:solidFill>
              </a:rPr>
              <a:t>는 각 </a:t>
            </a:r>
            <a:r>
              <a:rPr lang="en-US" altLang="ko-KR" sz="1400" b="1">
                <a:solidFill>
                  <a:srgbClr val="00B050"/>
                </a:solidFill>
              </a:rPr>
              <a:t>CPU</a:t>
            </a:r>
            <a:r>
              <a:rPr lang="ko-KR" altLang="en-US" sz="1400" b="1">
                <a:solidFill>
                  <a:srgbClr val="00B050"/>
                </a:solidFill>
              </a:rPr>
              <a:t>를 </a:t>
            </a:r>
            <a:r>
              <a:rPr lang="en-US" altLang="ko-KR" sz="1400" b="1">
                <a:solidFill>
                  <a:srgbClr val="00B050"/>
                </a:solidFill>
              </a:rPr>
              <a:t>100%</a:t>
            </a:r>
            <a:r>
              <a:rPr lang="ko-KR" altLang="en-US" sz="1400" b="1">
                <a:solidFill>
                  <a:srgbClr val="00B050"/>
                </a:solidFill>
              </a:rPr>
              <a:t>로 잡고 계산한 값</a:t>
            </a:r>
            <a:r>
              <a:rPr lang="en-US" altLang="ko-KR" sz="1400" b="1">
                <a:solidFill>
                  <a:srgbClr val="00B050"/>
                </a:solidFill>
              </a:rPr>
              <a:t>. (129%</a:t>
            </a:r>
            <a:r>
              <a:rPr lang="ko-KR" altLang="en-US" sz="1400" b="1">
                <a:solidFill>
                  <a:srgbClr val="00B050"/>
                </a:solidFill>
              </a:rPr>
              <a:t>면 </a:t>
            </a:r>
            <a:r>
              <a:rPr lang="en-US" altLang="ko-KR" sz="1400" b="1">
                <a:solidFill>
                  <a:srgbClr val="00B050"/>
                </a:solidFill>
              </a:rPr>
              <a:t>1</a:t>
            </a:r>
            <a:r>
              <a:rPr lang="ko-KR" altLang="en-US" sz="1400" b="1">
                <a:solidFill>
                  <a:srgbClr val="00B050"/>
                </a:solidFill>
              </a:rPr>
              <a:t>코어 </a:t>
            </a:r>
            <a:r>
              <a:rPr lang="en-US" altLang="ko-KR" sz="1400" b="1">
                <a:solidFill>
                  <a:srgbClr val="00B050"/>
                </a:solidFill>
              </a:rPr>
              <a:t>+ 29% </a:t>
            </a:r>
            <a:r>
              <a:rPr lang="ko-KR" altLang="en-US" sz="1400" b="1">
                <a:solidFill>
                  <a:srgbClr val="00B050"/>
                </a:solidFill>
              </a:rPr>
              <a:t>라고 볼수 있음</a:t>
            </a:r>
            <a:r>
              <a:rPr lang="en-US" altLang="ko-KR" sz="1400" b="1">
                <a:solidFill>
                  <a:srgbClr val="00B050"/>
                </a:solidFill>
              </a:rPr>
              <a:t>)</a:t>
            </a:r>
            <a:endParaRPr lang="ko-KR" altLang="en-US" sz="1400" b="1">
              <a:solidFill>
                <a:srgbClr val="00B050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DAD5BB1-DBAE-1743-6BE4-1B445270D749}"/>
              </a:ext>
            </a:extLst>
          </p:cNvPr>
          <p:cNvGrpSpPr/>
          <p:nvPr/>
        </p:nvGrpSpPr>
        <p:grpSpPr>
          <a:xfrm>
            <a:off x="1066800" y="1184708"/>
            <a:ext cx="9923453" cy="1406173"/>
            <a:chOff x="1066800" y="1184708"/>
            <a:chExt cx="9923453" cy="140617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4A34824-87E0-595C-02B4-958E1FD67E66}"/>
                </a:ext>
              </a:extLst>
            </p:cNvPr>
            <p:cNvSpPr/>
            <p:nvPr/>
          </p:nvSpPr>
          <p:spPr>
            <a:xfrm>
              <a:off x="1066800" y="2432566"/>
              <a:ext cx="5562599" cy="158315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7972177B-830D-8A27-5275-C3AD4E55F481}"/>
                </a:ext>
              </a:extLst>
            </p:cNvPr>
            <p:cNvGrpSpPr/>
            <p:nvPr/>
          </p:nvGrpSpPr>
          <p:grpSpPr>
            <a:xfrm>
              <a:off x="6638925" y="1184708"/>
              <a:ext cx="4351328" cy="1320367"/>
              <a:chOff x="6638925" y="1184708"/>
              <a:chExt cx="4351328" cy="1320367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AF87A9A6-5DEA-CA7F-D842-980B2DD978CA}"/>
                  </a:ext>
                </a:extLst>
              </p:cNvPr>
              <p:cNvSpPr/>
              <p:nvPr/>
            </p:nvSpPr>
            <p:spPr>
              <a:xfrm>
                <a:off x="8694329" y="1184708"/>
                <a:ext cx="2295924" cy="76608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>
                    <a:solidFill>
                      <a:srgbClr val="FFFF00"/>
                    </a:solidFill>
                  </a:rPr>
                  <a:t>742Mb</a:t>
                </a:r>
                <a:r>
                  <a:rPr lang="ko-KR" altLang="en-US" sz="1400">
                    <a:solidFill>
                      <a:srgbClr val="FFFF00"/>
                    </a:solidFill>
                  </a:rPr>
                  <a:t>의 여분 메모리 </a:t>
                </a:r>
                <a:r>
                  <a:rPr lang="en-US" altLang="ko-KR" sz="1400">
                    <a:solidFill>
                      <a:srgbClr val="FFFF00"/>
                    </a:solidFill>
                  </a:rPr>
                  <a:t>1238MB</a:t>
                </a:r>
                <a:r>
                  <a:rPr lang="ko-KR" altLang="en-US" sz="1400">
                    <a:solidFill>
                      <a:srgbClr val="FFFF00"/>
                    </a:solidFill>
                  </a:rPr>
                  <a:t>의 사용중 메모리</a:t>
                </a:r>
                <a:endParaRPr lang="en-US" altLang="ko-KR" sz="1400">
                  <a:solidFill>
                    <a:srgbClr val="FFFF00"/>
                  </a:solidFill>
                </a:endParaRPr>
              </a:p>
              <a:p>
                <a:pPr algn="ctr"/>
                <a:r>
                  <a:rPr lang="ko-KR" altLang="en-US" sz="1400">
                    <a:solidFill>
                      <a:srgbClr val="FFFF00"/>
                    </a:solidFill>
                  </a:rPr>
                  <a:t>총</a:t>
                </a:r>
                <a:r>
                  <a:rPr lang="en-US" altLang="ko-KR" sz="1400">
                    <a:solidFill>
                      <a:srgbClr val="FFFF00"/>
                    </a:solidFill>
                  </a:rPr>
                  <a:t>1905 MB</a:t>
                </a:r>
                <a:endParaRPr lang="ko-KR" altLang="en-US" sz="1400">
                  <a:solidFill>
                    <a:srgbClr val="FFFF00"/>
                  </a:solidFill>
                </a:endParaRP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B8FFC0AA-4270-15F7-21CD-286343F0FB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38925" y="1552897"/>
                <a:ext cx="2163302" cy="952178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83F9C0C-8874-2E02-844E-4516429481B7}"/>
              </a:ext>
            </a:extLst>
          </p:cNvPr>
          <p:cNvSpPr/>
          <p:nvPr/>
        </p:nvSpPr>
        <p:spPr>
          <a:xfrm>
            <a:off x="4962525" y="2847975"/>
            <a:ext cx="542925" cy="271695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7767F2-5106-40C9-69B9-6468C26AA062}"/>
              </a:ext>
            </a:extLst>
          </p:cNvPr>
          <p:cNvSpPr txBox="1"/>
          <p:nvPr/>
        </p:nvSpPr>
        <p:spPr>
          <a:xfrm>
            <a:off x="4295775" y="5648325"/>
            <a:ext cx="439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7030A0"/>
                </a:solidFill>
              </a:rPr>
              <a:t>각프로세스별 메모리 사용량</a:t>
            </a:r>
          </a:p>
        </p:txBody>
      </p:sp>
    </p:spTree>
    <p:extLst>
      <p:ext uri="{BB962C8B-B14F-4D97-AF65-F5344CB8AC3E}">
        <p14:creationId xmlns:p14="http://schemas.microsoft.com/office/powerpoint/2010/main" val="28665833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ED751-1DC1-714E-15C8-23F4BF0D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 </a:t>
            </a:r>
            <a:r>
              <a:rPr lang="ko-KR" altLang="en-US"/>
              <a:t>의 향상된 모니터링 설정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C0C27A9-D30A-9F99-B0A6-4C695AED40ED}"/>
              </a:ext>
            </a:extLst>
          </p:cNvPr>
          <p:cNvGrpSpPr/>
          <p:nvPr/>
        </p:nvGrpSpPr>
        <p:grpSpPr>
          <a:xfrm>
            <a:off x="442469" y="1990604"/>
            <a:ext cx="8682615" cy="2886478"/>
            <a:chOff x="442469" y="1990604"/>
            <a:chExt cx="8682615" cy="288647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145C3AE-E185-9222-BF29-FD63F3813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469" y="1990604"/>
              <a:ext cx="6354062" cy="173379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2E9E6B5-A246-B620-C71A-878FF9C4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0765" y="1990604"/>
              <a:ext cx="1924319" cy="288647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94EF66C-86A0-B1B5-7E9A-3EE68BBED804}"/>
                </a:ext>
              </a:extLst>
            </p:cNvPr>
            <p:cNvSpPr/>
            <p:nvPr/>
          </p:nvSpPr>
          <p:spPr>
            <a:xfrm>
              <a:off x="7267575" y="4305300"/>
              <a:ext cx="561975" cy="2381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7D7043F-0F80-049F-CF32-8D77633D6A84}"/>
                </a:ext>
              </a:extLst>
            </p:cNvPr>
            <p:cNvSpPr/>
            <p:nvPr/>
          </p:nvSpPr>
          <p:spPr>
            <a:xfrm>
              <a:off x="4343400" y="2952750"/>
              <a:ext cx="2324100" cy="666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BE0E7E8-854C-745B-6BB8-BF52DCA23DD6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6667500" y="3286125"/>
              <a:ext cx="600075" cy="1143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C2EB16FC-18FC-8645-479F-B1F990C62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687" y="1990604"/>
            <a:ext cx="2408341" cy="129552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F5ED36F-FCA2-B495-7CF5-14AEBA4AA4C1}"/>
              </a:ext>
            </a:extLst>
          </p:cNvPr>
          <p:cNvGrpSpPr/>
          <p:nvPr/>
        </p:nvGrpSpPr>
        <p:grpSpPr>
          <a:xfrm>
            <a:off x="7829550" y="2733675"/>
            <a:ext cx="4000500" cy="1690688"/>
            <a:chOff x="7829550" y="2733675"/>
            <a:chExt cx="4000500" cy="16906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C698270-EB8C-AE19-660D-C00F1E344C72}"/>
                </a:ext>
              </a:extLst>
            </p:cNvPr>
            <p:cNvSpPr/>
            <p:nvPr/>
          </p:nvSpPr>
          <p:spPr>
            <a:xfrm>
              <a:off x="10944225" y="2733675"/>
              <a:ext cx="885825" cy="3714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9C86159A-F9C5-ABD4-CB61-1AC525F7A074}"/>
                </a:ext>
              </a:extLst>
            </p:cNvPr>
            <p:cNvCxnSpPr>
              <a:stCxn id="7" idx="3"/>
              <a:endCxn id="16" idx="1"/>
            </p:cNvCxnSpPr>
            <p:nvPr/>
          </p:nvCxnSpPr>
          <p:spPr>
            <a:xfrm flipV="1">
              <a:off x="7829550" y="2919413"/>
              <a:ext cx="3114675" cy="150495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7370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8E2EEB1B-4442-F87D-F593-5E5475D57DE9}"/>
              </a:ext>
            </a:extLst>
          </p:cNvPr>
          <p:cNvGrpSpPr/>
          <p:nvPr/>
        </p:nvGrpSpPr>
        <p:grpSpPr>
          <a:xfrm>
            <a:off x="489944" y="372680"/>
            <a:ext cx="10354642" cy="4592899"/>
            <a:chOff x="489944" y="372680"/>
            <a:chExt cx="10354642" cy="4592899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5FC5FAC-090C-47E8-1E83-C7ADB0F4C8C9}"/>
                </a:ext>
              </a:extLst>
            </p:cNvPr>
            <p:cNvGrpSpPr/>
            <p:nvPr/>
          </p:nvGrpSpPr>
          <p:grpSpPr>
            <a:xfrm>
              <a:off x="489944" y="372680"/>
              <a:ext cx="10354642" cy="3627820"/>
              <a:chOff x="489944" y="372680"/>
              <a:chExt cx="10354642" cy="3627820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03E601B-5BD3-2448-5AC4-9D187DB25D03}"/>
                  </a:ext>
                </a:extLst>
              </p:cNvPr>
              <p:cNvGrpSpPr/>
              <p:nvPr/>
            </p:nvGrpSpPr>
            <p:grpSpPr>
              <a:xfrm>
                <a:off x="489944" y="372680"/>
                <a:ext cx="5518984" cy="3627820"/>
                <a:chOff x="489944" y="372680"/>
                <a:chExt cx="5518984" cy="3627820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A16CCB62-3ECF-8A58-5566-3C47A21F83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89944" y="372680"/>
                  <a:ext cx="5518984" cy="3627820"/>
                </a:xfrm>
                <a:prstGeom prst="rect">
                  <a:avLst/>
                </a:prstGeom>
              </p:spPr>
            </p:pic>
            <p:sp>
              <p:nvSpPr>
                <p:cNvPr id="4" name="직사각형 3">
                  <a:extLst>
                    <a:ext uri="{FF2B5EF4-FFF2-40B4-BE49-F238E27FC236}">
                      <a16:creationId xmlns:a16="http://schemas.microsoft.com/office/drawing/2014/main" id="{6BA38AFC-8AA0-06B4-1409-AB826C12678F}"/>
                    </a:ext>
                  </a:extLst>
                </p:cNvPr>
                <p:cNvSpPr/>
                <p:nvPr/>
              </p:nvSpPr>
              <p:spPr>
                <a:xfrm>
                  <a:off x="2419350" y="2847975"/>
                  <a:ext cx="628650" cy="27622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D49C3964-B811-5B1C-874D-A9117BDE40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7150" y="521948"/>
                <a:ext cx="4077436" cy="3329283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2EE09FE-D842-E5D2-BE14-61CE473FBC0F}"/>
                  </a:ext>
                </a:extLst>
              </p:cNvPr>
              <p:cNvSpPr/>
              <p:nvPr/>
            </p:nvSpPr>
            <p:spPr>
              <a:xfrm>
                <a:off x="6767149" y="2266950"/>
                <a:ext cx="4077435" cy="3429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8908FF57-4E66-486A-3C3F-8A24A6107597}"/>
                  </a:ext>
                </a:extLst>
              </p:cNvPr>
              <p:cNvCxnSpPr>
                <a:stCxn id="4" idx="3"/>
                <a:endCxn id="8" idx="1"/>
              </p:cNvCxnSpPr>
              <p:nvPr/>
            </p:nvCxnSpPr>
            <p:spPr>
              <a:xfrm flipV="1">
                <a:off x="3048000" y="2438400"/>
                <a:ext cx="3719149" cy="5476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F6D5EAB-AE39-6BF5-D277-E8553ADCF4F3}"/>
                </a:ext>
              </a:extLst>
            </p:cNvPr>
            <p:cNvGrpSpPr/>
            <p:nvPr/>
          </p:nvGrpSpPr>
          <p:grpSpPr>
            <a:xfrm>
              <a:off x="2133545" y="4148098"/>
              <a:ext cx="2247900" cy="817481"/>
              <a:chOff x="2133545" y="4148098"/>
              <a:chExt cx="2247900" cy="817481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F628D43D-3934-597E-2E65-968D4B3F86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3545" y="4148098"/>
                <a:ext cx="781159" cy="562053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70FD7B-1DE4-665E-1EF6-BBF3EF05BA2E}"/>
                  </a:ext>
                </a:extLst>
              </p:cNvPr>
              <p:cNvSpPr txBox="1"/>
              <p:nvPr/>
            </p:nvSpPr>
            <p:spPr>
              <a:xfrm>
                <a:off x="2133545" y="4657802"/>
                <a:ext cx="22479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다음 버튼 두 번 클릭</a:t>
                </a:r>
              </a:p>
            </p:txBody>
          </p:sp>
        </p:grp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4E5584E-E5AA-D6DA-855D-B239E463A3D7}"/>
                </a:ext>
              </a:extLst>
            </p:cNvPr>
            <p:cNvCxnSpPr>
              <a:stCxn id="8" idx="2"/>
              <a:endCxn id="13" idx="3"/>
            </p:cNvCxnSpPr>
            <p:nvPr/>
          </p:nvCxnSpPr>
          <p:spPr>
            <a:xfrm flipH="1">
              <a:off x="2914704" y="2609850"/>
              <a:ext cx="5891163" cy="18192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C4A40-D674-7441-D6C1-EC4F72A70A19}"/>
              </a:ext>
            </a:extLst>
          </p:cNvPr>
          <p:cNvGrpSpPr/>
          <p:nvPr/>
        </p:nvGrpSpPr>
        <p:grpSpPr>
          <a:xfrm>
            <a:off x="2914704" y="4171950"/>
            <a:ext cx="7563380" cy="2418737"/>
            <a:chOff x="2914704" y="4171950"/>
            <a:chExt cx="7563380" cy="241873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F4ADAE-C34E-EC73-9D14-D9A335B96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6799" y="4171950"/>
              <a:ext cx="5601285" cy="2418737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D77452D-E4FC-C19F-01EC-E0F0EE561523}"/>
                </a:ext>
              </a:extLst>
            </p:cNvPr>
            <p:cNvSpPr/>
            <p:nvPr/>
          </p:nvSpPr>
          <p:spPr>
            <a:xfrm>
              <a:off x="5048250" y="5105400"/>
              <a:ext cx="1718899" cy="3238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5213CBD0-E036-FF82-D4C8-CD3662386FFF}"/>
                </a:ext>
              </a:extLst>
            </p:cNvPr>
            <p:cNvCxnSpPr>
              <a:stCxn id="13" idx="3"/>
              <a:endCxn id="21" idx="1"/>
            </p:cNvCxnSpPr>
            <p:nvPr/>
          </p:nvCxnSpPr>
          <p:spPr>
            <a:xfrm>
              <a:off x="2914704" y="4429125"/>
              <a:ext cx="2133546" cy="838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DF9BF44A-06A8-1C74-C928-0A96597BE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110" y="4484566"/>
            <a:ext cx="933580" cy="552527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A38403D-7CE4-0E36-E820-DC1C88BE27B0}"/>
              </a:ext>
            </a:extLst>
          </p:cNvPr>
          <p:cNvCxnSpPr>
            <a:stCxn id="21" idx="3"/>
          </p:cNvCxnSpPr>
          <p:nvPr/>
        </p:nvCxnSpPr>
        <p:spPr>
          <a:xfrm flipV="1">
            <a:off x="6767149" y="4848225"/>
            <a:ext cx="2633961" cy="419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707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그룹 47">
            <a:extLst>
              <a:ext uri="{FF2B5EF4-FFF2-40B4-BE49-F238E27FC236}">
                <a16:creationId xmlns:a16="http://schemas.microsoft.com/office/drawing/2014/main" id="{95A00617-AEAA-A11A-FE41-E9CC3486A5B8}"/>
              </a:ext>
            </a:extLst>
          </p:cNvPr>
          <p:cNvGrpSpPr/>
          <p:nvPr/>
        </p:nvGrpSpPr>
        <p:grpSpPr>
          <a:xfrm>
            <a:off x="82787" y="333258"/>
            <a:ext cx="11991291" cy="6378442"/>
            <a:chOff x="82787" y="333258"/>
            <a:chExt cx="11991291" cy="63784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4E1C186-1AF2-C74F-9CBA-E9819476AC5B}"/>
                </a:ext>
              </a:extLst>
            </p:cNvPr>
            <p:cNvGrpSpPr/>
            <p:nvPr/>
          </p:nvGrpSpPr>
          <p:grpSpPr>
            <a:xfrm>
              <a:off x="82787" y="333258"/>
              <a:ext cx="11991291" cy="6378442"/>
              <a:chOff x="82787" y="333258"/>
              <a:chExt cx="11991291" cy="6378442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39FD5126-66CF-FEA2-D438-C09A6407B373}"/>
                  </a:ext>
                </a:extLst>
              </p:cNvPr>
              <p:cNvGrpSpPr/>
              <p:nvPr/>
            </p:nvGrpSpPr>
            <p:grpSpPr>
              <a:xfrm>
                <a:off x="82787" y="333258"/>
                <a:ext cx="11858372" cy="6378442"/>
                <a:chOff x="82787" y="333258"/>
                <a:chExt cx="11858372" cy="6378442"/>
              </a:xfrm>
            </p:grpSpPr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C9CE442E-E5F3-FD40-C2DD-7EACF7F5E0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636197" y="333258"/>
                  <a:ext cx="7304962" cy="1571742"/>
                </a:xfrm>
                <a:prstGeom prst="rect">
                  <a:avLst/>
                </a:prstGeom>
              </p:spPr>
            </p:pic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4845D379-EC18-7E19-2FD5-47E7FD5A2AD1}"/>
                    </a:ext>
                  </a:extLst>
                </p:cNvPr>
                <p:cNvGrpSpPr/>
                <p:nvPr/>
              </p:nvGrpSpPr>
              <p:grpSpPr>
                <a:xfrm>
                  <a:off x="161560" y="333258"/>
                  <a:ext cx="11220815" cy="1362192"/>
                  <a:chOff x="161560" y="333258"/>
                  <a:chExt cx="11220815" cy="1362192"/>
                </a:xfrm>
              </p:grpSpPr>
              <p:pic>
                <p:nvPicPr>
                  <p:cNvPr id="3" name="그림 2">
                    <a:extLst>
                      <a:ext uri="{FF2B5EF4-FFF2-40B4-BE49-F238E27FC236}">
                        <a16:creationId xmlns:a16="http://schemas.microsoft.com/office/drawing/2014/main" id="{B2400193-884F-2584-719F-0D05199D0E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61560" y="333258"/>
                    <a:ext cx="4256850" cy="1362192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sp>
                <p:nvSpPr>
                  <p:cNvPr id="6" name="직사각형 5">
                    <a:extLst>
                      <a:ext uri="{FF2B5EF4-FFF2-40B4-BE49-F238E27FC236}">
                        <a16:creationId xmlns:a16="http://schemas.microsoft.com/office/drawing/2014/main" id="{C049B47D-13D9-932D-B039-5932D6BA2805}"/>
                      </a:ext>
                    </a:extLst>
                  </p:cNvPr>
                  <p:cNvSpPr/>
                  <p:nvPr/>
                </p:nvSpPr>
                <p:spPr>
                  <a:xfrm>
                    <a:off x="10972800" y="333258"/>
                    <a:ext cx="409575" cy="238242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" name="직사각형 6">
                    <a:extLst>
                      <a:ext uri="{FF2B5EF4-FFF2-40B4-BE49-F238E27FC236}">
                        <a16:creationId xmlns:a16="http://schemas.microsoft.com/office/drawing/2014/main" id="{0C458B8A-473B-D4E9-CD21-B40FE59E3D69}"/>
                      </a:ext>
                    </a:extLst>
                  </p:cNvPr>
                  <p:cNvSpPr/>
                  <p:nvPr/>
                </p:nvSpPr>
                <p:spPr>
                  <a:xfrm>
                    <a:off x="161560" y="333258"/>
                    <a:ext cx="1752965" cy="238242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9" name="직선 화살표 연결선 8">
                    <a:extLst>
                      <a:ext uri="{FF2B5EF4-FFF2-40B4-BE49-F238E27FC236}">
                        <a16:creationId xmlns:a16="http://schemas.microsoft.com/office/drawing/2014/main" id="{5224C1CF-FD78-CA88-9D8F-66F8EBFCB6CD}"/>
                      </a:ext>
                    </a:extLst>
                  </p:cNvPr>
                  <p:cNvCxnSpPr>
                    <a:stCxn id="7" idx="3"/>
                    <a:endCxn id="6" idx="1"/>
                  </p:cNvCxnSpPr>
                  <p:nvPr/>
                </p:nvCxnSpPr>
                <p:spPr>
                  <a:xfrm>
                    <a:off x="1914525" y="452379"/>
                    <a:ext cx="9058275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2" name="그림 11">
                  <a:extLst>
                    <a:ext uri="{FF2B5EF4-FFF2-40B4-BE49-F238E27FC236}">
                      <a16:creationId xmlns:a16="http://schemas.microsoft.com/office/drawing/2014/main" id="{DA1BEFED-717F-B09E-494E-4CD8CB5B2A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787" y="2024121"/>
                  <a:ext cx="6527563" cy="4687579"/>
                </a:xfrm>
                <a:prstGeom prst="rect">
                  <a:avLst/>
                </a:prstGeom>
              </p:spPr>
            </p:pic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059F90F8-162B-90FE-0630-1342A1035DA0}"/>
                    </a:ext>
                  </a:extLst>
                </p:cNvPr>
                <p:cNvSpPr/>
                <p:nvPr/>
              </p:nvSpPr>
              <p:spPr>
                <a:xfrm>
                  <a:off x="82787" y="3733800"/>
                  <a:ext cx="4146313" cy="4953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noFill/>
                  </a:endParaRPr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1B7E1177-7856-41AE-CA1E-2F842D68C18A}"/>
                    </a:ext>
                  </a:extLst>
                </p:cNvPr>
                <p:cNvSpPr/>
                <p:nvPr/>
              </p:nvSpPr>
              <p:spPr>
                <a:xfrm>
                  <a:off x="161560" y="4651250"/>
                  <a:ext cx="6344015" cy="29222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noFill/>
                  </a:endParaRPr>
                </a:p>
              </p:txBody>
            </p:sp>
            <p:cxnSp>
              <p:nvCxnSpPr>
                <p:cNvPr id="15" name="직선 화살표 연결선 14">
                  <a:extLst>
                    <a:ext uri="{FF2B5EF4-FFF2-40B4-BE49-F238E27FC236}">
                      <a16:creationId xmlns:a16="http://schemas.microsoft.com/office/drawing/2014/main" id="{809D17A9-FCBD-12C9-6A43-B24625B5B065}"/>
                    </a:ext>
                  </a:extLst>
                </p:cNvPr>
                <p:cNvCxnSpPr>
                  <a:cxnSpLocks/>
                  <a:stCxn id="6" idx="2"/>
                  <a:endCxn id="13" idx="0"/>
                </p:cNvCxnSpPr>
                <p:nvPr/>
              </p:nvCxnSpPr>
              <p:spPr>
                <a:xfrm flipH="1">
                  <a:off x="2155944" y="571500"/>
                  <a:ext cx="9021644" cy="316230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C89F54E8-7E5F-0756-E42E-4A3C5D91C333}"/>
                    </a:ext>
                  </a:extLst>
                </p:cNvPr>
                <p:cNvCxnSpPr>
                  <a:cxnSpLocks/>
                  <a:endCxn id="14" idx="0"/>
                </p:cNvCxnSpPr>
                <p:nvPr/>
              </p:nvCxnSpPr>
              <p:spPr>
                <a:xfrm>
                  <a:off x="2028825" y="4229100"/>
                  <a:ext cx="1304743" cy="42215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7FC08B0A-8EED-A500-D09B-BE4578CEA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6349" y="3482778"/>
                <a:ext cx="6987729" cy="860621"/>
              </a:xfrm>
              <a:prstGeom prst="rect">
                <a:avLst/>
              </a:prstGeom>
            </p:spPr>
          </p:pic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B202492E-7242-8818-DE3A-AB9468026FFF}"/>
                  </a:ext>
                </a:extLst>
              </p:cNvPr>
              <p:cNvSpPr/>
              <p:nvPr/>
            </p:nvSpPr>
            <p:spPr>
              <a:xfrm>
                <a:off x="5200832" y="4062471"/>
                <a:ext cx="2542993" cy="2809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3877269C-5EE6-AA07-FE38-D20572476BC9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 flipV="1">
                <a:off x="6505575" y="4343399"/>
                <a:ext cx="0" cy="45396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C1792B51-C634-41BC-9C67-70A364C4A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7793"/>
            <a:stretch>
              <a:fillRect/>
            </a:stretch>
          </p:blipFill>
          <p:spPr>
            <a:xfrm>
              <a:off x="7505944" y="4797363"/>
              <a:ext cx="866896" cy="392088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427A6C0-DF9E-1DC3-A017-A8E8E673B837}"/>
                </a:ext>
              </a:extLst>
            </p:cNvPr>
            <p:cNvSpPr/>
            <p:nvPr/>
          </p:nvSpPr>
          <p:spPr>
            <a:xfrm>
              <a:off x="7505944" y="4797363"/>
              <a:ext cx="866896" cy="3920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C81231E8-5234-A103-B9ED-B060AAE1D6FC}"/>
                </a:ext>
              </a:extLst>
            </p:cNvPr>
            <p:cNvCxnSpPr>
              <a:stCxn id="25" idx="3"/>
              <a:endCxn id="35" idx="0"/>
            </p:cNvCxnSpPr>
            <p:nvPr/>
          </p:nvCxnSpPr>
          <p:spPr>
            <a:xfrm>
              <a:off x="7743825" y="4202935"/>
              <a:ext cx="195567" cy="5944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ED78C65A-680A-5E43-EDF8-0DA23E9F1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97867" y="5464005"/>
              <a:ext cx="3181621" cy="1247695"/>
            </a:xfrm>
            <a:prstGeom prst="rect">
              <a:avLst/>
            </a:prstGeom>
          </p:spPr>
        </p:pic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01D589F-0BE6-725E-FC45-EB11E29C47BC}"/>
                </a:ext>
              </a:extLst>
            </p:cNvPr>
            <p:cNvSpPr/>
            <p:nvPr/>
          </p:nvSpPr>
          <p:spPr>
            <a:xfrm>
              <a:off x="6876928" y="6310057"/>
              <a:ext cx="1062463" cy="3920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8332193-73AA-CA01-AA81-B7B7ABB013BE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 flipH="1">
              <a:off x="7401169" y="5189451"/>
              <a:ext cx="538223" cy="10970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166E9A95-A0BD-BD7D-D91F-A1FCA66BE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651"/>
            <a:stretch>
              <a:fillRect/>
            </a:stretch>
          </p:blipFill>
          <p:spPr>
            <a:xfrm>
              <a:off x="8858250" y="5476001"/>
              <a:ext cx="1453324" cy="523948"/>
            </a:xfrm>
            <a:prstGeom prst="rect">
              <a:avLst/>
            </a:prstGeom>
          </p:spPr>
        </p:pic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7F360CA7-5F1C-99D4-DBC0-E3F1AAA60D98}"/>
                </a:ext>
              </a:extLst>
            </p:cNvPr>
            <p:cNvCxnSpPr>
              <a:stCxn id="40" idx="3"/>
              <a:endCxn id="45" idx="2"/>
            </p:cNvCxnSpPr>
            <p:nvPr/>
          </p:nvCxnSpPr>
          <p:spPr>
            <a:xfrm flipV="1">
              <a:off x="7939391" y="5999949"/>
              <a:ext cx="1645521" cy="50615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612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03A74F2-2C5A-7F99-0809-838D57F781E3}"/>
              </a:ext>
            </a:extLst>
          </p:cNvPr>
          <p:cNvGrpSpPr/>
          <p:nvPr/>
        </p:nvGrpSpPr>
        <p:grpSpPr>
          <a:xfrm>
            <a:off x="669681" y="257175"/>
            <a:ext cx="5426319" cy="5257800"/>
            <a:chOff x="669681" y="257175"/>
            <a:chExt cx="5426319" cy="52578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08A8649-E91A-9E89-8B89-1543E0F88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681" y="257175"/>
              <a:ext cx="5426319" cy="52578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22AFAB3-FAC0-5C7D-6132-99D2283919F4}"/>
                </a:ext>
              </a:extLst>
            </p:cNvPr>
            <p:cNvSpPr/>
            <p:nvPr/>
          </p:nvSpPr>
          <p:spPr>
            <a:xfrm>
              <a:off x="3457575" y="5114925"/>
              <a:ext cx="1143000" cy="2190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F6EA2FE-24C9-6091-1A18-D064D788E977}"/>
              </a:ext>
            </a:extLst>
          </p:cNvPr>
          <p:cNvGrpSpPr/>
          <p:nvPr/>
        </p:nvGrpSpPr>
        <p:grpSpPr>
          <a:xfrm>
            <a:off x="7481499" y="186233"/>
            <a:ext cx="3434151" cy="3172727"/>
            <a:chOff x="6348024" y="257175"/>
            <a:chExt cx="4186626" cy="381846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9462756-84B1-B4D3-211C-CC07E3187A1C}"/>
                </a:ext>
              </a:extLst>
            </p:cNvPr>
            <p:cNvGrpSpPr/>
            <p:nvPr/>
          </p:nvGrpSpPr>
          <p:grpSpPr>
            <a:xfrm>
              <a:off x="6348024" y="257175"/>
              <a:ext cx="4186626" cy="3818468"/>
              <a:chOff x="6348024" y="257175"/>
              <a:chExt cx="4186626" cy="3818468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7688AA22-250F-A0BB-43D7-069A05C91054}"/>
                  </a:ext>
                </a:extLst>
              </p:cNvPr>
              <p:cNvGrpSpPr/>
              <p:nvPr/>
            </p:nvGrpSpPr>
            <p:grpSpPr>
              <a:xfrm>
                <a:off x="6348024" y="257175"/>
                <a:ext cx="4186626" cy="3818468"/>
                <a:chOff x="6348024" y="257175"/>
                <a:chExt cx="4186626" cy="3818468"/>
              </a:xfrm>
            </p:grpSpPr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015F4AD3-4C48-23B8-652D-82B55FF9F7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48024" y="257175"/>
                  <a:ext cx="4064356" cy="3362646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62B0C91-2E0E-57B7-2700-DABDF2461011}"/>
                    </a:ext>
                  </a:extLst>
                </p:cNvPr>
                <p:cNvSpPr txBox="1"/>
                <p:nvPr/>
              </p:nvSpPr>
              <p:spPr>
                <a:xfrm>
                  <a:off x="6353175" y="3705225"/>
                  <a:ext cx="4181475" cy="3704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/>
                    <a:t>최근 </a:t>
                  </a:r>
                  <a:r>
                    <a:rPr lang="en-US" altLang="ko-KR" sz="1400"/>
                    <a:t>5</a:t>
                  </a:r>
                  <a:r>
                    <a:rPr lang="ko-KR" altLang="en-US" sz="1400"/>
                    <a:t>분 을 기점으로 확인하기</a:t>
                  </a:r>
                </a:p>
              </p:txBody>
            </p:sp>
          </p:grp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CB96BEA-9871-DB9E-89C2-1A4952033B3F}"/>
                  </a:ext>
                </a:extLst>
              </p:cNvPr>
              <p:cNvSpPr/>
              <p:nvPr/>
            </p:nvSpPr>
            <p:spPr>
              <a:xfrm>
                <a:off x="8639175" y="428625"/>
                <a:ext cx="581025" cy="2571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C5FE2F-2C3F-F227-C370-8D52FC486FBF}"/>
                </a:ext>
              </a:extLst>
            </p:cNvPr>
            <p:cNvSpPr/>
            <p:nvPr/>
          </p:nvSpPr>
          <p:spPr>
            <a:xfrm>
              <a:off x="7077075" y="1123950"/>
              <a:ext cx="581025" cy="2571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0733507-4F69-661A-E19D-477B133E335D}"/>
                </a:ext>
              </a:extLst>
            </p:cNvPr>
            <p:cNvSpPr/>
            <p:nvPr/>
          </p:nvSpPr>
          <p:spPr>
            <a:xfrm>
              <a:off x="9525000" y="3171825"/>
              <a:ext cx="714375" cy="2571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FF925DA-1145-90C3-00E2-ED038DAF4032}"/>
              </a:ext>
            </a:extLst>
          </p:cNvPr>
          <p:cNvGrpSpPr/>
          <p:nvPr/>
        </p:nvGrpSpPr>
        <p:grpSpPr>
          <a:xfrm>
            <a:off x="7119549" y="3429000"/>
            <a:ext cx="4300926" cy="2908101"/>
            <a:chOff x="6348024" y="3429001"/>
            <a:chExt cx="4300926" cy="2908101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0818673-8B1F-B419-2C8B-B813395CD5B4}"/>
                </a:ext>
              </a:extLst>
            </p:cNvPr>
            <p:cNvGrpSpPr/>
            <p:nvPr/>
          </p:nvGrpSpPr>
          <p:grpSpPr>
            <a:xfrm>
              <a:off x="6348024" y="3429001"/>
              <a:ext cx="4177101" cy="2460242"/>
              <a:chOff x="6348024" y="3429001"/>
              <a:chExt cx="4177101" cy="2460242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CBB6C822-C3A6-9C0B-362D-62616EF5EB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48024" y="3429001"/>
                <a:ext cx="4177101" cy="2460242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8EB554D-9EDB-564F-551B-9AB6988A7CAD}"/>
                  </a:ext>
                </a:extLst>
              </p:cNvPr>
              <p:cNvSpPr/>
              <p:nvPr/>
            </p:nvSpPr>
            <p:spPr>
              <a:xfrm>
                <a:off x="6348024" y="3705225"/>
                <a:ext cx="948126" cy="2190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4516BC1-596A-E4F9-5659-73FC07E0B207}"/>
                </a:ext>
              </a:extLst>
            </p:cNvPr>
            <p:cNvSpPr txBox="1"/>
            <p:nvPr/>
          </p:nvSpPr>
          <p:spPr>
            <a:xfrm>
              <a:off x="6348024" y="6029325"/>
              <a:ext cx="43009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</a:t>
              </a:r>
              <a:r>
                <a:rPr lang="ko-KR" altLang="en-US" sz="1400"/>
                <a:t>초 간격으로 보기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277C9C-623C-8236-28A0-E9A0C920B4B5}"/>
              </a:ext>
            </a:extLst>
          </p:cNvPr>
          <p:cNvSpPr/>
          <p:nvPr/>
        </p:nvSpPr>
        <p:spPr>
          <a:xfrm>
            <a:off x="4674199" y="5024437"/>
            <a:ext cx="438150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812F8C-9472-156E-92FA-2B6F488B010E}"/>
              </a:ext>
            </a:extLst>
          </p:cNvPr>
          <p:cNvSpPr/>
          <p:nvPr/>
        </p:nvSpPr>
        <p:spPr>
          <a:xfrm>
            <a:off x="10194619" y="556070"/>
            <a:ext cx="438150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BBDD93-590D-9785-EC3B-E851D73E4308}"/>
              </a:ext>
            </a:extLst>
          </p:cNvPr>
          <p:cNvSpPr/>
          <p:nvPr/>
        </p:nvSpPr>
        <p:spPr>
          <a:xfrm>
            <a:off x="9463087" y="3758536"/>
            <a:ext cx="438150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957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AFA3A0-A58B-4FA5-6459-9ABFF076F413}"/>
              </a:ext>
            </a:extLst>
          </p:cNvPr>
          <p:cNvSpPr txBox="1"/>
          <p:nvPr/>
        </p:nvSpPr>
        <p:spPr>
          <a:xfrm>
            <a:off x="161925" y="1905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비용상 향상된 모니터링 꺼야할 때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BF6F9A4-E6AB-9A4B-2133-7F136A958608}"/>
              </a:ext>
            </a:extLst>
          </p:cNvPr>
          <p:cNvGrpSpPr/>
          <p:nvPr/>
        </p:nvGrpSpPr>
        <p:grpSpPr>
          <a:xfrm>
            <a:off x="366397" y="778938"/>
            <a:ext cx="8058704" cy="1419423"/>
            <a:chOff x="366397" y="778938"/>
            <a:chExt cx="8058704" cy="141942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1CECC55-F0CF-AE12-4181-21AA9E412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5149" y="778938"/>
              <a:ext cx="3419952" cy="141942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11A256C-D41B-08B0-2614-61B84B74F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97" y="778938"/>
              <a:ext cx="4525006" cy="98121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BF77823-F808-F82B-8D5D-BF06EF0030FB}"/>
                </a:ext>
              </a:extLst>
            </p:cNvPr>
            <p:cNvSpPr/>
            <p:nvPr/>
          </p:nvSpPr>
          <p:spPr>
            <a:xfrm>
              <a:off x="6638925" y="1760150"/>
              <a:ext cx="695325" cy="316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33B9D1DA-E943-8850-487D-41A02A938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9" y="2324099"/>
            <a:ext cx="4599421" cy="260057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7C9D53-8C1F-BB72-6E4D-822D0EF6C723}"/>
              </a:ext>
            </a:extLst>
          </p:cNvPr>
          <p:cNvSpPr/>
          <p:nvPr/>
        </p:nvSpPr>
        <p:spPr>
          <a:xfrm>
            <a:off x="447675" y="4276725"/>
            <a:ext cx="1981200" cy="523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8F6326-EFB6-37C4-7AAD-03F4869016B2}"/>
              </a:ext>
            </a:extLst>
          </p:cNvPr>
          <p:cNvCxnSpPr>
            <a:stCxn id="7" idx="2"/>
          </p:cNvCxnSpPr>
          <p:nvPr/>
        </p:nvCxnSpPr>
        <p:spPr>
          <a:xfrm flipH="1">
            <a:off x="2428875" y="2076450"/>
            <a:ext cx="4557713" cy="2447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695E95-8B2F-428A-C2A5-86CCB11D3563}"/>
              </a:ext>
            </a:extLst>
          </p:cNvPr>
          <p:cNvSpPr txBox="1"/>
          <p:nvPr/>
        </p:nvSpPr>
        <p:spPr>
          <a:xfrm>
            <a:off x="447675" y="4924674"/>
            <a:ext cx="3057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향상된 모니터링 끄기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계속 버튼 클릭 </a:t>
            </a:r>
            <a:r>
              <a:rPr lang="en-US" altLang="ko-KR" sz="1200"/>
              <a:t>-&gt; </a:t>
            </a:r>
            <a:r>
              <a:rPr lang="ko-KR" altLang="en-US" sz="1200"/>
              <a:t>인스턴스 수정 버튼 클릭</a:t>
            </a:r>
          </a:p>
        </p:txBody>
      </p:sp>
    </p:spTree>
    <p:extLst>
      <p:ext uri="{BB962C8B-B14F-4D97-AF65-F5344CB8AC3E}">
        <p14:creationId xmlns:p14="http://schemas.microsoft.com/office/powerpoint/2010/main" val="131891474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283</TotalTime>
  <Words>1307</Words>
  <Application>Microsoft Office PowerPoint</Application>
  <PresentationFormat>와이드스크린</PresentationFormat>
  <Paragraphs>187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2" baseType="lpstr">
      <vt:lpstr>Noto Sans KR</vt:lpstr>
      <vt:lpstr>Calibri</vt:lpstr>
      <vt:lpstr>Calibri Light</vt:lpstr>
      <vt:lpstr>Wingdings</vt:lpstr>
      <vt:lpstr>추억</vt:lpstr>
      <vt:lpstr>부하테스트 모니터링</vt:lpstr>
      <vt:lpstr>DB Production 환경 동기화(더미 데이터 100만개 입력)</vt:lpstr>
      <vt:lpstr>실제 프로덕션 환경에 맞는 시나리오 K6스크립트 작성(1)</vt:lpstr>
      <vt:lpstr>실제 프로덕션 환경에 맞는 시나리오 K6스크립트 작성(2)</vt:lpstr>
      <vt:lpstr>K6 부하테스트 스크립트 실행</vt:lpstr>
      <vt:lpstr>K6 모니터링</vt:lpstr>
      <vt:lpstr>성능개선 의심점 </vt:lpstr>
      <vt:lpstr>모니터링이란?</vt:lpstr>
      <vt:lpstr>메트릭</vt:lpstr>
      <vt:lpstr>CPU, 메모리, 디스크</vt:lpstr>
      <vt:lpstr>CPU를 많이 사용하는 작업</vt:lpstr>
      <vt:lpstr>메모리를 많이 쓰는 작업</vt:lpstr>
      <vt:lpstr>DB 와 Back-end 주요 자원</vt:lpstr>
      <vt:lpstr>로드밸런서와 캐시서버 주요자원</vt:lpstr>
      <vt:lpstr>EC2 서버 인스턴스의 모니터링 확인</vt:lpstr>
      <vt:lpstr>EC2에 클라우드 워치 에이전트 설치(1)</vt:lpstr>
      <vt:lpstr>EC2에 클라우드 워치 에이전트 설치(2)</vt:lpstr>
      <vt:lpstr>EC2에 클라우드 워치 에이전트 설치(3)</vt:lpstr>
      <vt:lpstr>EC2에 클라우드 워치 에이전트 설치(4)</vt:lpstr>
      <vt:lpstr>PowerPoint 프레젠테이션</vt:lpstr>
      <vt:lpstr>PowerPoint 프레젠테이션</vt:lpstr>
      <vt:lpstr>PowerPoint 프레젠테이션</vt:lpstr>
      <vt:lpstr>amazon-cloudwatch-agent 실행</vt:lpstr>
      <vt:lpstr>수집이 잘되고 있는지 확인하기</vt:lpstr>
      <vt:lpstr>모니터링 간격 맞추기</vt:lpstr>
      <vt:lpstr>1분 간격으로 확인하기</vt:lpstr>
      <vt:lpstr>RDS 서버(DB서버) 메모리/사용률 셋팅</vt:lpstr>
      <vt:lpstr>PowerPoint 프레젠테이션</vt:lpstr>
      <vt:lpstr>PowerPoint 프레젠테이션</vt:lpstr>
      <vt:lpstr>PowerPoint 프레젠테이션</vt:lpstr>
      <vt:lpstr>EC2, DB 등 각 서버의CPU,Momory 한눈에 보도록 셋팅하기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RDS 의 향상된 모니터링 설정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74</cp:revision>
  <dcterms:created xsi:type="dcterms:W3CDTF">2026-08-19T11:57:39Z</dcterms:created>
  <dcterms:modified xsi:type="dcterms:W3CDTF">2026-08-20T14:04:30Z</dcterms:modified>
</cp:coreProperties>
</file>