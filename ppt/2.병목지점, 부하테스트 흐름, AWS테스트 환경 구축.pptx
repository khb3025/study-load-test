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66" r:id="rId13"/>
    <p:sldId id="267" r:id="rId14"/>
    <p:sldId id="268" r:id="rId15"/>
    <p:sldId id="269" r:id="rId16"/>
    <p:sldId id="271" r:id="rId17"/>
    <p:sldId id="272" r:id="rId18"/>
    <p:sldId id="273" r:id="rId19"/>
    <p:sldId id="275" r:id="rId20"/>
    <p:sldId id="274" r:id="rId21"/>
    <p:sldId id="276" r:id="rId22"/>
    <p:sldId id="277" r:id="rId23"/>
    <p:sldId id="278" r:id="rId24"/>
    <p:sldId id="279" r:id="rId25"/>
    <p:sldId id="281" r:id="rId26"/>
    <p:sldId id="282" r:id="rId27"/>
    <p:sldId id="283" r:id="rId28"/>
    <p:sldId id="284" r:id="rId29"/>
    <p:sldId id="285" r:id="rId30"/>
    <p:sldId id="286" r:id="rId31"/>
    <p:sldId id="287" r:id="rId32"/>
  </p:sldIdLst>
  <p:sldSz cx="12192000" cy="6858000"/>
  <p:notesSz cx="7105650" cy="10236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45A3A04-13B7-44D3-A734-DA38127BF743}">
          <p14:sldIdLst>
            <p14:sldId id="256"/>
          </p14:sldIdLst>
        </p14:section>
        <p14:section name="병목지점의 개념과 특징" id="{5C132CE1-B35E-4574-A193-523D6B0BBD0A}">
          <p14:sldIdLst>
            <p14:sldId id="257"/>
            <p14:sldId id="259"/>
            <p14:sldId id="258"/>
            <p14:sldId id="260"/>
            <p14:sldId id="261"/>
          </p14:sldIdLst>
        </p14:section>
        <p14:section name="부하테스트 시 주의점" id="{FA500275-C115-403A-9A04-B2F1132E6546}">
          <p14:sldIdLst>
            <p14:sldId id="262"/>
          </p14:sldIdLst>
        </p14:section>
        <p14:section name="병목지점과 인프라 구성" id="{2342CE1E-353E-4439-BAF7-285B40825585}">
          <p14:sldIdLst>
            <p14:sldId id="263"/>
          </p14:sldIdLst>
        </p14:section>
        <p14:section name="AWS EC2셋팅" id="{EA88E7E9-0531-443D-8A29-9CA9AA61BDC3}">
          <p14:sldIdLst>
            <p14:sldId id="264"/>
            <p14:sldId id="265"/>
          </p14:sldIdLst>
        </p14:section>
        <p14:section name="AWS RDS 셋팅하기" id="{EDF9FE56-175F-4436-A4D3-8A3E1BFB85BC}">
          <p14:sldIdLst>
            <p14:sldId id="270"/>
            <p14:sldId id="266"/>
            <p14:sldId id="267"/>
            <p14:sldId id="268"/>
            <p14:sldId id="269"/>
            <p14:sldId id="271"/>
            <p14:sldId id="272"/>
            <p14:sldId id="273"/>
          </p14:sldIdLst>
        </p14:section>
        <p14:section name="AWS ELB 생성하기" id="{5584C47A-9CD9-4912-A392-5A045ED283C9}">
          <p14:sldIdLst>
            <p14:sldId id="275"/>
            <p14:sldId id="274"/>
            <p14:sldId id="276"/>
            <p14:sldId id="277"/>
            <p14:sldId id="278"/>
            <p14:sldId id="279"/>
          </p14:sldIdLst>
        </p14:section>
        <p14:section name="EC2 서버에 Spring Boot 셋팅하기" id="{12F53457-9EEC-491E-836A-D9785F6E9CF8}">
          <p14:sldIdLst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53" autoAdjust="0"/>
    <p:restoredTop sz="94530" autoAdjust="0"/>
  </p:normalViewPr>
  <p:slideViewPr>
    <p:cSldViewPr snapToGrid="0">
      <p:cViewPr varScale="1">
        <p:scale>
          <a:sx n="107" d="100"/>
          <a:sy n="107" d="100"/>
        </p:scale>
        <p:origin x="138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D9EB5-4C5B-40D7-9BAB-C05CA905858D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83A03-9464-4996-B7FA-A9CF79F91D02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207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D9EB5-4C5B-40D7-9BAB-C05CA905858D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83A03-9464-4996-B7FA-A9CF79F9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515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D9EB5-4C5B-40D7-9BAB-C05CA905858D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83A03-9464-4996-B7FA-A9CF79F91D02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5817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D9EB5-4C5B-40D7-9BAB-C05CA905858D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83A03-9464-4996-B7FA-A9CF79F9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9717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D9EB5-4C5B-40D7-9BAB-C05CA905858D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83A03-9464-4996-B7FA-A9CF79F9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0189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D9EB5-4C5B-40D7-9BAB-C05CA905858D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83A03-9464-4996-B7FA-A9CF79F9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4974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D9EB5-4C5B-40D7-9BAB-C05CA905858D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83A03-9464-4996-B7FA-A9CF79F9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9436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8DD9EB5-4C5B-40D7-9BAB-C05CA905858D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3D83A03-9464-4996-B7FA-A9CF79F9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793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D9EB5-4C5B-40D7-9BAB-C05CA905858D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83A03-9464-4996-B7FA-A9CF79F9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9706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D9EB5-4C5B-40D7-9BAB-C05CA905858D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83A03-9464-4996-B7FA-A9CF79F9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6285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D9EB5-4C5B-40D7-9BAB-C05CA905858D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83A03-9464-4996-B7FA-A9CF79F9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4143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8DD9EB5-4C5B-40D7-9BAB-C05CA905858D}" type="datetimeFigureOut">
              <a:rPr lang="ko-KR" altLang="en-US" smtClean="0"/>
              <a:t>2026-08-19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3D83A03-9464-4996-B7FA-A9CF79F91D02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2216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SCODE-COURSE/load-testing-server.git" TargetMode="External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578001-9A39-12F7-2B88-C690151FFF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병목 지점 진단하기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210E429-7AEE-41AF-47E6-3A5A89E7BA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0514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D67E34-B4DF-3F63-FC3E-BC60DB17C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병목 지점의 개념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0B3C575-CB03-752F-E77F-BB21A993AC97}"/>
              </a:ext>
            </a:extLst>
          </p:cNvPr>
          <p:cNvGrpSpPr/>
          <p:nvPr/>
        </p:nvGrpSpPr>
        <p:grpSpPr>
          <a:xfrm>
            <a:off x="2493235" y="1990389"/>
            <a:ext cx="7385871" cy="3878744"/>
            <a:chOff x="2493235" y="1990389"/>
            <a:chExt cx="7385871" cy="3878744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6712BADD-D782-A9A0-B73F-1E8C18E6415C}"/>
                </a:ext>
              </a:extLst>
            </p:cNvPr>
            <p:cNvGrpSpPr/>
            <p:nvPr/>
          </p:nvGrpSpPr>
          <p:grpSpPr>
            <a:xfrm>
              <a:off x="2493235" y="1990389"/>
              <a:ext cx="7385871" cy="3878744"/>
              <a:chOff x="2493235" y="1990389"/>
              <a:chExt cx="7385871" cy="3878744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C445D5BF-41B9-898C-A224-E61DEC0085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493235" y="1990389"/>
                <a:ext cx="7385871" cy="3878744"/>
              </a:xfrm>
              <a:prstGeom prst="rect">
                <a:avLst/>
              </a:prstGeom>
            </p:spPr>
          </p:pic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56BE28B2-FA8F-CCDC-E9BF-184BF6E92A67}"/>
                  </a:ext>
                </a:extLst>
              </p:cNvPr>
              <p:cNvSpPr/>
              <p:nvPr/>
            </p:nvSpPr>
            <p:spPr>
              <a:xfrm>
                <a:off x="2538059" y="3160060"/>
                <a:ext cx="3478306" cy="20170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4563179-E537-7920-2BAE-3CD07C17F664}"/>
                </a:ext>
              </a:extLst>
            </p:cNvPr>
            <p:cNvSpPr/>
            <p:nvPr/>
          </p:nvSpPr>
          <p:spPr>
            <a:xfrm>
              <a:off x="8283388" y="2868707"/>
              <a:ext cx="1595718" cy="304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21111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14D949-7088-4C8D-F7D7-62F0A58E7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Throughput</a:t>
            </a:r>
            <a:r>
              <a:rPr lang="ko-KR" altLang="en-US"/>
              <a:t>과 병목지점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7BF9F1D-E769-82F6-21FE-893DF3D87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294" y="2079815"/>
            <a:ext cx="9088118" cy="395342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32412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E02E5B-E189-E9B4-1ED3-6CF3ED4E3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부하테스트의 전체 흐름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01A7090-425C-944F-B350-376FBF1D1D78}"/>
              </a:ext>
            </a:extLst>
          </p:cNvPr>
          <p:cNvGrpSpPr/>
          <p:nvPr/>
        </p:nvGrpSpPr>
        <p:grpSpPr>
          <a:xfrm>
            <a:off x="2331234" y="1909571"/>
            <a:ext cx="7359613" cy="4481477"/>
            <a:chOff x="2331234" y="1909571"/>
            <a:chExt cx="7359613" cy="448147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16F34227-13BC-6B57-A19A-46E4B54B80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89077" y="1909571"/>
              <a:ext cx="7013846" cy="2075231"/>
            </a:xfrm>
            <a:prstGeom prst="rect">
              <a:avLst/>
            </a:prstGeom>
          </p:spPr>
        </p:pic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98219EB4-81F4-A22A-13F0-CF6D333519A0}"/>
                </a:ext>
              </a:extLst>
            </p:cNvPr>
            <p:cNvGrpSpPr/>
            <p:nvPr/>
          </p:nvGrpSpPr>
          <p:grpSpPr>
            <a:xfrm>
              <a:off x="2331234" y="4157013"/>
              <a:ext cx="7359613" cy="2234035"/>
              <a:chOff x="2331234" y="4157013"/>
              <a:chExt cx="7359613" cy="2234035"/>
            </a:xfrm>
          </p:grpSpPr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B3161933-6D10-019E-B65D-5116EB17EF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31234" y="4157013"/>
                <a:ext cx="7359613" cy="2234035"/>
              </a:xfrm>
              <a:prstGeom prst="rect">
                <a:avLst/>
              </a:prstGeom>
            </p:spPr>
          </p:pic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B2FFEB92-CAF8-FDDC-B252-215D38323D35}"/>
                  </a:ext>
                </a:extLst>
              </p:cNvPr>
              <p:cNvSpPr/>
              <p:nvPr/>
            </p:nvSpPr>
            <p:spPr>
              <a:xfrm>
                <a:off x="3245224" y="6078071"/>
                <a:ext cx="3693458" cy="31297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9" name="화살표: 아래쪽 8">
              <a:extLst>
                <a:ext uri="{FF2B5EF4-FFF2-40B4-BE49-F238E27FC236}">
                  <a16:creationId xmlns:a16="http://schemas.microsoft.com/office/drawing/2014/main" id="{C4F6CD99-AABA-418E-0E0D-4F45525AEEA5}"/>
                </a:ext>
              </a:extLst>
            </p:cNvPr>
            <p:cNvSpPr/>
            <p:nvPr/>
          </p:nvSpPr>
          <p:spPr>
            <a:xfrm>
              <a:off x="5522258" y="3837826"/>
              <a:ext cx="1147483" cy="466164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0990F479-EB45-34D9-A357-531132E1BEE7}"/>
              </a:ext>
            </a:extLst>
          </p:cNvPr>
          <p:cNvSpPr txBox="1"/>
          <p:nvPr/>
        </p:nvSpPr>
        <p:spPr>
          <a:xfrm>
            <a:off x="385482" y="2052918"/>
            <a:ext cx="21156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/>
              <a:t>병목지점인 </a:t>
            </a:r>
            <a:r>
              <a:rPr lang="en-US" altLang="ko-KR" sz="1000"/>
              <a:t>2</a:t>
            </a:r>
            <a:r>
              <a:rPr lang="ko-KR" altLang="en-US" sz="1000"/>
              <a:t>차선도로를</a:t>
            </a:r>
            <a:br>
              <a:rPr lang="en-US" altLang="ko-KR" sz="1000"/>
            </a:br>
            <a:r>
              <a:rPr lang="en-US" altLang="ko-KR" sz="1000"/>
              <a:t>4</a:t>
            </a:r>
            <a:r>
              <a:rPr lang="ko-KR" altLang="en-US" sz="1000"/>
              <a:t>차선으로 늘렸다</a:t>
            </a:r>
            <a:r>
              <a:rPr lang="en-US" altLang="ko-KR" sz="1000"/>
              <a:t>. </a:t>
            </a:r>
            <a:r>
              <a:rPr lang="ko-KR" altLang="en-US" sz="1000"/>
              <a:t>그러나 </a:t>
            </a:r>
            <a:r>
              <a:rPr lang="en-US" altLang="ko-KR" sz="1000"/>
              <a:t>3</a:t>
            </a:r>
            <a:r>
              <a:rPr lang="ko-KR" altLang="en-US" sz="1000"/>
              <a:t>차선 도로의 성능은 </a:t>
            </a:r>
            <a:r>
              <a:rPr lang="en-US" altLang="ko-KR" sz="1000"/>
              <a:t>4</a:t>
            </a:r>
            <a:r>
              <a:rPr lang="ko-KR" altLang="en-US" sz="1000"/>
              <a:t>차선보다 못하므로 </a:t>
            </a:r>
            <a:r>
              <a:rPr lang="en-US" altLang="ko-KR" sz="1000"/>
              <a:t>3</a:t>
            </a:r>
            <a:r>
              <a:rPr lang="ko-KR" altLang="en-US" sz="1000"/>
              <a:t>차선도로가 새로운 병목지점이 되었다</a:t>
            </a:r>
            <a:r>
              <a:rPr lang="en-US" altLang="ko-KR" sz="1000"/>
              <a:t>.</a:t>
            </a:r>
            <a:endParaRPr lang="ko-KR" altLang="en-US" sz="1000"/>
          </a:p>
        </p:txBody>
      </p:sp>
    </p:spTree>
    <p:extLst>
      <p:ext uri="{BB962C8B-B14F-4D97-AF65-F5344CB8AC3E}">
        <p14:creationId xmlns:p14="http://schemas.microsoft.com/office/powerpoint/2010/main" val="1118139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DA6776-A1A5-43AD-7B63-8763429C2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부하테스트의 전체 흐름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E43D77F-A423-8AF7-2513-5DCC13E45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73528"/>
            <a:ext cx="4559000" cy="96828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EE0F842-E82E-B119-E3D2-2B9DEB210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986196"/>
            <a:ext cx="3633876" cy="182349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CE2E944-F94D-643D-C769-A5961740E7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9379" y="5003384"/>
            <a:ext cx="6728527" cy="699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687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FE76C-EE5D-E2F9-911C-C949BE8B9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0EDECD-608B-3443-A310-749ABA501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부하테스트의 전체 흐름</a:t>
            </a:r>
            <a:r>
              <a:rPr lang="en-US" altLang="ko-KR"/>
              <a:t>-2</a:t>
            </a:r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5D92C335-957B-4667-919D-9C30C87C5BEB}"/>
              </a:ext>
            </a:extLst>
          </p:cNvPr>
          <p:cNvGrpSpPr/>
          <p:nvPr/>
        </p:nvGrpSpPr>
        <p:grpSpPr>
          <a:xfrm>
            <a:off x="1190004" y="1853103"/>
            <a:ext cx="9132976" cy="1000265"/>
            <a:chOff x="1190004" y="1853103"/>
            <a:chExt cx="9132976" cy="1000265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9B881513-F45C-6264-6656-A55953AF2BEA}"/>
                </a:ext>
              </a:extLst>
            </p:cNvPr>
            <p:cNvGrpSpPr/>
            <p:nvPr/>
          </p:nvGrpSpPr>
          <p:grpSpPr>
            <a:xfrm>
              <a:off x="1190004" y="1853103"/>
              <a:ext cx="8897592" cy="1000265"/>
              <a:chOff x="1190004" y="1853103"/>
              <a:chExt cx="8897592" cy="1000265"/>
            </a:xfrm>
          </p:grpSpPr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FA4F2803-F31D-22D7-1C87-3276F1A84D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190004" y="1853103"/>
                <a:ext cx="8897592" cy="1000265"/>
              </a:xfrm>
              <a:prstGeom prst="rect">
                <a:avLst/>
              </a:prstGeom>
            </p:spPr>
          </p:pic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BE4013FF-5E57-65A8-F1F4-6E947E6B9F82}"/>
                  </a:ext>
                </a:extLst>
              </p:cNvPr>
              <p:cNvSpPr/>
              <p:nvPr/>
            </p:nvSpPr>
            <p:spPr>
              <a:xfrm>
                <a:off x="1272988" y="2250141"/>
                <a:ext cx="2904565" cy="215153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45878AA-AB4D-B2BC-2A02-39A3E1C72B3A}"/>
                </a:ext>
              </a:extLst>
            </p:cNvPr>
            <p:cNvSpPr/>
            <p:nvPr/>
          </p:nvSpPr>
          <p:spPr>
            <a:xfrm>
              <a:off x="9565341" y="2250141"/>
              <a:ext cx="757639" cy="21515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F66911D-D96D-E58D-CE77-F9C6000E4880}"/>
                </a:ext>
              </a:extLst>
            </p:cNvPr>
            <p:cNvSpPr/>
            <p:nvPr/>
          </p:nvSpPr>
          <p:spPr>
            <a:xfrm>
              <a:off x="1272988" y="2465294"/>
              <a:ext cx="932330" cy="27790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54ED8386-C99B-625B-7068-F47D3CA567DC}"/>
              </a:ext>
            </a:extLst>
          </p:cNvPr>
          <p:cNvGrpSpPr/>
          <p:nvPr/>
        </p:nvGrpSpPr>
        <p:grpSpPr>
          <a:xfrm>
            <a:off x="1272988" y="3084542"/>
            <a:ext cx="8063962" cy="1290234"/>
            <a:chOff x="1272988" y="3084542"/>
            <a:chExt cx="8063962" cy="1290234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D86C1B33-CCE2-D5A0-73E4-86E8217EE2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72988" y="3084542"/>
              <a:ext cx="8063962" cy="1290234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7639A93-129E-8379-23DC-DA8389C268CA}"/>
                </a:ext>
              </a:extLst>
            </p:cNvPr>
            <p:cNvSpPr/>
            <p:nvPr/>
          </p:nvSpPr>
          <p:spPr>
            <a:xfrm>
              <a:off x="1272988" y="3429000"/>
              <a:ext cx="4240306" cy="2196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294F8F06-39A4-480D-A34C-6042E55F2670}"/>
                </a:ext>
              </a:extLst>
            </p:cNvPr>
            <p:cNvSpPr/>
            <p:nvPr/>
          </p:nvSpPr>
          <p:spPr>
            <a:xfrm>
              <a:off x="1272988" y="3901888"/>
              <a:ext cx="6122894" cy="2196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C713AB56-6AB3-1D3E-1151-6CAC5D0FC132}"/>
                </a:ext>
              </a:extLst>
            </p:cNvPr>
            <p:cNvSpPr/>
            <p:nvPr/>
          </p:nvSpPr>
          <p:spPr>
            <a:xfrm>
              <a:off x="1532964" y="4121522"/>
              <a:ext cx="2124635" cy="25325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71661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CF5A5F-ACC1-1C18-5088-89B72E4C6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부하 테스트 시 주의점 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1A14BAC9-17FE-3F96-3A37-4655FE0B77DC}"/>
              </a:ext>
            </a:extLst>
          </p:cNvPr>
          <p:cNvGrpSpPr/>
          <p:nvPr/>
        </p:nvGrpSpPr>
        <p:grpSpPr>
          <a:xfrm>
            <a:off x="1199779" y="1848892"/>
            <a:ext cx="7890434" cy="4908349"/>
            <a:chOff x="1199779" y="1848892"/>
            <a:chExt cx="7890434" cy="490834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6208324E-957A-5141-D53D-46D70EFC0B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9779" y="1848892"/>
              <a:ext cx="7890434" cy="490834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0AD9BDA-D3EA-1CD3-DF4F-5B21BD457989}"/>
                </a:ext>
              </a:extLst>
            </p:cNvPr>
            <p:cNvSpPr/>
            <p:nvPr/>
          </p:nvSpPr>
          <p:spPr>
            <a:xfrm>
              <a:off x="1335741" y="3316941"/>
              <a:ext cx="3711388" cy="23308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58C77FE-F5ED-2CFC-DCD8-C5784A657593}"/>
                </a:ext>
              </a:extLst>
            </p:cNvPr>
            <p:cNvSpPr/>
            <p:nvPr/>
          </p:nvSpPr>
          <p:spPr>
            <a:xfrm>
              <a:off x="5423647" y="3316941"/>
              <a:ext cx="609600" cy="25101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128F0D80-3E33-1B63-F621-2BB25420213D}"/>
              </a:ext>
            </a:extLst>
          </p:cNvPr>
          <p:cNvSpPr/>
          <p:nvPr/>
        </p:nvSpPr>
        <p:spPr>
          <a:xfrm>
            <a:off x="1335741" y="4634753"/>
            <a:ext cx="6499412" cy="2330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A949AA9A-4286-A216-1EEA-29D7FD981952}"/>
              </a:ext>
            </a:extLst>
          </p:cNvPr>
          <p:cNvGrpSpPr/>
          <p:nvPr/>
        </p:nvGrpSpPr>
        <p:grpSpPr>
          <a:xfrm>
            <a:off x="1335741" y="4536141"/>
            <a:ext cx="10596283" cy="2151797"/>
            <a:chOff x="1335741" y="4536141"/>
            <a:chExt cx="10596283" cy="215179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2029F05-363F-FC05-E71B-F3B4EC0D838B}"/>
                </a:ext>
              </a:extLst>
            </p:cNvPr>
            <p:cNvSpPr/>
            <p:nvPr/>
          </p:nvSpPr>
          <p:spPr>
            <a:xfrm>
              <a:off x="1335741" y="6131859"/>
              <a:ext cx="7337612" cy="55607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2DB820CE-B99E-8A2E-35A4-983EEE8DD421}"/>
                </a:ext>
              </a:extLst>
            </p:cNvPr>
            <p:cNvCxnSpPr/>
            <p:nvPr/>
          </p:nvCxnSpPr>
          <p:spPr>
            <a:xfrm flipV="1">
              <a:off x="8695765" y="5423647"/>
              <a:ext cx="1192306" cy="995082"/>
            </a:xfrm>
            <a:prstGeom prst="straightConnector1">
              <a:avLst/>
            </a:prstGeom>
            <a:ln>
              <a:solidFill>
                <a:schemeClr val="accent3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E4B5E69-1010-3CFD-43F4-E4F671F80D5B}"/>
                </a:ext>
              </a:extLst>
            </p:cNvPr>
            <p:cNvSpPr txBox="1"/>
            <p:nvPr/>
          </p:nvSpPr>
          <p:spPr>
            <a:xfrm>
              <a:off x="9888071" y="4536141"/>
              <a:ext cx="2043953" cy="1200329"/>
            </a:xfrm>
            <a:prstGeom prst="rect">
              <a:avLst/>
            </a:prstGeom>
            <a:noFill/>
            <a:ln>
              <a:solidFill>
                <a:schemeClr val="accent3">
                  <a:lumMod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ko-KR" altLang="en-US" sz="1200"/>
                <a:t>테스트를 위해 부하를 발생시키는 서비스는 분리되어야함 </a:t>
              </a:r>
              <a:r>
                <a:rPr lang="en-US" altLang="ko-KR" sz="1200"/>
                <a:t>K6</a:t>
              </a:r>
              <a:r>
                <a:rPr lang="ko-KR" altLang="en-US" sz="1200"/>
                <a:t>서버</a:t>
              </a:r>
              <a:endParaRPr lang="en-US" altLang="ko-KR" sz="1200"/>
            </a:p>
            <a:p>
              <a:r>
                <a:rPr lang="en-US" altLang="ko-KR" sz="1200"/>
                <a:t>(</a:t>
              </a:r>
              <a:r>
                <a:rPr lang="ko-KR" altLang="en-US" sz="1200"/>
                <a:t>부하를 발생시키는 서비스가 실제 서버의 성능을 잡아먹음</a:t>
              </a:r>
              <a:r>
                <a:rPr lang="en-US" altLang="ko-KR" sz="1200"/>
                <a:t>)</a:t>
              </a:r>
              <a:endParaRPr lang="ko-KR" altLang="en-US" sz="1200"/>
            </a:p>
          </p:txBody>
        </p:sp>
      </p:grpSp>
    </p:spTree>
    <p:extLst>
      <p:ext uri="{BB962C8B-B14F-4D97-AF65-F5344CB8AC3E}">
        <p14:creationId xmlns:p14="http://schemas.microsoft.com/office/powerpoint/2010/main" val="2741142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D7B04-1D72-725F-3089-91EB4D5CD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/>
              <a:t>병목지점 파악을 위한 인프라 아키텍처 구성 파악하기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F08E1DF-0B2B-1803-33FF-A0D8CD971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691" y="2036586"/>
            <a:ext cx="8203323" cy="4534811"/>
          </a:xfrm>
          <a:prstGeom prst="rect">
            <a:avLst/>
          </a:prstGeom>
          <a:ln>
            <a:solidFill>
              <a:schemeClr val="accent3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33704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483CAE5-BF11-ABD9-D69E-325CA951A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73" y="167738"/>
            <a:ext cx="1543265" cy="10002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B7A13F0-3A59-F1D6-80F4-9959BC37A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5058" y="167738"/>
            <a:ext cx="6687483" cy="331516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906DF35-8E71-1CBA-FEE9-C59B54E350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5058" y="3648519"/>
            <a:ext cx="6687483" cy="131068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A8AEE2F-C88C-06A1-EDA4-D0BBAECC7A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5058" y="5147349"/>
            <a:ext cx="6687483" cy="11620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C51808F1-16A2-F0E2-26E1-64B5496507CA}"/>
              </a:ext>
            </a:extLst>
          </p:cNvPr>
          <p:cNvSpPr/>
          <p:nvPr/>
        </p:nvSpPr>
        <p:spPr>
          <a:xfrm>
            <a:off x="2382537" y="4106638"/>
            <a:ext cx="611675" cy="2771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4E885A9-7A56-CE3D-0D25-9B88E1DF63CE}"/>
              </a:ext>
            </a:extLst>
          </p:cNvPr>
          <p:cNvSpPr/>
          <p:nvPr/>
        </p:nvSpPr>
        <p:spPr>
          <a:xfrm>
            <a:off x="4211339" y="2241176"/>
            <a:ext cx="925438" cy="1219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5E2A585-6DF7-2D1E-7139-4F3000DA655E}"/>
              </a:ext>
            </a:extLst>
          </p:cNvPr>
          <p:cNvSpPr/>
          <p:nvPr/>
        </p:nvSpPr>
        <p:spPr>
          <a:xfrm>
            <a:off x="2321952" y="5800968"/>
            <a:ext cx="5271154" cy="5083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1114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55483E4F-3899-212E-7876-E58FA6E767F8}"/>
              </a:ext>
            </a:extLst>
          </p:cNvPr>
          <p:cNvGrpSpPr/>
          <p:nvPr/>
        </p:nvGrpSpPr>
        <p:grpSpPr>
          <a:xfrm>
            <a:off x="177220" y="176588"/>
            <a:ext cx="7891015" cy="4494685"/>
            <a:chOff x="365479" y="221412"/>
            <a:chExt cx="7891015" cy="4494685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2F8616E1-2605-521D-6A8C-4E1C4BEFD7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5479" y="221412"/>
              <a:ext cx="7891015" cy="449468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DD5AF5CE-CBAA-E361-1139-DB2A1F900A67}"/>
                </a:ext>
              </a:extLst>
            </p:cNvPr>
            <p:cNvSpPr/>
            <p:nvPr/>
          </p:nvSpPr>
          <p:spPr>
            <a:xfrm>
              <a:off x="365479" y="3684494"/>
              <a:ext cx="2485297" cy="39444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52388E0C-030B-B8B1-D5DA-84AE8954D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220" y="4908696"/>
            <a:ext cx="1638529" cy="59063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12409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9EAD13-4C3F-8F0D-12E0-61C91D602A95}"/>
              </a:ext>
            </a:extLst>
          </p:cNvPr>
          <p:cNvSpPr txBox="1"/>
          <p:nvPr/>
        </p:nvSpPr>
        <p:spPr>
          <a:xfrm>
            <a:off x="358588" y="251012"/>
            <a:ext cx="3854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보안그룹설정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291120-B7F1-B3EF-34FE-BBC3B07455BF}"/>
              </a:ext>
            </a:extLst>
          </p:cNvPr>
          <p:cNvSpPr txBox="1"/>
          <p:nvPr/>
        </p:nvSpPr>
        <p:spPr>
          <a:xfrm>
            <a:off x="2452009" y="2769109"/>
            <a:ext cx="38548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/>
              <a:t>1. </a:t>
            </a:r>
            <a:r>
              <a:rPr lang="ko-KR" altLang="en-US" sz="1200"/>
              <a:t>새로운 </a:t>
            </a:r>
            <a:r>
              <a:rPr lang="en-US" altLang="ko-KR" sz="1200"/>
              <a:t>aws </a:t>
            </a:r>
            <a:r>
              <a:rPr lang="ko-KR" altLang="en-US" sz="1200"/>
              <a:t>창에서 </a:t>
            </a:r>
            <a:r>
              <a:rPr lang="en-US" altLang="ko-KR" sz="1200"/>
              <a:t>EC2 </a:t>
            </a:r>
            <a:r>
              <a:rPr lang="ko-KR" altLang="en-US" sz="1200"/>
              <a:t>이동</a:t>
            </a: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5990A65F-CBC6-5CA0-63D1-359D11C56B47}"/>
              </a:ext>
            </a:extLst>
          </p:cNvPr>
          <p:cNvGrpSpPr/>
          <p:nvPr/>
        </p:nvGrpSpPr>
        <p:grpSpPr>
          <a:xfrm>
            <a:off x="259976" y="682849"/>
            <a:ext cx="6858000" cy="2363259"/>
            <a:chOff x="259976" y="682849"/>
            <a:chExt cx="6858000" cy="2363259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9858447E-9100-A544-5721-40A35E96BEA7}"/>
                </a:ext>
              </a:extLst>
            </p:cNvPr>
            <p:cNvGrpSpPr/>
            <p:nvPr/>
          </p:nvGrpSpPr>
          <p:grpSpPr>
            <a:xfrm>
              <a:off x="358588" y="825738"/>
              <a:ext cx="3696216" cy="1943371"/>
              <a:chOff x="358588" y="825738"/>
              <a:chExt cx="3696216" cy="1943371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7E16478A-E3ED-A7FF-1364-1DF56661C6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58588" y="825738"/>
                <a:ext cx="3696216" cy="1943371"/>
              </a:xfrm>
              <a:prstGeom prst="rect">
                <a:avLst/>
              </a:prstGeom>
            </p:spPr>
          </p:pic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1276165B-BA11-2998-B34D-5B378DD580A1}"/>
                  </a:ext>
                </a:extLst>
              </p:cNvPr>
              <p:cNvSpPr/>
              <p:nvPr/>
            </p:nvSpPr>
            <p:spPr>
              <a:xfrm>
                <a:off x="1501749" y="1217421"/>
                <a:ext cx="2553055" cy="36933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BD69C803-D790-D584-8BD2-7BDCC98CB002}"/>
                </a:ext>
              </a:extLst>
            </p:cNvPr>
            <p:cNvGrpSpPr/>
            <p:nvPr/>
          </p:nvGrpSpPr>
          <p:grpSpPr>
            <a:xfrm>
              <a:off x="4296415" y="825738"/>
              <a:ext cx="2553056" cy="1448002"/>
              <a:chOff x="4296415" y="825738"/>
              <a:chExt cx="2553056" cy="1448002"/>
            </a:xfrm>
          </p:grpSpPr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1B632EF5-2679-1C65-C3AA-7CE9044B8D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96415" y="825738"/>
                <a:ext cx="2553056" cy="1448002"/>
              </a:xfrm>
              <a:prstGeom prst="rect">
                <a:avLst/>
              </a:prstGeom>
            </p:spPr>
          </p:pic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E4F25191-A2C9-1D73-EEDC-175CDB12B63F}"/>
                  </a:ext>
                </a:extLst>
              </p:cNvPr>
              <p:cNvSpPr/>
              <p:nvPr/>
            </p:nvSpPr>
            <p:spPr>
              <a:xfrm>
                <a:off x="4460103" y="1819835"/>
                <a:ext cx="784250" cy="45390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1D424179-304E-71C9-E3AD-FE1606DF6B2F}"/>
                </a:ext>
              </a:extLst>
            </p:cNvPr>
            <p:cNvSpPr/>
            <p:nvPr/>
          </p:nvSpPr>
          <p:spPr>
            <a:xfrm>
              <a:off x="259976" y="682849"/>
              <a:ext cx="6858000" cy="236325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B9DA23E9-0C1F-69A6-2844-E4A1AA96F792}"/>
              </a:ext>
            </a:extLst>
          </p:cNvPr>
          <p:cNvGrpSpPr/>
          <p:nvPr/>
        </p:nvGrpSpPr>
        <p:grpSpPr>
          <a:xfrm>
            <a:off x="7261412" y="620344"/>
            <a:ext cx="3885012" cy="2490409"/>
            <a:chOff x="7261412" y="620344"/>
            <a:chExt cx="3885012" cy="2490409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0DF361E8-A983-C1DB-C028-28C3A6455B03}"/>
                </a:ext>
              </a:extLst>
            </p:cNvPr>
            <p:cNvGrpSpPr/>
            <p:nvPr/>
          </p:nvGrpSpPr>
          <p:grpSpPr>
            <a:xfrm>
              <a:off x="7327460" y="682849"/>
              <a:ext cx="3818964" cy="1945413"/>
              <a:chOff x="7327460" y="682849"/>
              <a:chExt cx="3818964" cy="1945413"/>
            </a:xfrm>
          </p:grpSpPr>
          <p:grpSp>
            <p:nvGrpSpPr>
              <p:cNvPr id="15" name="그룹 14">
                <a:extLst>
                  <a:ext uri="{FF2B5EF4-FFF2-40B4-BE49-F238E27FC236}">
                    <a16:creationId xmlns:a16="http://schemas.microsoft.com/office/drawing/2014/main" id="{79543CA3-1ED9-E119-851E-57C371622D62}"/>
                  </a:ext>
                </a:extLst>
              </p:cNvPr>
              <p:cNvGrpSpPr/>
              <p:nvPr/>
            </p:nvGrpSpPr>
            <p:grpSpPr>
              <a:xfrm>
                <a:off x="7327460" y="682849"/>
                <a:ext cx="1619476" cy="1438476"/>
                <a:chOff x="7327460" y="682849"/>
                <a:chExt cx="1619476" cy="1438476"/>
              </a:xfrm>
            </p:grpSpPr>
            <p:pic>
              <p:nvPicPr>
                <p:cNvPr id="13" name="그림 12">
                  <a:extLst>
                    <a:ext uri="{FF2B5EF4-FFF2-40B4-BE49-F238E27FC236}">
                      <a16:creationId xmlns:a16="http://schemas.microsoft.com/office/drawing/2014/main" id="{9E1D4DE2-3F1D-8D8E-B4AD-35F7C455B23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327460" y="682849"/>
                  <a:ext cx="1619476" cy="1438476"/>
                </a:xfrm>
                <a:prstGeom prst="rect">
                  <a:avLst/>
                </a:prstGeom>
              </p:spPr>
            </p:pic>
            <p:sp>
              <p:nvSpPr>
                <p:cNvPr id="14" name="직사각형 13">
                  <a:extLst>
                    <a:ext uri="{FF2B5EF4-FFF2-40B4-BE49-F238E27FC236}">
                      <a16:creationId xmlns:a16="http://schemas.microsoft.com/office/drawing/2014/main" id="{E09BFFCC-5E98-648D-7C32-6C55B803CF60}"/>
                    </a:ext>
                  </a:extLst>
                </p:cNvPr>
                <p:cNvSpPr/>
                <p:nvPr/>
              </p:nvSpPr>
              <p:spPr>
                <a:xfrm>
                  <a:off x="7508103" y="990469"/>
                  <a:ext cx="703568" cy="327344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D63FA73-A59C-0F95-2FDA-6B8B9F14396D}"/>
                  </a:ext>
                </a:extLst>
              </p:cNvPr>
              <p:cNvSpPr txBox="1"/>
              <p:nvPr/>
            </p:nvSpPr>
            <p:spPr>
              <a:xfrm>
                <a:off x="7327460" y="2351263"/>
                <a:ext cx="381896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/>
                  <a:t>2. </a:t>
                </a:r>
                <a:r>
                  <a:rPr lang="ko-KR" altLang="en-US" sz="1200"/>
                  <a:t>좌측 메뉴</a:t>
                </a:r>
                <a:r>
                  <a:rPr lang="en-US" altLang="ko-KR" sz="1200"/>
                  <a:t>(</a:t>
                </a:r>
                <a:r>
                  <a:rPr lang="ko-KR" altLang="en-US" sz="1200"/>
                  <a:t>네트워크 및 보안</a:t>
                </a:r>
                <a:r>
                  <a:rPr lang="en-US" altLang="ko-KR" sz="1200"/>
                  <a:t>) </a:t>
                </a:r>
                <a:r>
                  <a:rPr lang="en-US" altLang="ko-KR" sz="1200">
                    <a:sym typeface="Wingdings" panose="05000000000000000000" pitchFamily="2" charset="2"/>
                  </a:rPr>
                  <a:t> </a:t>
                </a:r>
                <a:r>
                  <a:rPr lang="ko-KR" altLang="en-US" sz="1200">
                    <a:sym typeface="Wingdings" panose="05000000000000000000" pitchFamily="2" charset="2"/>
                  </a:rPr>
                  <a:t>보안 그룹 이동</a:t>
                </a:r>
                <a:endParaRPr lang="ko-KR" altLang="en-US" sz="1200"/>
              </a:p>
            </p:txBody>
          </p:sp>
        </p:grp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02FE6A21-A9BE-1B55-520C-3B297CFEC580}"/>
                </a:ext>
              </a:extLst>
            </p:cNvPr>
            <p:cNvSpPr/>
            <p:nvPr/>
          </p:nvSpPr>
          <p:spPr>
            <a:xfrm>
              <a:off x="7261412" y="620344"/>
              <a:ext cx="3428839" cy="249040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9E0A8E33-6AE0-C5F7-8D2A-F169AB1B9010}"/>
              </a:ext>
            </a:extLst>
          </p:cNvPr>
          <p:cNvGrpSpPr/>
          <p:nvPr/>
        </p:nvGrpSpPr>
        <p:grpSpPr>
          <a:xfrm>
            <a:off x="358588" y="3485880"/>
            <a:ext cx="10738872" cy="2397244"/>
            <a:chOff x="358588" y="3485880"/>
            <a:chExt cx="10738872" cy="2397244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3906C715-A42B-A84B-8575-09CB84D56750}"/>
                </a:ext>
              </a:extLst>
            </p:cNvPr>
            <p:cNvGrpSpPr/>
            <p:nvPr/>
          </p:nvGrpSpPr>
          <p:grpSpPr>
            <a:xfrm>
              <a:off x="358588" y="3602832"/>
              <a:ext cx="2088777" cy="2219296"/>
              <a:chOff x="565796" y="3951465"/>
              <a:chExt cx="2088777" cy="2219296"/>
            </a:xfrm>
          </p:grpSpPr>
          <p:pic>
            <p:nvPicPr>
              <p:cNvPr id="19" name="그림 18">
                <a:extLst>
                  <a:ext uri="{FF2B5EF4-FFF2-40B4-BE49-F238E27FC236}">
                    <a16:creationId xmlns:a16="http://schemas.microsoft.com/office/drawing/2014/main" id="{E94C3CC7-F163-B7D5-7890-ED1256957C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5796" y="3951465"/>
                <a:ext cx="1886213" cy="1733792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9C6C34E-7A6C-9BFB-201C-6EF8477C9043}"/>
                  </a:ext>
                </a:extLst>
              </p:cNvPr>
              <p:cNvSpPr txBox="1"/>
              <p:nvPr/>
            </p:nvSpPr>
            <p:spPr>
              <a:xfrm>
                <a:off x="565796" y="5893762"/>
                <a:ext cx="208877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/>
                  <a:t>3. </a:t>
                </a:r>
                <a:r>
                  <a:rPr lang="ko-KR" altLang="en-US" sz="1200"/>
                  <a:t>우측 상단 보안 그룹 생성</a:t>
                </a:r>
              </a:p>
            </p:txBody>
          </p:sp>
        </p:grpSp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F43EC300-0FC8-7D89-B1B5-1CBF70A426A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37805" y="3541836"/>
              <a:ext cx="4211666" cy="2341288"/>
            </a:xfrm>
            <a:prstGeom prst="rect">
              <a:avLst/>
            </a:prstGeom>
          </p:spPr>
        </p:pic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30BBFBE7-8F91-4A08-E4BA-5341E5C61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117976" y="3485880"/>
              <a:ext cx="2305372" cy="1619476"/>
            </a:xfrm>
            <a:prstGeom prst="rect">
              <a:avLst/>
            </a:prstGeom>
          </p:spPr>
        </p:pic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5212CDB1-B9D0-7547-FE37-26791B38A4B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554195" y="3485880"/>
              <a:ext cx="1543265" cy="1810003"/>
            </a:xfrm>
            <a:prstGeom prst="rect">
              <a:avLst/>
            </a:prstGeom>
          </p:spPr>
        </p:pic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0ABFC3BB-6111-3D4B-1653-C1622161A34C}"/>
                </a:ext>
              </a:extLst>
            </p:cNvPr>
            <p:cNvSpPr/>
            <p:nvPr/>
          </p:nvSpPr>
          <p:spPr>
            <a:xfrm>
              <a:off x="9691853" y="4390881"/>
              <a:ext cx="1164406" cy="27973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7EE03EDC-93FE-E2BE-FE54-4FBC9506FCFF}"/>
                </a:ext>
              </a:extLst>
            </p:cNvPr>
            <p:cNvSpPr/>
            <p:nvPr/>
          </p:nvSpPr>
          <p:spPr>
            <a:xfrm>
              <a:off x="7277684" y="4712480"/>
              <a:ext cx="1164406" cy="27973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B56F3320-3654-7C8C-F7E3-DB90AFD2029A}"/>
                </a:ext>
              </a:extLst>
            </p:cNvPr>
            <p:cNvSpPr/>
            <p:nvPr/>
          </p:nvSpPr>
          <p:spPr>
            <a:xfrm>
              <a:off x="2755926" y="4295618"/>
              <a:ext cx="1125792" cy="104100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18742F52-85D1-8427-0865-A169D9092992}"/>
              </a:ext>
            </a:extLst>
          </p:cNvPr>
          <p:cNvGrpSpPr/>
          <p:nvPr/>
        </p:nvGrpSpPr>
        <p:grpSpPr>
          <a:xfrm>
            <a:off x="10046499" y="5822128"/>
            <a:ext cx="1924319" cy="485843"/>
            <a:chOff x="10046499" y="5822128"/>
            <a:chExt cx="1924319" cy="485843"/>
          </a:xfrm>
        </p:grpSpPr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34820337-ADB0-209B-FA9F-DA8E34250A6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046499" y="5822128"/>
              <a:ext cx="1924319" cy="485843"/>
            </a:xfrm>
            <a:prstGeom prst="rect">
              <a:avLst/>
            </a:prstGeom>
          </p:spPr>
        </p:pic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47069151-202E-DE34-4C20-346C9C320B22}"/>
                </a:ext>
              </a:extLst>
            </p:cNvPr>
            <p:cNvSpPr/>
            <p:nvPr/>
          </p:nvSpPr>
          <p:spPr>
            <a:xfrm>
              <a:off x="10705516" y="5822129"/>
              <a:ext cx="1265301" cy="37875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47637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8D30790C-78CF-F20A-CA2B-9BAD7C62A903}"/>
              </a:ext>
            </a:extLst>
          </p:cNvPr>
          <p:cNvGrpSpPr/>
          <p:nvPr/>
        </p:nvGrpSpPr>
        <p:grpSpPr>
          <a:xfrm>
            <a:off x="1069447" y="329222"/>
            <a:ext cx="10250330" cy="3277057"/>
            <a:chOff x="388129" y="320259"/>
            <a:chExt cx="10250330" cy="3277057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D95C432E-EB54-15D3-26CC-7158AB0D87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8129" y="320259"/>
              <a:ext cx="10250330" cy="327705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3A10B857-0BF9-5F91-363B-D003BAA84410}"/>
                </a:ext>
              </a:extLst>
            </p:cNvPr>
            <p:cNvSpPr/>
            <p:nvPr/>
          </p:nvSpPr>
          <p:spPr>
            <a:xfrm>
              <a:off x="4087906" y="1210235"/>
              <a:ext cx="6373906" cy="82475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14065520-F139-4150-202A-5C5C821F76C6}"/>
              </a:ext>
            </a:extLst>
          </p:cNvPr>
          <p:cNvSpPr txBox="1"/>
          <p:nvPr/>
        </p:nvSpPr>
        <p:spPr>
          <a:xfrm>
            <a:off x="358588" y="3711388"/>
            <a:ext cx="114389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검색창에 </a:t>
            </a:r>
            <a:r>
              <a:rPr lang="en-US" altLang="ko-KR"/>
              <a:t>RDS </a:t>
            </a:r>
            <a:r>
              <a:rPr lang="ko-KR" altLang="en-US"/>
              <a:t>검색 및 </a:t>
            </a:r>
            <a:r>
              <a:rPr lang="ko-KR" altLang="en-US">
                <a:sym typeface="Wingdings" panose="05000000000000000000" pitchFamily="2" charset="2"/>
              </a:rPr>
              <a:t>클릭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0908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DDDF8FB-1C0F-2A2B-AC60-F22853103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634" y="121195"/>
            <a:ext cx="11241741" cy="41492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693FD7-D3AB-C2F4-20F8-FEE9C7D8D5D2}"/>
              </a:ext>
            </a:extLst>
          </p:cNvPr>
          <p:cNvSpPr txBox="1"/>
          <p:nvPr/>
        </p:nvSpPr>
        <p:spPr>
          <a:xfrm>
            <a:off x="349625" y="5818094"/>
            <a:ext cx="11241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MySQL </a:t>
            </a:r>
            <a:r>
              <a:rPr lang="ko-KR" altLang="en-US"/>
              <a:t>선택 </a:t>
            </a:r>
            <a:r>
              <a:rPr lang="en-US" altLang="ko-KR"/>
              <a:t>/</a:t>
            </a:r>
            <a:r>
              <a:rPr lang="ko-KR" altLang="en-US"/>
              <a:t> 전체 구성 </a:t>
            </a:r>
            <a:r>
              <a:rPr lang="en-US" altLang="ko-KR"/>
              <a:t>/ </a:t>
            </a:r>
            <a:r>
              <a:rPr lang="ko-KR" altLang="en-US"/>
              <a:t>프리티어 선택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B525C13-5205-428D-8907-1805AA84C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634" y="4270404"/>
            <a:ext cx="11098305" cy="142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669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93C0F79-EDD4-9005-ABD8-C71459C89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56" y="239455"/>
            <a:ext cx="8859486" cy="1000265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141CD911-2D5B-0A1F-D2B8-A8A48064A6CD}"/>
              </a:ext>
            </a:extLst>
          </p:cNvPr>
          <p:cNvGrpSpPr/>
          <p:nvPr/>
        </p:nvGrpSpPr>
        <p:grpSpPr>
          <a:xfrm>
            <a:off x="294656" y="1407458"/>
            <a:ext cx="9758201" cy="4295277"/>
            <a:chOff x="294656" y="1407458"/>
            <a:chExt cx="9758201" cy="4295277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4D0F0426-1688-62A3-7AC9-EE9FD05C7B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4656" y="1407458"/>
              <a:ext cx="9758201" cy="4295277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6FF3DF1-087E-2BAE-5C26-799C877E58D0}"/>
                </a:ext>
              </a:extLst>
            </p:cNvPr>
            <p:cNvSpPr/>
            <p:nvPr/>
          </p:nvSpPr>
          <p:spPr>
            <a:xfrm>
              <a:off x="358588" y="4069976"/>
              <a:ext cx="2008094" cy="155985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A5F2E95D-9BDE-A5CF-E279-83EA17F312E8}"/>
              </a:ext>
            </a:extLst>
          </p:cNvPr>
          <p:cNvSpPr/>
          <p:nvPr/>
        </p:nvSpPr>
        <p:spPr>
          <a:xfrm>
            <a:off x="358587" y="1407459"/>
            <a:ext cx="2545977" cy="1264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0DF09E-E87C-5FE3-6B29-6D46CD392EC2}"/>
              </a:ext>
            </a:extLst>
          </p:cNvPr>
          <p:cNvSpPr txBox="1"/>
          <p:nvPr/>
        </p:nvSpPr>
        <p:spPr>
          <a:xfrm>
            <a:off x="358587" y="5827059"/>
            <a:ext cx="11286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DB </a:t>
            </a:r>
            <a:r>
              <a:rPr lang="ko-KR" altLang="en-US"/>
              <a:t>인스턴스 식별자 </a:t>
            </a:r>
            <a:r>
              <a:rPr lang="en-US" altLang="ko-KR"/>
              <a:t>/ </a:t>
            </a:r>
            <a:r>
              <a:rPr lang="ko-KR" altLang="en-US"/>
              <a:t>마스터 사용자 이름</a:t>
            </a:r>
            <a:r>
              <a:rPr lang="en-US" altLang="ko-KR"/>
              <a:t>(admin:default) / </a:t>
            </a:r>
            <a:r>
              <a:rPr lang="ko-KR" altLang="en-US"/>
              <a:t>마스터 사용자 암호 설정</a:t>
            </a:r>
          </a:p>
        </p:txBody>
      </p:sp>
    </p:spTree>
    <p:extLst>
      <p:ext uri="{BB962C8B-B14F-4D97-AF65-F5344CB8AC3E}">
        <p14:creationId xmlns:p14="http://schemas.microsoft.com/office/powerpoint/2010/main" val="17521770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EA390569-B558-9584-CCE9-557A47EC8282}"/>
              </a:ext>
            </a:extLst>
          </p:cNvPr>
          <p:cNvGrpSpPr/>
          <p:nvPr/>
        </p:nvGrpSpPr>
        <p:grpSpPr>
          <a:xfrm>
            <a:off x="295219" y="283448"/>
            <a:ext cx="8840434" cy="876422"/>
            <a:chOff x="295219" y="283448"/>
            <a:chExt cx="8840434" cy="876422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AE26F87C-670A-59EF-F6C7-A094748DF6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5219" y="283448"/>
              <a:ext cx="8840434" cy="876422"/>
            </a:xfrm>
            <a:prstGeom prst="rect">
              <a:avLst/>
            </a:prstGeom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C00CF276-A3A1-B06D-3C84-414AE274FB28}"/>
                </a:ext>
              </a:extLst>
            </p:cNvPr>
            <p:cNvSpPr/>
            <p:nvPr/>
          </p:nvSpPr>
          <p:spPr>
            <a:xfrm>
              <a:off x="2097740" y="283448"/>
              <a:ext cx="1792941" cy="272364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>
                  <a:solidFill>
                    <a:schemeClr val="tx1"/>
                  </a:solidFill>
                </a:rPr>
                <a:t>default</a:t>
              </a:r>
              <a:endParaRPr lang="ko-KR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A0FC697A-0AE0-D574-D669-FE2B52E3D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219" y="1329849"/>
            <a:ext cx="10910046" cy="1879692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408F2C0-B64F-455B-1F83-D8A5782DD924}"/>
              </a:ext>
            </a:extLst>
          </p:cNvPr>
          <p:cNvSpPr/>
          <p:nvPr/>
        </p:nvSpPr>
        <p:spPr>
          <a:xfrm>
            <a:off x="295219" y="2124635"/>
            <a:ext cx="1157063" cy="4840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87B5B746-E35C-DAD8-2CF6-CE91A4DE14C7}"/>
              </a:ext>
            </a:extLst>
          </p:cNvPr>
          <p:cNvGrpSpPr/>
          <p:nvPr/>
        </p:nvGrpSpPr>
        <p:grpSpPr>
          <a:xfrm>
            <a:off x="384326" y="3447037"/>
            <a:ext cx="9429400" cy="2263481"/>
            <a:chOff x="384326" y="3447037"/>
            <a:chExt cx="9429400" cy="2263481"/>
          </a:xfrm>
        </p:grpSpPr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E979837E-0D29-5851-B222-E1C590A1D332}"/>
                </a:ext>
              </a:extLst>
            </p:cNvPr>
            <p:cNvGrpSpPr/>
            <p:nvPr/>
          </p:nvGrpSpPr>
          <p:grpSpPr>
            <a:xfrm>
              <a:off x="438115" y="3447037"/>
              <a:ext cx="9375611" cy="2263481"/>
              <a:chOff x="438115" y="3447037"/>
              <a:chExt cx="9375611" cy="2263481"/>
            </a:xfrm>
          </p:grpSpPr>
          <p:pic>
            <p:nvPicPr>
              <p:cNvPr id="14" name="그림 13">
                <a:extLst>
                  <a:ext uri="{FF2B5EF4-FFF2-40B4-BE49-F238E27FC236}">
                    <a16:creationId xmlns:a16="http://schemas.microsoft.com/office/drawing/2014/main" id="{255A1340-02E5-52C3-50B6-E1C6734A73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00066" y="3541235"/>
                <a:ext cx="2113660" cy="2169283"/>
              </a:xfrm>
              <a:prstGeom prst="rect">
                <a:avLst/>
              </a:prstGeom>
            </p:spPr>
          </p:pic>
          <p:pic>
            <p:nvPicPr>
              <p:cNvPr id="16" name="그림 15">
                <a:extLst>
                  <a:ext uri="{FF2B5EF4-FFF2-40B4-BE49-F238E27FC236}">
                    <a16:creationId xmlns:a16="http://schemas.microsoft.com/office/drawing/2014/main" id="{94E4B192-C01A-9679-D548-022F3CDACD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8115" y="3447037"/>
                <a:ext cx="7056380" cy="904268"/>
              </a:xfrm>
              <a:prstGeom prst="rect">
                <a:avLst/>
              </a:prstGeom>
            </p:spPr>
          </p:pic>
        </p:grp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233C9D7B-DBDD-0943-6428-D118CADD0112}"/>
                </a:ext>
              </a:extLst>
            </p:cNvPr>
            <p:cNvSpPr/>
            <p:nvPr/>
          </p:nvSpPr>
          <p:spPr>
            <a:xfrm>
              <a:off x="384326" y="3899171"/>
              <a:ext cx="691439" cy="45213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EBFF0A7-5AFC-8DC0-7ACC-BC7C109ED81A}"/>
                </a:ext>
              </a:extLst>
            </p:cNvPr>
            <p:cNvSpPr/>
            <p:nvPr/>
          </p:nvSpPr>
          <p:spPr>
            <a:xfrm>
              <a:off x="7700066" y="5244353"/>
              <a:ext cx="2113660" cy="28379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916338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C61DAE3-F32A-482E-81B8-ED64B33E8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045" y="263002"/>
            <a:ext cx="6411220" cy="8097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DC5164-90AC-57F4-C13D-B790D13F7CD4}"/>
              </a:ext>
            </a:extLst>
          </p:cNvPr>
          <p:cNvSpPr txBox="1"/>
          <p:nvPr/>
        </p:nvSpPr>
        <p:spPr>
          <a:xfrm>
            <a:off x="6902824" y="295835"/>
            <a:ext cx="5145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맨 마지막에 있는 추가 구성이다 </a:t>
            </a:r>
            <a:br>
              <a:rPr lang="en-US" altLang="ko-KR"/>
            </a:br>
            <a:r>
              <a:rPr lang="en-US" altLang="ko-KR"/>
              <a:t>(</a:t>
            </a:r>
            <a:r>
              <a:rPr lang="ko-KR" altLang="en-US"/>
              <a:t>추가구성이 페이지에 </a:t>
            </a:r>
            <a:r>
              <a:rPr lang="en-US" altLang="ko-KR"/>
              <a:t>2</a:t>
            </a:r>
            <a:r>
              <a:rPr lang="ko-KR" altLang="en-US"/>
              <a:t>개 있음</a:t>
            </a:r>
            <a:r>
              <a:rPr lang="en-US" altLang="ko-KR"/>
              <a:t>)</a:t>
            </a:r>
            <a:endParaRPr lang="ko-KR" alt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6CBB2DB0-5ED1-70E4-7549-33935A863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579" y="5532864"/>
            <a:ext cx="1581371" cy="485843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E8AB0B12-D046-0765-CCE5-6978EADEBCAB}"/>
              </a:ext>
            </a:extLst>
          </p:cNvPr>
          <p:cNvGrpSpPr/>
          <p:nvPr/>
        </p:nvGrpSpPr>
        <p:grpSpPr>
          <a:xfrm>
            <a:off x="247045" y="1263151"/>
            <a:ext cx="7201905" cy="4755556"/>
            <a:chOff x="247045" y="1263151"/>
            <a:chExt cx="7201905" cy="4755556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9DCDC11F-E27F-E862-5939-0D15F5D47A25}"/>
                </a:ext>
              </a:extLst>
            </p:cNvPr>
            <p:cNvGrpSpPr/>
            <p:nvPr/>
          </p:nvGrpSpPr>
          <p:grpSpPr>
            <a:xfrm>
              <a:off x="247045" y="1263151"/>
              <a:ext cx="7157089" cy="4137573"/>
              <a:chOff x="367768" y="1236257"/>
              <a:chExt cx="7157089" cy="4137573"/>
            </a:xfrm>
          </p:grpSpPr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8A0E4DBA-67FF-081C-D184-EB5D6AD33BF3}"/>
                  </a:ext>
                </a:extLst>
              </p:cNvPr>
              <p:cNvGrpSpPr/>
              <p:nvPr/>
            </p:nvGrpSpPr>
            <p:grpSpPr>
              <a:xfrm>
                <a:off x="367768" y="1236257"/>
                <a:ext cx="7157089" cy="4137573"/>
                <a:chOff x="340874" y="1236257"/>
                <a:chExt cx="7157089" cy="4137573"/>
              </a:xfrm>
            </p:grpSpPr>
            <p:pic>
              <p:nvPicPr>
                <p:cNvPr id="8" name="그림 7">
                  <a:extLst>
                    <a:ext uri="{FF2B5EF4-FFF2-40B4-BE49-F238E27FC236}">
                      <a16:creationId xmlns:a16="http://schemas.microsoft.com/office/drawing/2014/main" id="{4383E262-C660-F12D-1BF8-30FBCEE737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40874" y="1236257"/>
                  <a:ext cx="7157089" cy="4137573"/>
                </a:xfrm>
                <a:prstGeom prst="rect">
                  <a:avLst/>
                </a:prstGeom>
              </p:spPr>
            </p:pic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7811C108-B385-61AF-A715-896D4A8F8F02}"/>
                    </a:ext>
                  </a:extLst>
                </p:cNvPr>
                <p:cNvSpPr/>
                <p:nvPr/>
              </p:nvSpPr>
              <p:spPr>
                <a:xfrm>
                  <a:off x="466165" y="1999129"/>
                  <a:ext cx="1613647" cy="546847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A4C7ECA-6A4D-181D-6C72-03382E95FEE4}"/>
                  </a:ext>
                </a:extLst>
              </p:cNvPr>
              <p:cNvSpPr txBox="1"/>
              <p:nvPr/>
            </p:nvSpPr>
            <p:spPr>
              <a:xfrm>
                <a:off x="2210814" y="1995553"/>
                <a:ext cx="342451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200"/>
                  <a:t>초기 데이터베이스 스키마 설정</a:t>
                </a:r>
              </a:p>
            </p:txBody>
          </p:sp>
        </p:grp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722CC392-F405-8C1B-4FD3-62A642A2D0C0}"/>
                </a:ext>
              </a:extLst>
            </p:cNvPr>
            <p:cNvSpPr/>
            <p:nvPr/>
          </p:nvSpPr>
          <p:spPr>
            <a:xfrm>
              <a:off x="5867579" y="5532864"/>
              <a:ext cx="1581371" cy="48584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988239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7CD403CB-535B-A5CF-68E0-9CA9205E5931}"/>
              </a:ext>
            </a:extLst>
          </p:cNvPr>
          <p:cNvGrpSpPr/>
          <p:nvPr/>
        </p:nvGrpSpPr>
        <p:grpSpPr>
          <a:xfrm>
            <a:off x="281071" y="417933"/>
            <a:ext cx="7563047" cy="3263143"/>
            <a:chOff x="281071" y="417933"/>
            <a:chExt cx="7563047" cy="3263143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5E19F485-2CE7-0D9A-0068-2F228A22B9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1071" y="417933"/>
              <a:ext cx="7563047" cy="3263143"/>
            </a:xfrm>
            <a:prstGeom prst="rect">
              <a:avLst/>
            </a:prstGeom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A85994CF-B2C5-31A5-299E-43E5115F1EA2}"/>
                </a:ext>
              </a:extLst>
            </p:cNvPr>
            <p:cNvSpPr/>
            <p:nvPr/>
          </p:nvSpPr>
          <p:spPr>
            <a:xfrm>
              <a:off x="5387788" y="2644588"/>
              <a:ext cx="2456330" cy="60063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6C6A19C-B24F-5EA6-E69E-611BD24276A2}"/>
              </a:ext>
            </a:extLst>
          </p:cNvPr>
          <p:cNvGrpSpPr/>
          <p:nvPr/>
        </p:nvGrpSpPr>
        <p:grpSpPr>
          <a:xfrm>
            <a:off x="281071" y="4073997"/>
            <a:ext cx="8674670" cy="2600688"/>
            <a:chOff x="281071" y="4073997"/>
            <a:chExt cx="8674670" cy="2600688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B98673C9-F806-9686-004B-608029C460E0}"/>
                </a:ext>
              </a:extLst>
            </p:cNvPr>
            <p:cNvGrpSpPr/>
            <p:nvPr/>
          </p:nvGrpSpPr>
          <p:grpSpPr>
            <a:xfrm>
              <a:off x="281071" y="4073997"/>
              <a:ext cx="2181529" cy="2600688"/>
              <a:chOff x="281071" y="4073997"/>
              <a:chExt cx="2181529" cy="2600688"/>
            </a:xfrm>
          </p:grpSpPr>
          <p:pic>
            <p:nvPicPr>
              <p:cNvPr id="7" name="그림 6">
                <a:extLst>
                  <a:ext uri="{FF2B5EF4-FFF2-40B4-BE49-F238E27FC236}">
                    <a16:creationId xmlns:a16="http://schemas.microsoft.com/office/drawing/2014/main" id="{285CFA60-1394-AE25-EA1C-55D67272E6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1071" y="4073997"/>
                <a:ext cx="2181529" cy="260068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74E95B54-5F8A-379E-5D1D-DCE56D67A6E8}"/>
                  </a:ext>
                </a:extLst>
              </p:cNvPr>
              <p:cNvSpPr/>
              <p:nvPr/>
            </p:nvSpPr>
            <p:spPr>
              <a:xfrm>
                <a:off x="335094" y="4993341"/>
                <a:ext cx="1036741" cy="47513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49BA35F-8ECA-055A-5B40-3E9BF3E496F7}"/>
                </a:ext>
              </a:extLst>
            </p:cNvPr>
            <p:cNvSpPr txBox="1"/>
            <p:nvPr/>
          </p:nvSpPr>
          <p:spPr>
            <a:xfrm>
              <a:off x="2554941" y="4073997"/>
              <a:ext cx="6400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/>
                <a:t>DB</a:t>
              </a:r>
              <a:r>
                <a:rPr lang="ko-KR" altLang="en-US"/>
                <a:t>생성이 완료되면 엔드포인트에 주소가 연결 주소가 뜸</a:t>
              </a:r>
              <a:r>
                <a:rPr lang="en-US" altLang="ko-KR"/>
                <a:t>.</a:t>
              </a:r>
            </a:p>
            <a:p>
              <a:r>
                <a:rPr lang="en-US" altLang="ko-KR">
                  <a:sym typeface="Wingdings" panose="05000000000000000000" pitchFamily="2" charset="2"/>
                </a:rPr>
                <a:t> MysqlWorkbench </a:t>
              </a:r>
              <a:r>
                <a:rPr lang="ko-KR" altLang="en-US">
                  <a:sym typeface="Wingdings" panose="05000000000000000000" pitchFamily="2" charset="2"/>
                </a:rPr>
                <a:t>연결 </a:t>
              </a:r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932447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D56C544-5782-031F-E978-4FC72BCA2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49" y="206981"/>
            <a:ext cx="8926171" cy="468695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6E33B5D-E7D2-24D1-E45D-569852799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8829" y="3701788"/>
            <a:ext cx="3524742" cy="28864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1F695A-BB73-8676-BDDE-6D9D1768B0E0}"/>
              </a:ext>
            </a:extLst>
          </p:cNvPr>
          <p:cNvSpPr txBox="1"/>
          <p:nvPr/>
        </p:nvSpPr>
        <p:spPr>
          <a:xfrm>
            <a:off x="9412941" y="206981"/>
            <a:ext cx="2644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AWS </a:t>
            </a:r>
            <a:r>
              <a:rPr lang="ko-KR" altLang="en-US"/>
              <a:t>생성 </a:t>
            </a:r>
            <a:r>
              <a:rPr lang="en-US" altLang="ko-KR"/>
              <a:t>DB </a:t>
            </a:r>
            <a:r>
              <a:rPr lang="ko-KR" altLang="en-US"/>
              <a:t>연결</a:t>
            </a:r>
          </a:p>
        </p:txBody>
      </p:sp>
    </p:spTree>
    <p:extLst>
      <p:ext uri="{BB962C8B-B14F-4D97-AF65-F5344CB8AC3E}">
        <p14:creationId xmlns:p14="http://schemas.microsoft.com/office/powerpoint/2010/main" val="5485977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B8D3339-30B1-B142-E542-6314B1797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18" y="1414303"/>
            <a:ext cx="3238952" cy="3153215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3BCA9CE1-9F4C-A1B3-42EA-0A4AB560C553}"/>
              </a:ext>
            </a:extLst>
          </p:cNvPr>
          <p:cNvGrpSpPr/>
          <p:nvPr/>
        </p:nvGrpSpPr>
        <p:grpSpPr>
          <a:xfrm>
            <a:off x="3621741" y="1323532"/>
            <a:ext cx="8570259" cy="1554497"/>
            <a:chOff x="3621741" y="185014"/>
            <a:chExt cx="8570259" cy="1554497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10C5679B-1074-8659-BF0E-81EFD91E51FC}"/>
                </a:ext>
              </a:extLst>
            </p:cNvPr>
            <p:cNvGrpSpPr/>
            <p:nvPr/>
          </p:nvGrpSpPr>
          <p:grpSpPr>
            <a:xfrm>
              <a:off x="3720353" y="185014"/>
              <a:ext cx="8471647" cy="1169361"/>
              <a:chOff x="3720352" y="2587555"/>
              <a:chExt cx="8471647" cy="1169361"/>
            </a:xfrm>
          </p:grpSpPr>
          <p:pic>
            <p:nvPicPr>
              <p:cNvPr id="10" name="그림 9">
                <a:extLst>
                  <a:ext uri="{FF2B5EF4-FFF2-40B4-BE49-F238E27FC236}">
                    <a16:creationId xmlns:a16="http://schemas.microsoft.com/office/drawing/2014/main" id="{021AC385-2486-1DC9-E2DF-17ECC3938C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20352" y="2587555"/>
                <a:ext cx="8471647" cy="1169361"/>
              </a:xfrm>
              <a:prstGeom prst="rect">
                <a:avLst/>
              </a:prstGeom>
            </p:spPr>
          </p:pic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D01699E9-0276-E4F5-1C86-9E15A70B382C}"/>
                  </a:ext>
                </a:extLst>
              </p:cNvPr>
              <p:cNvSpPr/>
              <p:nvPr/>
            </p:nvSpPr>
            <p:spPr>
              <a:xfrm>
                <a:off x="3720352" y="2788025"/>
                <a:ext cx="1443319" cy="51995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F9E420BA-8F7C-A6C8-B536-98FB5520BA69}"/>
                  </a:ext>
                </a:extLst>
              </p:cNvPr>
              <p:cNvSpPr/>
              <p:nvPr/>
            </p:nvSpPr>
            <p:spPr>
              <a:xfrm>
                <a:off x="7386918" y="2788025"/>
                <a:ext cx="717176" cy="51995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87C1DAB-EED1-5626-5632-155B5070E972}"/>
                </a:ext>
              </a:extLst>
            </p:cNvPr>
            <p:cNvSpPr txBox="1"/>
            <p:nvPr/>
          </p:nvSpPr>
          <p:spPr>
            <a:xfrm>
              <a:off x="3621741" y="1370179"/>
              <a:ext cx="47692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/>
                <a:t>2. http </a:t>
              </a:r>
              <a:r>
                <a:rPr lang="en-US" altLang="ko-KR">
                  <a:sym typeface="Wingdings" panose="05000000000000000000" pitchFamily="2" charset="2"/>
                </a:rPr>
                <a:t> Anyware IP4 </a:t>
              </a:r>
              <a:r>
                <a:rPr lang="ko-KR" altLang="en-US">
                  <a:sym typeface="Wingdings" panose="05000000000000000000" pitchFamily="2" charset="2"/>
                </a:rPr>
                <a:t>선택</a:t>
              </a:r>
              <a:endParaRPr lang="ko-KR" alt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5E1D31CF-5B90-2A3B-F86C-4F8D9689F8A2}"/>
              </a:ext>
            </a:extLst>
          </p:cNvPr>
          <p:cNvSpPr txBox="1"/>
          <p:nvPr/>
        </p:nvSpPr>
        <p:spPr>
          <a:xfrm>
            <a:off x="236218" y="4567518"/>
            <a:ext cx="4769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1. </a:t>
            </a:r>
            <a:r>
              <a:rPr lang="ko-KR" altLang="en-US"/>
              <a:t>보안 그룹 이름과 설명 작성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8158FD2A-FE1A-03AB-508E-44E3985650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1741" y="3064615"/>
            <a:ext cx="1267002" cy="44773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3D31065-E934-14AD-DD8B-6A824F4EE79C}"/>
              </a:ext>
            </a:extLst>
          </p:cNvPr>
          <p:cNvSpPr txBox="1"/>
          <p:nvPr/>
        </p:nvSpPr>
        <p:spPr>
          <a:xfrm>
            <a:off x="3621741" y="3594847"/>
            <a:ext cx="3238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3. </a:t>
            </a:r>
            <a:r>
              <a:rPr lang="ko-KR" altLang="en-US"/>
              <a:t>보안 그룹 생성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D8871F-1035-F9CC-EA8D-F9E04C8E68E2}"/>
              </a:ext>
            </a:extLst>
          </p:cNvPr>
          <p:cNvSpPr txBox="1"/>
          <p:nvPr/>
        </p:nvSpPr>
        <p:spPr>
          <a:xfrm>
            <a:off x="236218" y="224118"/>
            <a:ext cx="6119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/>
              <a:t>ELB </a:t>
            </a:r>
            <a:r>
              <a:rPr lang="ko-KR" altLang="en-US" sz="2800"/>
              <a:t>에 대한 보안 그룹 작성</a:t>
            </a:r>
          </a:p>
        </p:txBody>
      </p:sp>
    </p:spTree>
    <p:extLst>
      <p:ext uri="{BB962C8B-B14F-4D97-AF65-F5344CB8AC3E}">
        <p14:creationId xmlns:p14="http://schemas.microsoft.com/office/powerpoint/2010/main" val="38667284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17F027A1-BCB8-D2DC-0623-50F1330BBAF8}"/>
              </a:ext>
            </a:extLst>
          </p:cNvPr>
          <p:cNvGrpSpPr/>
          <p:nvPr/>
        </p:nvGrpSpPr>
        <p:grpSpPr>
          <a:xfrm>
            <a:off x="191328" y="1228069"/>
            <a:ext cx="1699804" cy="2459869"/>
            <a:chOff x="281397" y="340563"/>
            <a:chExt cx="1699804" cy="2459869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C787632D-B840-A903-0AD7-022A59EC92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1397" y="340563"/>
              <a:ext cx="1699804" cy="1078289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CADB0AC6-516D-DC7B-577A-AF0AA44783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1397" y="1619167"/>
              <a:ext cx="1267002" cy="1181265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8DB3318-9D95-7FDA-72FA-1F5A6359C526}"/>
                </a:ext>
              </a:extLst>
            </p:cNvPr>
            <p:cNvSpPr/>
            <p:nvPr/>
          </p:nvSpPr>
          <p:spPr>
            <a:xfrm>
              <a:off x="281397" y="1945341"/>
              <a:ext cx="884015" cy="26445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7A6C838-B2E8-98C3-F78F-93CEE557B6BC}"/>
              </a:ext>
            </a:extLst>
          </p:cNvPr>
          <p:cNvSpPr txBox="1"/>
          <p:nvPr/>
        </p:nvSpPr>
        <p:spPr>
          <a:xfrm>
            <a:off x="191328" y="3819107"/>
            <a:ext cx="29369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1.EC2 </a:t>
            </a:r>
            <a:r>
              <a:rPr lang="ko-KR" altLang="en-US" sz="1100"/>
              <a:t>좌측에 로드 밸런싱</a:t>
            </a:r>
            <a:r>
              <a:rPr lang="en-US" altLang="ko-KR" sz="1100"/>
              <a:t>(</a:t>
            </a:r>
            <a:r>
              <a:rPr lang="ko-KR" altLang="en-US" sz="1100"/>
              <a:t>로드 밸런서</a:t>
            </a:r>
            <a:r>
              <a:rPr lang="en-US" altLang="ko-KR" sz="1100"/>
              <a:t>)</a:t>
            </a:r>
            <a:r>
              <a:rPr lang="ko-KR" altLang="en-US" sz="1100"/>
              <a:t> 이동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481667F-FE82-8F77-54D6-2DCA0AAED7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4545" y="1243265"/>
            <a:ext cx="3286584" cy="52394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01BB80E-2D8E-5C79-23BC-896C0C61775C}"/>
              </a:ext>
            </a:extLst>
          </p:cNvPr>
          <p:cNvSpPr txBox="1"/>
          <p:nvPr/>
        </p:nvSpPr>
        <p:spPr>
          <a:xfrm>
            <a:off x="2354545" y="1767577"/>
            <a:ext cx="29369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2. </a:t>
            </a:r>
            <a:r>
              <a:rPr lang="ko-KR" altLang="en-US" sz="1100"/>
              <a:t>로드 밸런서</a:t>
            </a:r>
            <a:r>
              <a:rPr lang="en-US" altLang="ko-KR" sz="1100"/>
              <a:t> </a:t>
            </a:r>
            <a:r>
              <a:rPr lang="ko-KR" altLang="en-US" sz="1100"/>
              <a:t>생성 버튼 클릭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6CA3E2B-0E7D-8554-BF6E-F0002DF2D5C8}"/>
              </a:ext>
            </a:extLst>
          </p:cNvPr>
          <p:cNvGrpSpPr/>
          <p:nvPr/>
        </p:nvGrpSpPr>
        <p:grpSpPr>
          <a:xfrm>
            <a:off x="5844959" y="355758"/>
            <a:ext cx="5949064" cy="4090735"/>
            <a:chOff x="5844959" y="355758"/>
            <a:chExt cx="5949064" cy="4090735"/>
          </a:xfrm>
        </p:grpSpPr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0135C583-03D6-3E83-0C8B-51C9ADDF5B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44959" y="355758"/>
              <a:ext cx="5949064" cy="4090735"/>
            </a:xfrm>
            <a:prstGeom prst="rect">
              <a:avLst/>
            </a:prstGeom>
          </p:spPr>
        </p:pic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9B9C1A33-744E-8415-59B6-95CD220BBE45}"/>
                </a:ext>
              </a:extLst>
            </p:cNvPr>
            <p:cNvSpPr/>
            <p:nvPr/>
          </p:nvSpPr>
          <p:spPr>
            <a:xfrm>
              <a:off x="5844959" y="672353"/>
              <a:ext cx="1873653" cy="37741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9BBC375C-FC35-5C4D-D836-743B3C3FF6BF}"/>
              </a:ext>
            </a:extLst>
          </p:cNvPr>
          <p:cNvSpPr txBox="1"/>
          <p:nvPr/>
        </p:nvSpPr>
        <p:spPr>
          <a:xfrm>
            <a:off x="5844959" y="4554070"/>
            <a:ext cx="17095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3.ALB </a:t>
            </a:r>
            <a:r>
              <a:rPr lang="ko-KR" altLang="en-US" sz="1200"/>
              <a:t>선택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D49ED7A-EDB9-5220-612D-7E3EA5C34E3A}"/>
              </a:ext>
            </a:extLst>
          </p:cNvPr>
          <p:cNvGrpSpPr/>
          <p:nvPr/>
        </p:nvGrpSpPr>
        <p:grpSpPr>
          <a:xfrm>
            <a:off x="281397" y="4590352"/>
            <a:ext cx="1943371" cy="1395243"/>
            <a:chOff x="281397" y="4590352"/>
            <a:chExt cx="1943371" cy="1395243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5BBE2EE4-2B24-3D97-35B8-EAAE84279DD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1397" y="4590352"/>
              <a:ext cx="1943371" cy="1133633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CC90984-D886-0AD1-B7CF-C95513BA87D2}"/>
                </a:ext>
              </a:extLst>
            </p:cNvPr>
            <p:cNvSpPr txBox="1"/>
            <p:nvPr/>
          </p:nvSpPr>
          <p:spPr>
            <a:xfrm>
              <a:off x="310658" y="5723985"/>
              <a:ext cx="17960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/>
                <a:t>4. </a:t>
              </a:r>
              <a:r>
                <a:rPr lang="ko-KR" altLang="en-US" sz="1100"/>
                <a:t>로드 밸런서 이름 설정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2722C701-5265-C9E0-4F4B-3EF0FDC25A67}"/>
              </a:ext>
            </a:extLst>
          </p:cNvPr>
          <p:cNvGrpSpPr/>
          <p:nvPr/>
        </p:nvGrpSpPr>
        <p:grpSpPr>
          <a:xfrm>
            <a:off x="2688181" y="4180789"/>
            <a:ext cx="2952948" cy="1866293"/>
            <a:chOff x="2688181" y="4180789"/>
            <a:chExt cx="2952948" cy="1866293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3D3A4FB-FB29-663C-1A18-CE7775B464B8}"/>
                </a:ext>
              </a:extLst>
            </p:cNvPr>
            <p:cNvSpPr txBox="1"/>
            <p:nvPr/>
          </p:nvSpPr>
          <p:spPr>
            <a:xfrm>
              <a:off x="2758022" y="5785472"/>
              <a:ext cx="17960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/>
                <a:t>5.  </a:t>
              </a:r>
              <a:r>
                <a:rPr lang="ko-KR" altLang="en-US" sz="1100"/>
                <a:t>가용영역 전부 체크</a:t>
              </a: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0D6DDF99-8C33-9F17-7EE9-9014D10760CC}"/>
                </a:ext>
              </a:extLst>
            </p:cNvPr>
            <p:cNvGrpSpPr/>
            <p:nvPr/>
          </p:nvGrpSpPr>
          <p:grpSpPr>
            <a:xfrm>
              <a:off x="2688181" y="4180789"/>
              <a:ext cx="2952948" cy="1604683"/>
              <a:chOff x="2688181" y="4180789"/>
              <a:chExt cx="2952948" cy="1604683"/>
            </a:xfrm>
          </p:grpSpPr>
          <p:pic>
            <p:nvPicPr>
              <p:cNvPr id="22" name="그림 21">
                <a:extLst>
                  <a:ext uri="{FF2B5EF4-FFF2-40B4-BE49-F238E27FC236}">
                    <a16:creationId xmlns:a16="http://schemas.microsoft.com/office/drawing/2014/main" id="{C16144B6-B7A1-CE22-6DE3-9C907F955A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88181" y="4180789"/>
                <a:ext cx="2952948" cy="1604683"/>
              </a:xfrm>
              <a:prstGeom prst="rect">
                <a:avLst/>
              </a:prstGeom>
            </p:spPr>
          </p:pic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0589D0F3-1EC0-6491-1443-4F0BB913C66D}"/>
                  </a:ext>
                </a:extLst>
              </p:cNvPr>
              <p:cNvSpPr/>
              <p:nvPr/>
            </p:nvSpPr>
            <p:spPr>
              <a:xfrm>
                <a:off x="2758022" y="4554070"/>
                <a:ext cx="209296" cy="123140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D4036D14-99F1-A570-E541-6773D3E4B728}"/>
              </a:ext>
            </a:extLst>
          </p:cNvPr>
          <p:cNvSpPr txBox="1"/>
          <p:nvPr/>
        </p:nvSpPr>
        <p:spPr>
          <a:xfrm>
            <a:off x="310658" y="224118"/>
            <a:ext cx="52564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/>
              <a:t>ELB </a:t>
            </a:r>
            <a:r>
              <a:rPr lang="ko-KR" altLang="en-US" sz="3200"/>
              <a:t>생성하기</a:t>
            </a:r>
          </a:p>
        </p:txBody>
      </p:sp>
    </p:spTree>
    <p:extLst>
      <p:ext uri="{BB962C8B-B14F-4D97-AF65-F5344CB8AC3E}">
        <p14:creationId xmlns:p14="http://schemas.microsoft.com/office/powerpoint/2010/main" val="34459043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010C0019-C8CF-EE35-767F-21983C45FE76}"/>
              </a:ext>
            </a:extLst>
          </p:cNvPr>
          <p:cNvGrpSpPr/>
          <p:nvPr/>
        </p:nvGrpSpPr>
        <p:grpSpPr>
          <a:xfrm>
            <a:off x="228556" y="223684"/>
            <a:ext cx="4836503" cy="3988241"/>
            <a:chOff x="228556" y="223684"/>
            <a:chExt cx="4836503" cy="3988241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EB8E9D63-310C-9F3F-7972-0431B038475C}"/>
                </a:ext>
              </a:extLst>
            </p:cNvPr>
            <p:cNvGrpSpPr/>
            <p:nvPr/>
          </p:nvGrpSpPr>
          <p:grpSpPr>
            <a:xfrm>
              <a:off x="228556" y="223684"/>
              <a:ext cx="3411116" cy="3568388"/>
              <a:chOff x="228556" y="223684"/>
              <a:chExt cx="3411116" cy="3568388"/>
            </a:xfrm>
          </p:grpSpPr>
          <p:pic>
            <p:nvPicPr>
              <p:cNvPr id="3" name="그림 2">
                <a:extLst>
                  <a:ext uri="{FF2B5EF4-FFF2-40B4-BE49-F238E27FC236}">
                    <a16:creationId xmlns:a16="http://schemas.microsoft.com/office/drawing/2014/main" id="{E79FBC8B-D636-AF49-D169-3F0A90E6F6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r="42119"/>
              <a:stretch>
                <a:fillRect/>
              </a:stretch>
            </p:blipFill>
            <p:spPr>
              <a:xfrm>
                <a:off x="228556" y="223684"/>
                <a:ext cx="3411116" cy="3568388"/>
              </a:xfrm>
              <a:prstGeom prst="rect">
                <a:avLst/>
              </a:prstGeom>
            </p:spPr>
          </p:pic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2BA3E669-8DAA-8ED0-1406-14D6EB32FED0}"/>
                  </a:ext>
                </a:extLst>
              </p:cNvPr>
              <p:cNvSpPr/>
              <p:nvPr/>
            </p:nvSpPr>
            <p:spPr>
              <a:xfrm>
                <a:off x="340659" y="2205318"/>
                <a:ext cx="2868706" cy="43927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4CF9049-2EC5-0717-652A-50C034E9F9F9}"/>
                </a:ext>
              </a:extLst>
            </p:cNvPr>
            <p:cNvSpPr txBox="1"/>
            <p:nvPr/>
          </p:nvSpPr>
          <p:spPr>
            <a:xfrm>
              <a:off x="259976" y="3904148"/>
              <a:ext cx="480508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/>
                <a:t>6. </a:t>
              </a:r>
              <a:r>
                <a:rPr lang="ko-KR" altLang="en-US" sz="1400"/>
                <a:t>생성한 </a:t>
              </a:r>
              <a:r>
                <a:rPr lang="en-US" altLang="ko-KR" sz="1400"/>
                <a:t>ALB </a:t>
              </a:r>
              <a:r>
                <a:rPr lang="ko-KR" altLang="en-US" sz="1400"/>
                <a:t>보안그룹 선택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1336D61-C9EB-6CC0-A62D-8B6B9D935B39}"/>
              </a:ext>
            </a:extLst>
          </p:cNvPr>
          <p:cNvSpPr txBox="1"/>
          <p:nvPr/>
        </p:nvSpPr>
        <p:spPr>
          <a:xfrm>
            <a:off x="4254937" y="5162464"/>
            <a:ext cx="48050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7. </a:t>
            </a:r>
            <a:r>
              <a:rPr lang="ko-KR" altLang="en-US" sz="1400"/>
              <a:t>리스너 및 라우팅에 대상 그룹 생성 클릭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2CD1D5B9-E314-5516-AE79-32F8B76AC5CE}"/>
              </a:ext>
            </a:extLst>
          </p:cNvPr>
          <p:cNvGrpSpPr/>
          <p:nvPr/>
        </p:nvGrpSpPr>
        <p:grpSpPr>
          <a:xfrm>
            <a:off x="4254937" y="84204"/>
            <a:ext cx="7327463" cy="4966184"/>
            <a:chOff x="4254937" y="84204"/>
            <a:chExt cx="7327463" cy="4966184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553BEB9C-2EEA-11EE-5071-C97E20E144F1}"/>
                </a:ext>
              </a:extLst>
            </p:cNvPr>
            <p:cNvGrpSpPr/>
            <p:nvPr/>
          </p:nvGrpSpPr>
          <p:grpSpPr>
            <a:xfrm>
              <a:off x="4254937" y="84204"/>
              <a:ext cx="7327463" cy="4966184"/>
              <a:chOff x="4254937" y="84204"/>
              <a:chExt cx="7327463" cy="4966184"/>
            </a:xfrm>
          </p:grpSpPr>
          <p:pic>
            <p:nvPicPr>
              <p:cNvPr id="9" name="그림 8">
                <a:extLst>
                  <a:ext uri="{FF2B5EF4-FFF2-40B4-BE49-F238E27FC236}">
                    <a16:creationId xmlns:a16="http://schemas.microsoft.com/office/drawing/2014/main" id="{B7FBF9E9-DEED-7DF5-6326-6A070D7643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54937" y="84204"/>
                <a:ext cx="7327463" cy="4966184"/>
              </a:xfrm>
              <a:prstGeom prst="rect">
                <a:avLst/>
              </a:prstGeom>
            </p:spPr>
          </p:pic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EAB8133E-6BC3-1C80-BE6F-2A6C54164DA5}"/>
                  </a:ext>
                </a:extLst>
              </p:cNvPr>
              <p:cNvSpPr/>
              <p:nvPr/>
            </p:nvSpPr>
            <p:spPr>
              <a:xfrm>
                <a:off x="6096000" y="2375647"/>
                <a:ext cx="708212" cy="268941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62B97E4-3EAC-531B-4153-5DA9B528E8AF}"/>
                </a:ext>
              </a:extLst>
            </p:cNvPr>
            <p:cNvSpPr txBox="1"/>
            <p:nvPr/>
          </p:nvSpPr>
          <p:spPr>
            <a:xfrm>
              <a:off x="6965576" y="2223247"/>
              <a:ext cx="22053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>
                  <a:solidFill>
                    <a:srgbClr val="FF0000"/>
                  </a:solidFill>
                </a:rPr>
                <a:t>대상그룹은 </a:t>
              </a:r>
              <a:r>
                <a:rPr lang="en-US" altLang="ko-KR" sz="1200" b="1">
                  <a:solidFill>
                    <a:srgbClr val="FF0000"/>
                  </a:solidFill>
                </a:rPr>
                <a:t>ELB</a:t>
              </a:r>
              <a:r>
                <a:rPr lang="ko-KR" altLang="en-US" sz="1200" b="1">
                  <a:solidFill>
                    <a:srgbClr val="FF0000"/>
                  </a:solidFill>
                </a:rPr>
                <a:t>가 요청을 전달할 대상에 대한 설정이다</a:t>
              </a:r>
              <a:r>
                <a:rPr lang="en-US" altLang="ko-KR" sz="1200" b="1">
                  <a:solidFill>
                    <a:srgbClr val="FF0000"/>
                  </a:solidFill>
                </a:rPr>
                <a:t>.</a:t>
              </a:r>
              <a:endParaRPr lang="ko-KR" altLang="en-US" sz="1200" b="1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02344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06CFB511-29A0-4137-4E1D-DC506C46A0B1}"/>
              </a:ext>
            </a:extLst>
          </p:cNvPr>
          <p:cNvGrpSpPr/>
          <p:nvPr/>
        </p:nvGrpSpPr>
        <p:grpSpPr>
          <a:xfrm>
            <a:off x="232594" y="328371"/>
            <a:ext cx="5226912" cy="2577948"/>
            <a:chOff x="232594" y="328371"/>
            <a:chExt cx="5226912" cy="2577948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7CD16888-6247-3166-209F-48520913D1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2594" y="328371"/>
              <a:ext cx="5226912" cy="2577948"/>
            </a:xfrm>
            <a:prstGeom prst="rect">
              <a:avLst/>
            </a:prstGeom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306B02B8-0E44-04EF-9487-EC5E18C570C4}"/>
                </a:ext>
              </a:extLst>
            </p:cNvPr>
            <p:cNvSpPr/>
            <p:nvPr/>
          </p:nvSpPr>
          <p:spPr>
            <a:xfrm>
              <a:off x="295835" y="1048871"/>
              <a:ext cx="2537012" cy="9054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62CEC33-E4D9-2FF2-E64A-61C44EBBADB9}"/>
              </a:ext>
            </a:extLst>
          </p:cNvPr>
          <p:cNvSpPr txBox="1"/>
          <p:nvPr/>
        </p:nvSpPr>
        <p:spPr>
          <a:xfrm>
            <a:off x="295835" y="2906319"/>
            <a:ext cx="51636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8.</a:t>
            </a:r>
            <a:r>
              <a:rPr lang="ko-KR" altLang="en-US" sz="1200"/>
              <a:t>인스턴스 선택</a:t>
            </a: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650EEDED-3546-C53B-0724-01C496361F00}"/>
              </a:ext>
            </a:extLst>
          </p:cNvPr>
          <p:cNvGrpSpPr/>
          <p:nvPr/>
        </p:nvGrpSpPr>
        <p:grpSpPr>
          <a:xfrm>
            <a:off x="5771907" y="349780"/>
            <a:ext cx="5442940" cy="2008785"/>
            <a:chOff x="5771907" y="349780"/>
            <a:chExt cx="5442940" cy="2008785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E17379A6-4358-0F17-0820-F067618B3D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71907" y="349780"/>
              <a:ext cx="5442940" cy="1604526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B7F1E0D-6261-B8D5-464A-88F17AE6F2E4}"/>
                </a:ext>
              </a:extLst>
            </p:cNvPr>
            <p:cNvSpPr txBox="1"/>
            <p:nvPr/>
          </p:nvSpPr>
          <p:spPr>
            <a:xfrm>
              <a:off x="5871883" y="2081566"/>
              <a:ext cx="19722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/>
                <a:t>9.</a:t>
              </a:r>
              <a:r>
                <a:rPr lang="ko-KR" altLang="en-US" sz="1200"/>
                <a:t>대상그룹 이름 작성</a:t>
              </a:r>
            </a:p>
          </p:txBody>
        </p:sp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A4B7AD77-2388-09DA-FE56-661E961B8E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236" y="3346711"/>
            <a:ext cx="3910356" cy="222933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39E2CE7-B089-25C3-4959-E4139E1B86A7}"/>
              </a:ext>
            </a:extLst>
          </p:cNvPr>
          <p:cNvSpPr txBox="1"/>
          <p:nvPr/>
        </p:nvSpPr>
        <p:spPr>
          <a:xfrm>
            <a:off x="295835" y="5670629"/>
            <a:ext cx="51636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10.</a:t>
            </a:r>
            <a:r>
              <a:rPr lang="ko-KR" altLang="en-US" sz="1200"/>
              <a:t>상태 검사 경로 설정 </a:t>
            </a:r>
            <a:r>
              <a:rPr lang="en-US" altLang="ko-KR" sz="1200"/>
              <a:t>( /health )</a:t>
            </a:r>
            <a:endParaRPr lang="ko-KR" altLang="en-US" sz="1200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A00C6A43-5FC4-D045-B8BB-C201D6830F88}"/>
              </a:ext>
            </a:extLst>
          </p:cNvPr>
          <p:cNvGrpSpPr/>
          <p:nvPr/>
        </p:nvGrpSpPr>
        <p:grpSpPr>
          <a:xfrm>
            <a:off x="3967660" y="5389602"/>
            <a:ext cx="5283917" cy="839053"/>
            <a:chOff x="3967660" y="5389602"/>
            <a:chExt cx="5283917" cy="839053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E15B1954-C80F-50EB-2180-DFC3E4FD5F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67660" y="5389602"/>
              <a:ext cx="885949" cy="562053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91F8BD3-2224-5D48-B5C4-75EF37622BD0}"/>
                </a:ext>
              </a:extLst>
            </p:cNvPr>
            <p:cNvSpPr txBox="1"/>
            <p:nvPr/>
          </p:nvSpPr>
          <p:spPr>
            <a:xfrm>
              <a:off x="4087906" y="5951656"/>
              <a:ext cx="51636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/>
                <a:t>11.</a:t>
              </a:r>
              <a:r>
                <a:rPr lang="ko-KR" altLang="en-US" sz="1200"/>
                <a:t>다음 클릭</a:t>
              </a:r>
            </a:p>
          </p:txBody>
        </p: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A8FA3F43-8B5C-843E-90AD-E9ED7EC60AC1}"/>
              </a:ext>
            </a:extLst>
          </p:cNvPr>
          <p:cNvGrpSpPr/>
          <p:nvPr/>
        </p:nvGrpSpPr>
        <p:grpSpPr>
          <a:xfrm>
            <a:off x="4981456" y="2930291"/>
            <a:ext cx="7023842" cy="2993366"/>
            <a:chOff x="4981456" y="2930291"/>
            <a:chExt cx="7023842" cy="2993366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6DA41D0F-1752-FE5C-4560-6736D595C1B7}"/>
                </a:ext>
              </a:extLst>
            </p:cNvPr>
            <p:cNvGrpSpPr/>
            <p:nvPr/>
          </p:nvGrpSpPr>
          <p:grpSpPr>
            <a:xfrm>
              <a:off x="4981456" y="2930291"/>
              <a:ext cx="7023842" cy="2993366"/>
              <a:chOff x="4981456" y="2930291"/>
              <a:chExt cx="7023842" cy="2993366"/>
            </a:xfrm>
          </p:grpSpPr>
          <p:pic>
            <p:nvPicPr>
              <p:cNvPr id="21" name="그림 20">
                <a:extLst>
                  <a:ext uri="{FF2B5EF4-FFF2-40B4-BE49-F238E27FC236}">
                    <a16:creationId xmlns:a16="http://schemas.microsoft.com/office/drawing/2014/main" id="{C62D9720-CB52-476D-2FF6-B370F4CA15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81456" y="2930291"/>
                <a:ext cx="7023842" cy="2993366"/>
              </a:xfrm>
              <a:prstGeom prst="rect">
                <a:avLst/>
              </a:prstGeom>
            </p:spPr>
          </p:pic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7DE18163-48D8-D362-73C1-00AB0C8681F6}"/>
                  </a:ext>
                </a:extLst>
              </p:cNvPr>
              <p:cNvSpPr/>
              <p:nvPr/>
            </p:nvSpPr>
            <p:spPr>
              <a:xfrm>
                <a:off x="6481482" y="4043082"/>
                <a:ext cx="268942" cy="24204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F4B552D5-67BD-6AE2-C558-8D09CFBA59E2}"/>
                  </a:ext>
                </a:extLst>
              </p:cNvPr>
              <p:cNvSpPr/>
              <p:nvPr/>
            </p:nvSpPr>
            <p:spPr>
              <a:xfrm>
                <a:off x="8551928" y="5428581"/>
                <a:ext cx="1353671" cy="24204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DE02ABB-9F65-593E-EA72-C8BC62925FC2}"/>
                </a:ext>
              </a:extLst>
            </p:cNvPr>
            <p:cNvSpPr txBox="1"/>
            <p:nvPr/>
          </p:nvSpPr>
          <p:spPr>
            <a:xfrm>
              <a:off x="5459506" y="4787153"/>
              <a:ext cx="271630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/>
                <a:t>12. ELB</a:t>
              </a:r>
              <a:r>
                <a:rPr lang="ko-KR" altLang="en-US" sz="1400"/>
                <a:t>가 어떤 서버로 요청을 전달할지 선택하는 창 빨간 박스 차례로 클릭</a:t>
              </a:r>
              <a:r>
                <a:rPr lang="en-US" altLang="ko-KR" sz="1400"/>
                <a:t>.</a:t>
              </a:r>
              <a:endParaRPr lang="ko-KR" altLang="en-US" sz="1400"/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B6336625-ED74-EA8A-D2D3-020E9AEC3611}"/>
              </a:ext>
            </a:extLst>
          </p:cNvPr>
          <p:cNvGrpSpPr/>
          <p:nvPr/>
        </p:nvGrpSpPr>
        <p:grpSpPr>
          <a:xfrm>
            <a:off x="8551928" y="1174376"/>
            <a:ext cx="2662919" cy="1184189"/>
            <a:chOff x="8551928" y="1174376"/>
            <a:chExt cx="2662919" cy="1184189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4DC22CCA-4FB2-808C-F3EF-7F391F0BA409}"/>
                </a:ext>
              </a:extLst>
            </p:cNvPr>
            <p:cNvSpPr/>
            <p:nvPr/>
          </p:nvSpPr>
          <p:spPr>
            <a:xfrm>
              <a:off x="8551928" y="1174376"/>
              <a:ext cx="2555343" cy="77993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14D40FB-2082-A98D-0ED0-B16292F8D3FF}"/>
                </a:ext>
              </a:extLst>
            </p:cNvPr>
            <p:cNvSpPr txBox="1"/>
            <p:nvPr/>
          </p:nvSpPr>
          <p:spPr>
            <a:xfrm>
              <a:off x="8551928" y="2081566"/>
              <a:ext cx="266291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/>
                <a:t>ELB</a:t>
              </a:r>
              <a:r>
                <a:rPr lang="ko-KR" altLang="en-US" sz="1200"/>
                <a:t>가 전송할 대상이 수신할 포트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356835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5DC9CAC3-F7E5-440E-4550-3F7DE18A28BF}"/>
              </a:ext>
            </a:extLst>
          </p:cNvPr>
          <p:cNvGrpSpPr/>
          <p:nvPr/>
        </p:nvGrpSpPr>
        <p:grpSpPr>
          <a:xfrm>
            <a:off x="366247" y="256732"/>
            <a:ext cx="7450977" cy="2211386"/>
            <a:chOff x="366247" y="256732"/>
            <a:chExt cx="7450977" cy="2211386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8AD66D6E-6372-FFD6-62F4-0849166C5C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6247" y="256732"/>
              <a:ext cx="7450977" cy="2211386"/>
            </a:xfrm>
            <a:prstGeom prst="rect">
              <a:avLst/>
            </a:prstGeom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02E0476F-1E24-AC11-81E1-3CC1F7B85999}"/>
                </a:ext>
              </a:extLst>
            </p:cNvPr>
            <p:cNvSpPr/>
            <p:nvPr/>
          </p:nvSpPr>
          <p:spPr>
            <a:xfrm>
              <a:off x="7297271" y="2070847"/>
              <a:ext cx="519953" cy="28687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E74CE86D-CA3D-2930-E8FA-A47EE88E16B5}"/>
              </a:ext>
            </a:extLst>
          </p:cNvPr>
          <p:cNvSpPr txBox="1"/>
          <p:nvPr/>
        </p:nvSpPr>
        <p:spPr>
          <a:xfrm>
            <a:off x="510988" y="2468118"/>
            <a:ext cx="3227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13. </a:t>
            </a:r>
            <a:r>
              <a:rPr lang="ko-KR" altLang="en-US" sz="1200"/>
              <a:t>대상 확인 후 다음 버튼 클릭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66D4E89-42F2-16D7-F000-82381F922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869" y="2973057"/>
            <a:ext cx="6652826" cy="265511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3A310B0-F877-65CB-9537-D45CBF1FA399}"/>
              </a:ext>
            </a:extLst>
          </p:cNvPr>
          <p:cNvSpPr txBox="1"/>
          <p:nvPr/>
        </p:nvSpPr>
        <p:spPr>
          <a:xfrm>
            <a:off x="411869" y="5717607"/>
            <a:ext cx="32272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14. </a:t>
            </a:r>
            <a:r>
              <a:rPr lang="ko-KR" altLang="en-US" sz="1200"/>
              <a:t>대상그룹 확인</a:t>
            </a:r>
          </a:p>
        </p:txBody>
      </p:sp>
    </p:spTree>
    <p:extLst>
      <p:ext uri="{BB962C8B-B14F-4D97-AF65-F5344CB8AC3E}">
        <p14:creationId xmlns:p14="http://schemas.microsoft.com/office/powerpoint/2010/main" val="25487231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15FFF9B9-6E29-A730-13AF-6B9A603DA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238" y="5391330"/>
            <a:ext cx="2276793" cy="533474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F4185C28-51AE-44C6-1B8D-343FC9CA32B0}"/>
              </a:ext>
            </a:extLst>
          </p:cNvPr>
          <p:cNvGrpSpPr/>
          <p:nvPr/>
        </p:nvGrpSpPr>
        <p:grpSpPr>
          <a:xfrm>
            <a:off x="199451" y="161364"/>
            <a:ext cx="5746792" cy="5800165"/>
            <a:chOff x="199451" y="161364"/>
            <a:chExt cx="5746792" cy="5800165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4C8BA088-2F28-28E9-36BB-2D4A75C97613}"/>
                </a:ext>
              </a:extLst>
            </p:cNvPr>
            <p:cNvGrpSpPr/>
            <p:nvPr/>
          </p:nvGrpSpPr>
          <p:grpSpPr>
            <a:xfrm>
              <a:off x="199451" y="161364"/>
              <a:ext cx="5746792" cy="4870812"/>
              <a:chOff x="199451" y="161364"/>
              <a:chExt cx="5746792" cy="4870812"/>
            </a:xfrm>
          </p:grpSpPr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E8572A34-B4A3-66B6-F567-04A73F24B0BB}"/>
                  </a:ext>
                </a:extLst>
              </p:cNvPr>
              <p:cNvGrpSpPr/>
              <p:nvPr/>
            </p:nvGrpSpPr>
            <p:grpSpPr>
              <a:xfrm>
                <a:off x="199451" y="161364"/>
                <a:ext cx="5746792" cy="4563035"/>
                <a:chOff x="199451" y="161364"/>
                <a:chExt cx="5746792" cy="4563035"/>
              </a:xfrm>
            </p:grpSpPr>
            <p:grpSp>
              <p:nvGrpSpPr>
                <p:cNvPr id="5" name="그룹 4">
                  <a:extLst>
                    <a:ext uri="{FF2B5EF4-FFF2-40B4-BE49-F238E27FC236}">
                      <a16:creationId xmlns:a16="http://schemas.microsoft.com/office/drawing/2014/main" id="{B5B45AAD-7B00-960D-3844-DFB3AA9F3772}"/>
                    </a:ext>
                  </a:extLst>
                </p:cNvPr>
                <p:cNvGrpSpPr/>
                <p:nvPr/>
              </p:nvGrpSpPr>
              <p:grpSpPr>
                <a:xfrm>
                  <a:off x="199451" y="161364"/>
                  <a:ext cx="3707111" cy="4563035"/>
                  <a:chOff x="199451" y="161364"/>
                  <a:chExt cx="3707111" cy="4563035"/>
                </a:xfrm>
              </p:grpSpPr>
              <p:pic>
                <p:nvPicPr>
                  <p:cNvPr id="3" name="그림 2">
                    <a:extLst>
                      <a:ext uri="{FF2B5EF4-FFF2-40B4-BE49-F238E27FC236}">
                        <a16:creationId xmlns:a16="http://schemas.microsoft.com/office/drawing/2014/main" id="{EA3A831F-19AC-9A78-AB84-3C30F48D2D0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99451" y="161364"/>
                    <a:ext cx="3707111" cy="4563035"/>
                  </a:xfrm>
                  <a:prstGeom prst="rect">
                    <a:avLst/>
                  </a:prstGeom>
                </p:spPr>
              </p:pic>
              <p:sp>
                <p:nvSpPr>
                  <p:cNvPr id="4" name="직사각형 3">
                    <a:extLst>
                      <a:ext uri="{FF2B5EF4-FFF2-40B4-BE49-F238E27FC236}">
                        <a16:creationId xmlns:a16="http://schemas.microsoft.com/office/drawing/2014/main" id="{2CD608EA-529B-5E05-6BC1-4B246E59C8CC}"/>
                      </a:ext>
                    </a:extLst>
                  </p:cNvPr>
                  <p:cNvSpPr/>
                  <p:nvPr/>
                </p:nvSpPr>
                <p:spPr>
                  <a:xfrm>
                    <a:off x="3603812" y="2572870"/>
                    <a:ext cx="259976" cy="268941"/>
                  </a:xfrm>
                  <a:prstGeom prst="rect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</p:grpSp>
            <p:pic>
              <p:nvPicPr>
                <p:cNvPr id="7" name="그림 6">
                  <a:extLst>
                    <a:ext uri="{FF2B5EF4-FFF2-40B4-BE49-F238E27FC236}">
                      <a16:creationId xmlns:a16="http://schemas.microsoft.com/office/drawing/2014/main" id="{7960B673-7DE2-3205-B762-68B5614D06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239131" y="2897155"/>
                  <a:ext cx="3707112" cy="626839"/>
                </a:xfrm>
                <a:prstGeom prst="rect">
                  <a:avLst/>
                </a:prstGeom>
                <a:ln>
                  <a:solidFill>
                    <a:schemeClr val="tx1"/>
                  </a:solidFill>
                </a:ln>
              </p:spPr>
            </p:pic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2771591-4EE7-B42F-316E-0BA846736922}"/>
                  </a:ext>
                </a:extLst>
              </p:cNvPr>
              <p:cNvSpPr txBox="1"/>
              <p:nvPr/>
            </p:nvSpPr>
            <p:spPr>
              <a:xfrm>
                <a:off x="199451" y="4724399"/>
                <a:ext cx="421118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/>
                  <a:t>15. </a:t>
                </a:r>
                <a:r>
                  <a:rPr lang="ko-KR" altLang="en-US" sz="1400"/>
                  <a:t>생성한 대상 그룹을 리스너 및 라우팅으로 설정</a:t>
                </a:r>
              </a:p>
            </p:txBody>
          </p:sp>
        </p:grp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684999F-C580-007A-4E74-3E7977F1B454}"/>
                </a:ext>
              </a:extLst>
            </p:cNvPr>
            <p:cNvSpPr/>
            <p:nvPr/>
          </p:nvSpPr>
          <p:spPr>
            <a:xfrm>
              <a:off x="4092687" y="5486400"/>
              <a:ext cx="1357854" cy="47512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01E6C602-5BD0-F01C-C61A-19C129BD2B1F}"/>
              </a:ext>
            </a:extLst>
          </p:cNvPr>
          <p:cNvSpPr txBox="1"/>
          <p:nvPr/>
        </p:nvSpPr>
        <p:spPr>
          <a:xfrm>
            <a:off x="3990408" y="6019874"/>
            <a:ext cx="42111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16. </a:t>
            </a:r>
            <a:r>
              <a:rPr lang="ko-KR" altLang="en-US" sz="1400"/>
              <a:t>로드 밸런서 생성</a:t>
            </a:r>
          </a:p>
        </p:txBody>
      </p:sp>
    </p:spTree>
    <p:extLst>
      <p:ext uri="{BB962C8B-B14F-4D97-AF65-F5344CB8AC3E}">
        <p14:creationId xmlns:p14="http://schemas.microsoft.com/office/powerpoint/2010/main" val="15220278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043414-BDEF-2224-6DBA-4FFFAA2FA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EC2 </a:t>
            </a:r>
            <a:r>
              <a:rPr lang="ko-KR" altLang="en-US"/>
              <a:t>서버에 </a:t>
            </a:r>
            <a:r>
              <a:rPr lang="en-US" altLang="ko-KR"/>
              <a:t>Spring Boot </a:t>
            </a:r>
            <a:r>
              <a:rPr lang="ko-KR" altLang="en-US"/>
              <a:t>셋팅하기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C95C2FD-6A47-701B-D84E-1D09298310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02" y="1913922"/>
            <a:ext cx="3172268" cy="6096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8F6565-3A34-DF8B-7C4F-57394174510A}"/>
              </a:ext>
            </a:extLst>
          </p:cNvPr>
          <p:cNvSpPr txBox="1"/>
          <p:nvPr/>
        </p:nvSpPr>
        <p:spPr>
          <a:xfrm>
            <a:off x="233702" y="2725271"/>
            <a:ext cx="1151902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400"/>
              <a:t>JDK </a:t>
            </a:r>
            <a:r>
              <a:rPr lang="ko-KR" altLang="en-US" sz="1400"/>
              <a:t>설치 </a:t>
            </a:r>
            <a:br>
              <a:rPr lang="en-US" altLang="ko-KR" sz="1400"/>
            </a:br>
            <a:r>
              <a:rPr lang="en-US" altLang="ko-KR" sz="1400"/>
              <a:t>apt-get update</a:t>
            </a:r>
            <a:br>
              <a:rPr lang="en-US" altLang="ko-KR" sz="1400"/>
            </a:br>
            <a:r>
              <a:rPr lang="en-US" altLang="ko-KR" sz="1400"/>
              <a:t>sudo apt-get install openjdk-17-jdk</a:t>
            </a:r>
          </a:p>
          <a:p>
            <a:pPr marL="342900" indent="-342900">
              <a:buAutoNum type="arabicPeriod"/>
            </a:pPr>
            <a:r>
              <a:rPr lang="ko-KR" altLang="en-US" sz="1400"/>
              <a:t>버전 확인</a:t>
            </a:r>
            <a:br>
              <a:rPr lang="en-US" altLang="ko-KR" sz="1400"/>
            </a:br>
            <a:r>
              <a:rPr lang="en-US" altLang="ko-KR" sz="1400"/>
              <a:t>java -version</a:t>
            </a:r>
          </a:p>
          <a:p>
            <a:pPr marL="342900" indent="-342900">
              <a:buAutoNum type="arabicPeriod"/>
            </a:pPr>
            <a:r>
              <a:rPr lang="ko-KR" altLang="en-US" sz="1400"/>
              <a:t>편의를 위해 로컬환경에서 </a:t>
            </a:r>
            <a:r>
              <a:rPr lang="en-US" altLang="ko-KR" sz="1400"/>
              <a:t>Spring Boot </a:t>
            </a:r>
            <a:r>
              <a:rPr lang="ko-KR" altLang="en-US" sz="1400"/>
              <a:t>프로젝트를 구현했다고 가정 </a:t>
            </a:r>
            <a:r>
              <a:rPr lang="en-US" altLang="ko-KR" sz="1400"/>
              <a:t>/ </a:t>
            </a:r>
            <a:r>
              <a:rPr lang="ko-KR" altLang="en-US" sz="1400"/>
              <a:t>완성된 코드 </a:t>
            </a:r>
            <a:r>
              <a:rPr lang="en-US" altLang="ko-KR" sz="1400"/>
              <a:t>Clone</a:t>
            </a:r>
            <a:r>
              <a:rPr lang="ko-KR" altLang="en-US" sz="1400"/>
              <a:t>받는 상황</a:t>
            </a:r>
            <a:br>
              <a:rPr lang="en-US" altLang="ko-KR" sz="1400"/>
            </a:br>
            <a:r>
              <a:rPr lang="en-US" altLang="ko-KR" sz="1400"/>
              <a:t>git clone </a:t>
            </a:r>
            <a:r>
              <a:rPr lang="en-US" altLang="ko-KR" sz="1400">
                <a:hlinkClick r:id="rId3"/>
              </a:rPr>
              <a:t>https://github.com/JSCODE-COURSE/load-testing-server.git</a:t>
            </a:r>
            <a:endParaRPr lang="en-US" altLang="ko-KR" sz="1400"/>
          </a:p>
          <a:p>
            <a:pPr marL="342900" indent="-342900">
              <a:buAutoNum type="arabicPeriod"/>
            </a:pPr>
            <a:r>
              <a:rPr lang="en-US" altLang="ko-KR" sz="1400"/>
              <a:t>cd load-testing-server</a:t>
            </a:r>
          </a:p>
          <a:p>
            <a:pPr marL="342900" indent="-342900">
              <a:buAutoNum type="arabicPeriod"/>
            </a:pPr>
            <a:r>
              <a:rPr lang="en-US" altLang="ko-KR" sz="1400"/>
              <a:t>vi src/main/resources/application.yml</a:t>
            </a:r>
          </a:p>
          <a:p>
            <a:pPr marL="342900" indent="-342900">
              <a:buAutoNum type="arabicPeriod"/>
            </a:pPr>
            <a:r>
              <a:rPr lang="en-US" altLang="ko-KR" sz="1400"/>
              <a:t>spring.datasource url</a:t>
            </a:r>
            <a:r>
              <a:rPr lang="ko-KR" altLang="en-US" sz="1400"/>
              <a:t>을 </a:t>
            </a:r>
            <a:r>
              <a:rPr lang="en-US" altLang="ko-KR" sz="1400"/>
              <a:t>AWS RDS </a:t>
            </a:r>
            <a:r>
              <a:rPr lang="ko-KR" altLang="en-US" sz="1400"/>
              <a:t>주소로 변경 </a:t>
            </a:r>
            <a:r>
              <a:rPr lang="en-US" altLang="ko-KR" sz="1400"/>
              <a:t>(jscode-database.cx8u4i82c37m.ap-northeast-2.rds.amazonaws.com)</a:t>
            </a:r>
          </a:p>
          <a:p>
            <a:pPr marL="342900" indent="-342900">
              <a:buAutoNum type="arabicPeriod"/>
            </a:pPr>
            <a:endParaRPr lang="en-US" altLang="ko-KR" sz="1400"/>
          </a:p>
          <a:p>
            <a:pPr marL="342900" indent="-342900">
              <a:buAutoNum type="arabicPeriod"/>
            </a:pPr>
            <a:endParaRPr lang="ko-KR" altLang="en-US" sz="140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6A4D901-ECDF-0A85-18ED-C9178ABF5F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702" y="4914629"/>
            <a:ext cx="5496692" cy="194337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5C2B20B-50A4-3A28-EDE4-1BE5E75B0FE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2556"/>
          <a:stretch>
            <a:fillRect/>
          </a:stretch>
        </p:blipFill>
        <p:spPr>
          <a:xfrm>
            <a:off x="2367824" y="5292263"/>
            <a:ext cx="7954485" cy="221327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42425666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E0E700-30F1-AAF2-AB75-8F3FA958C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서버 코드 살펴보기</a:t>
            </a:r>
            <a:r>
              <a:rPr lang="en-US" altLang="ko-KR"/>
              <a:t>(1)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B706882-6697-221E-9E21-B674238ECD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20" t="4179" r="18088" b="29020"/>
          <a:stretch>
            <a:fillRect/>
          </a:stretch>
        </p:blipFill>
        <p:spPr>
          <a:xfrm>
            <a:off x="1097280" y="1963004"/>
            <a:ext cx="6234579" cy="31576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C2A9838-2D14-5C63-27C1-255C181C2F35}"/>
              </a:ext>
            </a:extLst>
          </p:cNvPr>
          <p:cNvSpPr txBox="1"/>
          <p:nvPr/>
        </p:nvSpPr>
        <p:spPr>
          <a:xfrm>
            <a:off x="7440706" y="1963004"/>
            <a:ext cx="46347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/health</a:t>
            </a:r>
            <a:r>
              <a:rPr lang="ko-KR" altLang="en-US" sz="1200"/>
              <a:t> </a:t>
            </a:r>
            <a:r>
              <a:rPr lang="en-US" altLang="ko-KR" sz="1200">
                <a:sym typeface="Wingdings" panose="05000000000000000000" pitchFamily="2" charset="2"/>
              </a:rPr>
              <a:t></a:t>
            </a:r>
            <a:r>
              <a:rPr lang="ko-KR" altLang="en-US" sz="1200">
                <a:sym typeface="Wingdings" panose="05000000000000000000" pitchFamily="2" charset="2"/>
              </a:rPr>
              <a:t> 로드밸런서가 헬스체크 </a:t>
            </a:r>
            <a:r>
              <a:rPr lang="en-US" altLang="ko-KR" sz="1200">
                <a:sym typeface="Wingdings" panose="05000000000000000000" pitchFamily="2" charset="2"/>
              </a:rPr>
              <a:t>url</a:t>
            </a:r>
            <a:r>
              <a:rPr lang="ko-KR" altLang="en-US" sz="1200">
                <a:sym typeface="Wingdings" panose="05000000000000000000" pitchFamily="2" charset="2"/>
              </a:rPr>
              <a:t>을 활용해서 인스턴스가 정상적으로 실행되고있는지 확인하는 용</a:t>
            </a:r>
            <a:endParaRPr lang="en-US" altLang="ko-KR" sz="1200">
              <a:sym typeface="Wingdings" panose="05000000000000000000" pitchFamily="2" charset="2"/>
            </a:endParaRPr>
          </a:p>
          <a:p>
            <a:endParaRPr lang="en-US" altLang="ko-KR" sz="1200">
              <a:sym typeface="Wingdings" panose="05000000000000000000" pitchFamily="2" charset="2"/>
            </a:endParaRPr>
          </a:p>
          <a:p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32632173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4E86F-157A-16BE-C1A3-03EB853CB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59253E-A56D-75BA-E989-02295E68B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서버 코드 살펴보기</a:t>
            </a:r>
            <a:r>
              <a:rPr lang="en-US" altLang="ko-KR"/>
              <a:t>(1)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04E1FF2-20DB-E6D0-CC23-E3DC51FA2C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20" t="4179" r="18088" b="29020"/>
          <a:stretch>
            <a:fillRect/>
          </a:stretch>
        </p:blipFill>
        <p:spPr>
          <a:xfrm>
            <a:off x="1097280" y="1963004"/>
            <a:ext cx="6234579" cy="31576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08D5DC8-ECE0-BA03-2538-88F222F2968D}"/>
              </a:ext>
            </a:extLst>
          </p:cNvPr>
          <p:cNvSpPr txBox="1"/>
          <p:nvPr/>
        </p:nvSpPr>
        <p:spPr>
          <a:xfrm>
            <a:off x="7440706" y="1963004"/>
            <a:ext cx="46347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/health</a:t>
            </a:r>
            <a:r>
              <a:rPr lang="ko-KR" altLang="en-US" sz="1200"/>
              <a:t> </a:t>
            </a:r>
            <a:r>
              <a:rPr lang="en-US" altLang="ko-KR" sz="1200">
                <a:sym typeface="Wingdings" panose="05000000000000000000" pitchFamily="2" charset="2"/>
              </a:rPr>
              <a:t></a:t>
            </a:r>
            <a:r>
              <a:rPr lang="ko-KR" altLang="en-US" sz="1200">
                <a:sym typeface="Wingdings" panose="05000000000000000000" pitchFamily="2" charset="2"/>
              </a:rPr>
              <a:t> 로드밸런서가 헬스체크 </a:t>
            </a:r>
            <a:r>
              <a:rPr lang="en-US" altLang="ko-KR" sz="1200">
                <a:sym typeface="Wingdings" panose="05000000000000000000" pitchFamily="2" charset="2"/>
              </a:rPr>
              <a:t>url</a:t>
            </a:r>
            <a:r>
              <a:rPr lang="ko-KR" altLang="en-US" sz="1200">
                <a:sym typeface="Wingdings" panose="05000000000000000000" pitchFamily="2" charset="2"/>
              </a:rPr>
              <a:t>을 활용해서 인스턴스가 정상적으로 실행되고있는지 확인하는 용</a:t>
            </a:r>
            <a:endParaRPr lang="en-US" altLang="ko-KR" sz="1200">
              <a:sym typeface="Wingdings" panose="05000000000000000000" pitchFamily="2" charset="2"/>
            </a:endParaRPr>
          </a:p>
          <a:p>
            <a:endParaRPr lang="en-US" altLang="ko-KR" sz="1200">
              <a:sym typeface="Wingdings" panose="05000000000000000000" pitchFamily="2" charset="2"/>
            </a:endParaRPr>
          </a:p>
          <a:p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8427989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10FE0F-466B-0539-5D4E-0DFCFC049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서버 코드 살펴보기</a:t>
            </a:r>
            <a:r>
              <a:rPr lang="en-US" altLang="ko-KR"/>
              <a:t>(2)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273BE57-003E-53D5-0712-F4CCF721FA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721" t="9804" r="7647" b="40000"/>
          <a:stretch>
            <a:fillRect/>
          </a:stretch>
        </p:blipFill>
        <p:spPr>
          <a:xfrm>
            <a:off x="179294" y="1884380"/>
            <a:ext cx="10318377" cy="344244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773641-3169-8BE1-6C79-E8593FF7FA46}"/>
              </a:ext>
            </a:extLst>
          </p:cNvPr>
          <p:cNvSpPr txBox="1"/>
          <p:nvPr/>
        </p:nvSpPr>
        <p:spPr>
          <a:xfrm>
            <a:off x="7646894" y="3263153"/>
            <a:ext cx="28507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solidFill>
                  <a:schemeClr val="bg1"/>
                </a:solidFill>
              </a:rPr>
              <a:t>최신순의 생성일자로 게시글을 조회하는 </a:t>
            </a:r>
            <a:r>
              <a:rPr lang="en-US" altLang="ko-KR" sz="1200">
                <a:solidFill>
                  <a:schemeClr val="bg1"/>
                </a:solidFill>
              </a:rPr>
              <a:t>API</a:t>
            </a:r>
            <a:r>
              <a:rPr lang="ko-KR" altLang="en-US" sz="120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D2BDFA-3EC1-1834-6E8B-136645E47752}"/>
              </a:ext>
            </a:extLst>
          </p:cNvPr>
          <p:cNvSpPr txBox="1"/>
          <p:nvPr/>
        </p:nvSpPr>
        <p:spPr>
          <a:xfrm>
            <a:off x="5405718" y="4477870"/>
            <a:ext cx="28507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solidFill>
                  <a:schemeClr val="bg1"/>
                </a:solidFill>
              </a:rPr>
              <a:t>게시글 작성 </a:t>
            </a:r>
            <a:r>
              <a:rPr lang="en-US" altLang="ko-KR" sz="1200">
                <a:solidFill>
                  <a:schemeClr val="bg1"/>
                </a:solidFill>
              </a:rPr>
              <a:t>API</a:t>
            </a:r>
            <a:endParaRPr lang="ko-KR" altLang="en-US" sz="1200">
              <a:solidFill>
                <a:schemeClr val="bg1"/>
              </a:solidFill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A2806F1-B3CB-8CB1-DB31-915BC50D07D9}"/>
              </a:ext>
            </a:extLst>
          </p:cNvPr>
          <p:cNvGrpSpPr/>
          <p:nvPr/>
        </p:nvGrpSpPr>
        <p:grpSpPr>
          <a:xfrm>
            <a:off x="8399930" y="5120641"/>
            <a:ext cx="3532094" cy="1371600"/>
            <a:chOff x="8399930" y="5120641"/>
            <a:chExt cx="3532094" cy="137160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B791C85C-8B93-40BE-2A90-173A883BAA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1619" t="8497" r="39411" b="71503"/>
            <a:stretch>
              <a:fillRect/>
            </a:stretch>
          </p:blipFill>
          <p:spPr>
            <a:xfrm>
              <a:off x="8399930" y="5120641"/>
              <a:ext cx="3532094" cy="13716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F1A207B-D8E2-8682-7C4A-510DF761242C}"/>
                </a:ext>
              </a:extLst>
            </p:cNvPr>
            <p:cNvSpPr txBox="1"/>
            <p:nvPr/>
          </p:nvSpPr>
          <p:spPr>
            <a:xfrm>
              <a:off x="10103224" y="5441576"/>
              <a:ext cx="17570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>
                  <a:solidFill>
                    <a:schemeClr val="bg1"/>
                  </a:solidFill>
                  <a:latin typeface="+mj-ea"/>
                  <a:ea typeface="+mj-ea"/>
                </a:rPr>
                <a:t>url </a:t>
              </a:r>
              <a:r>
                <a:rPr lang="ko-KR" altLang="en-US" sz="1200">
                  <a:solidFill>
                    <a:schemeClr val="bg1"/>
                  </a:solidFill>
                  <a:latin typeface="+mj-ea"/>
                  <a:ea typeface="+mj-ea"/>
                </a:rPr>
                <a:t>주소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60959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34D310-B24D-B058-1C8F-983F1F8EC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프로젝트 </a:t>
            </a:r>
            <a:r>
              <a:rPr lang="en-US" altLang="ko-KR"/>
              <a:t>build (.jar </a:t>
            </a:r>
            <a:r>
              <a:rPr lang="ko-KR" altLang="en-US"/>
              <a:t>파일생성</a:t>
            </a:r>
            <a:r>
              <a:rPr lang="en-US" altLang="ko-KR"/>
              <a:t>)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F0512A2-F420-7358-BCAB-0C4463905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121" y="1932996"/>
            <a:ext cx="6496957" cy="2667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9DAF3CC-BD59-DD3B-ADAD-C126D56526E1}"/>
              </a:ext>
            </a:extLst>
          </p:cNvPr>
          <p:cNvSpPr txBox="1"/>
          <p:nvPr/>
        </p:nvSpPr>
        <p:spPr>
          <a:xfrm>
            <a:off x="1097279" y="2312894"/>
            <a:ext cx="9714155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애플리케이션 루트 폴더</a:t>
            </a:r>
            <a:endParaRPr lang="en-US" altLang="ko-KR"/>
          </a:p>
          <a:p>
            <a:r>
              <a:rPr lang="en-US" altLang="ko-KR" sz="1400"/>
              <a:t> ./gradlew clean build -x test </a:t>
            </a:r>
            <a:r>
              <a:rPr lang="en-US" altLang="ko-KR" sz="1000"/>
              <a:t>(build </a:t>
            </a:r>
            <a:r>
              <a:rPr lang="ko-KR" altLang="en-US" sz="1000"/>
              <a:t>를 하데 이전 빌드는 삭제하고</a:t>
            </a:r>
            <a:r>
              <a:rPr lang="en-US" altLang="ko-KR" sz="1000"/>
              <a:t>, </a:t>
            </a:r>
            <a:r>
              <a:rPr lang="ko-KR" altLang="en-US" sz="1000"/>
              <a:t>테스트는 무시하여 빌드</a:t>
            </a:r>
            <a:r>
              <a:rPr lang="en-US" altLang="ko-KR" sz="1000"/>
              <a:t>)</a:t>
            </a:r>
          </a:p>
          <a:p>
            <a:r>
              <a:rPr lang="en-US" altLang="ko-KR" sz="1400"/>
              <a:t>cd build/libs</a:t>
            </a:r>
          </a:p>
          <a:p>
            <a:r>
              <a:rPr lang="en-US" altLang="ko-KR" sz="1400"/>
              <a:t>ls ( jar </a:t>
            </a:r>
            <a:r>
              <a:rPr lang="ko-KR" altLang="en-US" sz="1400"/>
              <a:t>파일이 잘 만들어졌는지 확인</a:t>
            </a:r>
            <a:r>
              <a:rPr lang="en-US" altLang="ko-KR" sz="1400"/>
              <a:t>).</a:t>
            </a:r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r>
              <a:rPr lang="ko-KR" altLang="en-US" sz="1400"/>
              <a:t>애플리케이션 백그라운드 실행</a:t>
            </a:r>
            <a:r>
              <a:rPr lang="en-US" altLang="ko-KR" sz="1400"/>
              <a:t>(</a:t>
            </a:r>
            <a:r>
              <a:rPr lang="ko-KR" altLang="en-US" sz="1400"/>
              <a:t>배포</a:t>
            </a:r>
            <a:r>
              <a:rPr lang="en-US" altLang="ko-KR" sz="1400"/>
              <a:t>)</a:t>
            </a:r>
          </a:p>
          <a:p>
            <a:r>
              <a:rPr lang="en-US" altLang="ko-KR" sz="1400"/>
              <a:t>sudo nohup java -jar jscode-0.0.1-SNAPSHOT.jar &amp;</a:t>
            </a:r>
          </a:p>
          <a:p>
            <a:endParaRPr lang="en-US" altLang="ko-KR" sz="1400"/>
          </a:p>
          <a:p>
            <a:r>
              <a:rPr lang="en-US" altLang="ko-KR" sz="1400"/>
              <a:t>sudo isof -i:80 (80</a:t>
            </a:r>
            <a:r>
              <a:rPr lang="ko-KR" altLang="en-US" sz="1400"/>
              <a:t>번포트에서 애플리케이션 동작 확인</a:t>
            </a:r>
            <a:r>
              <a:rPr lang="en-US" altLang="ko-KR" sz="1400"/>
              <a:t>)</a:t>
            </a:r>
          </a:p>
          <a:p>
            <a:endParaRPr lang="en-US" altLang="ko-KR" sz="1400"/>
          </a:p>
          <a:p>
            <a:endParaRPr lang="en-US" altLang="ko-KR" sz="140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9B2F320-4AFE-551A-0B21-6179F6C60A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121" y="3370729"/>
            <a:ext cx="5125165" cy="42868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EC8B231-9524-DBD0-F565-50AA68E160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" y="4857249"/>
            <a:ext cx="12192000" cy="1176640"/>
          </a:xfrm>
          <a:prstGeom prst="rect">
            <a:avLst/>
          </a:prstGeom>
        </p:spPr>
      </p:pic>
      <p:grpSp>
        <p:nvGrpSpPr>
          <p:cNvPr id="13" name="그룹 12">
            <a:extLst>
              <a:ext uri="{FF2B5EF4-FFF2-40B4-BE49-F238E27FC236}">
                <a16:creationId xmlns:a16="http://schemas.microsoft.com/office/drawing/2014/main" id="{EC80020E-809C-B914-5FBF-744935C3E546}"/>
              </a:ext>
            </a:extLst>
          </p:cNvPr>
          <p:cNvGrpSpPr/>
          <p:nvPr/>
        </p:nvGrpSpPr>
        <p:grpSpPr>
          <a:xfrm>
            <a:off x="8176118" y="1790337"/>
            <a:ext cx="3639058" cy="1400191"/>
            <a:chOff x="8176118" y="1790337"/>
            <a:chExt cx="3639058" cy="1400191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925AF074-812F-5BB1-8102-E026D7B1D2D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76118" y="1790337"/>
              <a:ext cx="3639058" cy="1333686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86FC9B1-BACE-F619-7CA3-C14BE84DE970}"/>
                </a:ext>
              </a:extLst>
            </p:cNvPr>
            <p:cNvSpPr txBox="1"/>
            <p:nvPr/>
          </p:nvSpPr>
          <p:spPr>
            <a:xfrm>
              <a:off x="8176118" y="2913529"/>
              <a:ext cx="363905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/>
                <a:t>브라우저에서 애플리케이션 동작 확인</a:t>
              </a: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94C318F-C08E-4603-2DEC-E6F777B6464F}"/>
              </a:ext>
            </a:extLst>
          </p:cNvPr>
          <p:cNvSpPr/>
          <p:nvPr/>
        </p:nvSpPr>
        <p:spPr>
          <a:xfrm>
            <a:off x="7440706" y="3370729"/>
            <a:ext cx="4580965" cy="9109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client </a:t>
            </a:r>
            <a:r>
              <a:rPr lang="ko-KR" altLang="en-US"/>
              <a:t>에서 </a:t>
            </a:r>
            <a:r>
              <a:rPr lang="en-US" altLang="ko-KR"/>
              <a:t>EC2 </a:t>
            </a:r>
            <a:r>
              <a:rPr lang="ko-KR" altLang="en-US"/>
              <a:t>서버로 직접 요청</a:t>
            </a:r>
            <a:br>
              <a:rPr lang="en-US" altLang="ko-KR"/>
            </a:br>
            <a:r>
              <a:rPr lang="en-US" altLang="ko-KR">
                <a:sym typeface="Wingdings" panose="05000000000000000000" pitchFamily="2" charset="2"/>
              </a:rPr>
              <a:t> client</a:t>
            </a:r>
            <a:r>
              <a:rPr lang="ko-KR" altLang="en-US">
                <a:sym typeface="Wingdings" panose="05000000000000000000" pitchFamily="2" charset="2"/>
              </a:rPr>
              <a:t>에서 </a:t>
            </a:r>
            <a:r>
              <a:rPr lang="en-US" altLang="ko-KR">
                <a:sym typeface="Wingdings" panose="05000000000000000000" pitchFamily="2" charset="2"/>
              </a:rPr>
              <a:t>ELB</a:t>
            </a:r>
            <a:r>
              <a:rPr lang="ko-KR" altLang="en-US">
                <a:sym typeface="Wingdings" panose="05000000000000000000" pitchFamily="2" charset="2"/>
              </a:rPr>
              <a:t>로 요청해서 전달되는지 확인해봐야함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2261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655FDA-EC18-BDC2-6A60-62B9EDF48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ELB</a:t>
            </a:r>
            <a:r>
              <a:rPr lang="ko-KR" altLang="en-US"/>
              <a:t>를 통해 애플리케이션 요청 확인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E9C0EAA-7BA5-C325-DFA7-F9432856A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44" y="1963943"/>
            <a:ext cx="3625992" cy="1857036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E99ADD81-5B58-E161-6B18-69BF33BE3630}"/>
              </a:ext>
            </a:extLst>
          </p:cNvPr>
          <p:cNvGrpSpPr/>
          <p:nvPr/>
        </p:nvGrpSpPr>
        <p:grpSpPr>
          <a:xfrm>
            <a:off x="4183018" y="1939581"/>
            <a:ext cx="7529138" cy="3154151"/>
            <a:chOff x="4183018" y="1939581"/>
            <a:chExt cx="7529138" cy="3154151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9333A4FB-B611-F1D8-6639-35BE07FBC228}"/>
                </a:ext>
              </a:extLst>
            </p:cNvPr>
            <p:cNvGrpSpPr/>
            <p:nvPr/>
          </p:nvGrpSpPr>
          <p:grpSpPr>
            <a:xfrm>
              <a:off x="4183018" y="1939581"/>
              <a:ext cx="7529138" cy="2978837"/>
              <a:chOff x="4183018" y="1939581"/>
              <a:chExt cx="7529138" cy="2978837"/>
            </a:xfrm>
          </p:grpSpPr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AE75B003-E619-C8D0-C385-7B14B4135E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83018" y="1939581"/>
                <a:ext cx="7529138" cy="2978837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</p:pic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51253BB8-B417-756A-59FD-B4FB8B556CCF}"/>
                  </a:ext>
                </a:extLst>
              </p:cNvPr>
              <p:cNvSpPr/>
              <p:nvPr/>
            </p:nvSpPr>
            <p:spPr>
              <a:xfrm>
                <a:off x="8077200" y="4392706"/>
                <a:ext cx="3155576" cy="33169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D33E791-B829-9962-8536-48C4DB5FE7C7}"/>
                </a:ext>
              </a:extLst>
            </p:cNvPr>
            <p:cNvSpPr txBox="1"/>
            <p:nvPr/>
          </p:nvSpPr>
          <p:spPr>
            <a:xfrm>
              <a:off x="8077200" y="4724400"/>
              <a:ext cx="33259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/>
                <a:t>로드밸런서의 주소 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BFE3C00-8CF1-438E-F465-12CB981EF5EA}"/>
              </a:ext>
            </a:extLst>
          </p:cNvPr>
          <p:cNvSpPr txBox="1"/>
          <p:nvPr/>
        </p:nvSpPr>
        <p:spPr>
          <a:xfrm>
            <a:off x="4249271" y="5250112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jscode-alb-546712230.ap-northeast-2.elb.amazonaws.com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2749156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CCAD0F-F00E-204B-B8EE-2A8191E30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ELB</a:t>
            </a:r>
            <a:r>
              <a:rPr lang="ko-KR" altLang="en-US"/>
              <a:t>를 통해 애플리케이션 요청 확인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74D12C6-39C0-1FF7-9028-C4BC6095F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25235"/>
            <a:ext cx="5534797" cy="628738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BB2598AC-8C52-078D-948A-6FA2DDC5D101}"/>
              </a:ext>
            </a:extLst>
          </p:cNvPr>
          <p:cNvGrpSpPr/>
          <p:nvPr/>
        </p:nvGrpSpPr>
        <p:grpSpPr>
          <a:xfrm>
            <a:off x="1097280" y="3543522"/>
            <a:ext cx="5753903" cy="1183855"/>
            <a:chOff x="1097280" y="2898063"/>
            <a:chExt cx="5753903" cy="1183855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F02FF4E5-D5B4-D7EB-9B33-D45A1CEEC9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340"/>
            <a:stretch>
              <a:fillRect/>
            </a:stretch>
          </p:blipFill>
          <p:spPr>
            <a:xfrm>
              <a:off x="1174376" y="2898063"/>
              <a:ext cx="5676807" cy="828791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064BD3E-4FB7-D34D-198D-AECE826FD7FF}"/>
                </a:ext>
              </a:extLst>
            </p:cNvPr>
            <p:cNvSpPr txBox="1"/>
            <p:nvPr/>
          </p:nvSpPr>
          <p:spPr>
            <a:xfrm>
              <a:off x="1097280" y="3774141"/>
              <a:ext cx="32954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/>
                <a:t>정상 동작 확인 완료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C05F4E1-76E7-333B-2F70-6030EBB8838C}"/>
              </a:ext>
            </a:extLst>
          </p:cNvPr>
          <p:cNvSpPr txBox="1"/>
          <p:nvPr/>
        </p:nvSpPr>
        <p:spPr>
          <a:xfrm>
            <a:off x="1097280" y="2759175"/>
            <a:ext cx="32954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/>
              <a:t>브라우저로 </a:t>
            </a:r>
            <a:r>
              <a:rPr lang="en-US" altLang="ko-KR" sz="1600"/>
              <a:t>ELB</a:t>
            </a:r>
            <a:r>
              <a:rPr lang="ko-KR" altLang="en-US" sz="1600"/>
              <a:t>를 통한 </a:t>
            </a:r>
            <a:r>
              <a:rPr lang="en-US" altLang="ko-KR" sz="1600"/>
              <a:t>health </a:t>
            </a:r>
            <a:r>
              <a:rPr lang="ko-KR" altLang="en-US" sz="1600"/>
              <a:t>요청</a:t>
            </a:r>
          </a:p>
        </p:txBody>
      </p:sp>
    </p:spTree>
    <p:extLst>
      <p:ext uri="{BB962C8B-B14F-4D97-AF65-F5344CB8AC3E}">
        <p14:creationId xmlns:p14="http://schemas.microsoft.com/office/powerpoint/2010/main" val="3365298621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168</TotalTime>
  <Words>575</Words>
  <Application>Microsoft Office PowerPoint</Application>
  <PresentationFormat>와이드스크린</PresentationFormat>
  <Paragraphs>82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6" baseType="lpstr">
      <vt:lpstr>Noto Sans KR</vt:lpstr>
      <vt:lpstr>Calibri</vt:lpstr>
      <vt:lpstr>Calibri Light</vt:lpstr>
      <vt:lpstr>Wingdings</vt:lpstr>
      <vt:lpstr>추억</vt:lpstr>
      <vt:lpstr>병목 지점 진단하기.</vt:lpstr>
      <vt:lpstr>병목 지점의 개념</vt:lpstr>
      <vt:lpstr>Throughput과 병목지점</vt:lpstr>
      <vt:lpstr>부하테스트의 전체 흐름</vt:lpstr>
      <vt:lpstr>부하테스트의 전체 흐름</vt:lpstr>
      <vt:lpstr>부하테스트의 전체 흐름-2</vt:lpstr>
      <vt:lpstr>부하 테스트 시 주의점 </vt:lpstr>
      <vt:lpstr>병목지점 파악을 위한 인프라 아키텍처 구성 파악하기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EC2 서버에 Spring Boot 셋팅하기</vt:lpstr>
      <vt:lpstr>서버 코드 살펴보기(1)</vt:lpstr>
      <vt:lpstr>서버 코드 살펴보기(1)</vt:lpstr>
      <vt:lpstr>서버 코드 살펴보기(2)</vt:lpstr>
      <vt:lpstr>프로젝트 build (.jar 파일생성)</vt:lpstr>
      <vt:lpstr>ELB를 통해 애플리케이션 요청 확인</vt:lpstr>
      <vt:lpstr>ELB를 통해 애플리케이션 요청 확인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53</cp:revision>
  <dcterms:created xsi:type="dcterms:W3CDTF">2026-08-19T07:34:21Z</dcterms:created>
  <dcterms:modified xsi:type="dcterms:W3CDTF">2026-08-19T10:22:48Z</dcterms:modified>
</cp:coreProperties>
</file>